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334" r:id="rId2"/>
    <p:sldId id="335" r:id="rId3"/>
    <p:sldId id="336" r:id="rId4"/>
    <p:sldId id="337" r:id="rId5"/>
    <p:sldId id="360" r:id="rId6"/>
    <p:sldId id="340" r:id="rId7"/>
    <p:sldId id="341" r:id="rId8"/>
    <p:sldId id="342" r:id="rId9"/>
    <p:sldId id="365" r:id="rId10"/>
    <p:sldId id="361" r:id="rId11"/>
    <p:sldId id="362" r:id="rId12"/>
    <p:sldId id="343" r:id="rId13"/>
    <p:sldId id="364" r:id="rId14"/>
    <p:sldId id="344" r:id="rId15"/>
    <p:sldId id="363" r:id="rId16"/>
    <p:sldId id="347" r:id="rId17"/>
    <p:sldId id="348" r:id="rId18"/>
    <p:sldId id="349" r:id="rId19"/>
    <p:sldId id="350" r:id="rId20"/>
    <p:sldId id="351" r:id="rId21"/>
    <p:sldId id="352" r:id="rId22"/>
    <p:sldId id="353" r:id="rId23"/>
    <p:sldId id="354" r:id="rId24"/>
    <p:sldId id="346" r:id="rId25"/>
    <p:sldId id="355" r:id="rId26"/>
    <p:sldId id="356" r:id="rId27"/>
    <p:sldId id="357" r:id="rId28"/>
    <p:sldId id="358" r:id="rId29"/>
    <p:sldId id="35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8FF7A34-7F84-4F16-8ACD-FBA5605BAB77}">
          <p14:sldIdLst>
            <p14:sldId id="334"/>
          </p14:sldIdLst>
        </p14:section>
        <p14:section name="Background" id="{2EF16D6E-9BAD-42C6-A0F8-538C9D0DE0C4}">
          <p14:sldIdLst>
            <p14:sldId id="335"/>
            <p14:sldId id="336"/>
          </p14:sldIdLst>
        </p14:section>
        <p14:section name="Motivation" id="{EC5D1AF2-682E-40CB-8E84-C0CFE70388D2}">
          <p14:sldIdLst>
            <p14:sldId id="337"/>
            <p14:sldId id="360"/>
          </p14:sldIdLst>
        </p14:section>
        <p14:section name="Question" id="{0110BB32-44EA-4317-B044-A5D817AF041B}">
          <p14:sldIdLst/>
        </p14:section>
        <p14:section name="Approach" id="{0CEB6F8A-00C5-4709-AC0A-0960FCCEA609}">
          <p14:sldIdLst>
            <p14:sldId id="340"/>
          </p14:sldIdLst>
        </p14:section>
        <p14:section name="UFO-L" id="{DFAA8686-A9CB-4F50-86C6-DD9B22E45C69}">
          <p14:sldIdLst>
            <p14:sldId id="341"/>
          </p14:sldIdLst>
        </p14:section>
        <p14:section name="Analysis" id="{446D3E65-A55B-421A-8CEE-3182AC40DC5E}">
          <p14:sldIdLst>
            <p14:sldId id="342"/>
            <p14:sldId id="365"/>
            <p14:sldId id="361"/>
            <p14:sldId id="362"/>
            <p14:sldId id="343"/>
          </p14:sldIdLst>
        </p14:section>
        <p14:section name="Grounding" id="{BE39EED8-D8AD-4DEE-9C07-51CC12F2EEB1}">
          <p14:sldIdLst>
            <p14:sldId id="364"/>
            <p14:sldId id="344"/>
            <p14:sldId id="363"/>
            <p14:sldId id="347"/>
          </p14:sldIdLst>
        </p14:section>
        <p14:section name="Evaluation and close" id="{33F41B2E-83ED-4696-9993-E49E5AC8756C}">
          <p14:sldIdLst>
            <p14:sldId id="348"/>
            <p14:sldId id="349"/>
            <p14:sldId id="350"/>
          </p14:sldIdLst>
        </p14:section>
        <p14:section name="Backup" id="{A5842A96-A499-4FE9-B131-648D63EFC2AD}">
          <p14:sldIdLst>
            <p14:sldId id="351"/>
            <p14:sldId id="352"/>
            <p14:sldId id="353"/>
            <p14:sldId id="354"/>
            <p14:sldId id="346"/>
            <p14:sldId id="355"/>
            <p14:sldId id="356"/>
            <p14:sldId id="357"/>
            <p14:sldId id="358"/>
            <p14:sldId id="35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86740" autoAdjust="0"/>
  </p:normalViewPr>
  <p:slideViewPr>
    <p:cSldViewPr snapToGrid="0" snapToObjects="1">
      <p:cViewPr varScale="1">
        <p:scale>
          <a:sx n="64" d="100"/>
          <a:sy n="64" d="100"/>
        </p:scale>
        <p:origin x="624" y="48"/>
      </p:cViewPr>
      <p:guideLst>
        <p:guide orient="horz" pos="2160"/>
        <p:guide pos="2880"/>
      </p:guideLst>
    </p:cSldViewPr>
  </p:slideViewPr>
  <p:notesTextViewPr>
    <p:cViewPr>
      <p:scale>
        <a:sx n="100" d="100"/>
        <a:sy n="100" d="100"/>
      </p:scale>
      <p:origin x="0" y="-176"/>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382746-6E41-48A5-8397-50D2EC1B7A60}" type="datetimeFigureOut">
              <a:rPr lang="en-US" smtClean="0"/>
              <a:t>9/24/2026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EBCB37-C5FD-4248-850D-F9A89D0B7960}" type="slidenum">
              <a:rPr lang="en-US" smtClean="0"/>
              <a:t>‹#›</a:t>
            </a:fld>
            <a:endParaRPr lang="en-US"/>
          </a:p>
        </p:txBody>
      </p:sp>
    </p:spTree>
    <p:extLst>
      <p:ext uri="{BB962C8B-B14F-4D97-AF65-F5344CB8AC3E}">
        <p14:creationId xmlns:p14="http://schemas.microsoft.com/office/powerpoint/2010/main" val="2794029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514350" y="4400550"/>
            <a:ext cx="4114800" cy="3600450"/>
          </a:xfrm>
          <a:prstGeom prst="rect">
            <a:avLst/>
          </a:prstGeom>
        </p:spPr>
        <p:txBody>
          <a:bodyPr/>
          <a:lstStyle/>
          <a:p>
            <a:endParaRPr dirty="0"/>
          </a:p>
        </p:txBody>
      </p:sp>
    </p:spTree>
    <p:extLst>
      <p:ext uri="{BB962C8B-B14F-4D97-AF65-F5344CB8AC3E}">
        <p14:creationId xmlns:p14="http://schemas.microsoft.com/office/powerpoint/2010/main" val="2550129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t>Our approach: we ground ODRL in UFO-L, the legal core ontology built on the foundational ontology UFO, to say which legal relations exist once a policy is in force. Three contributions. First, the Cross-Level Design Principle: a policy language whose norms can be broken and carry consequences needs two kinds of positions, who may or must do what, and who may declare a violation and impose its consequences. This is a necessity result: without the second kind, you cannot get from a violation to its remedy, whatever the implementation. Second, the grounding, which applies it to ODRL: each active rule creates a legal relationship between the two parties, and a policy makes eight kinds of legal position explicit instead of two. Third, everything is verified mechanically. Now, what is UFO-L? (about 1:00)</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dirty="0"/>
              <a:t>UFO-L is the work of Cristine Griffo, João Paulo Almeida and Giancarlo Guizzardi; we use it as it stands. It extends the foundational ontology UFO with a theory of legal relations, following </a:t>
            </a:r>
            <a:r>
              <a:rPr dirty="0" err="1"/>
              <a:t>Hohfeld</a:t>
            </a:r>
            <a:r>
              <a:rPr dirty="0"/>
              <a:t> as extended by Alexy. A legal position inheres in one agent and depends on the other party. A legal relator bundles two correlative positions, one in each party, and is founded by an event: here x has a Duty and y the matching Right. Positions come in pairs: an advantage on one side, a constraint on the other. Conduct positions say what agents may and must do; competence positions say who can create or change positions. And relations created by a contract come into existence by exercising a Power. Why UFO-L: it has exactly what the grounding needs. BFO and DOLCE do not model legal positions themselves. If asked about legal extensions of DOLCE or BFO: we chose UFO-L because it already has the </a:t>
            </a:r>
            <a:r>
              <a:rPr dirty="0" err="1"/>
              <a:t>Hohfeld</a:t>
            </a:r>
            <a:r>
              <a:rPr dirty="0"/>
              <a:t> and Alexy pairs at both levels as relators; a systematic comparison is not in this paper. (about 1:15)</a:t>
            </a:r>
            <a:br>
              <a:rPr lang="en-US" dirty="0"/>
            </a:br>
            <a:r>
              <a:rPr lang="de-DE" dirty="0"/>
              <a:t>UFO-L </a:t>
            </a:r>
            <a:r>
              <a:rPr lang="de-DE" dirty="0" err="1"/>
              <a:t>says</a:t>
            </a:r>
            <a:r>
              <a:rPr lang="de-DE" dirty="0"/>
              <a:t> legal </a:t>
            </a:r>
            <a:r>
              <a:rPr lang="de-DE" dirty="0" err="1"/>
              <a:t>positions</a:t>
            </a:r>
            <a:r>
              <a:rPr lang="de-DE" dirty="0"/>
              <a:t> </a:t>
            </a:r>
            <a:r>
              <a:rPr lang="de-DE" dirty="0" err="1"/>
              <a:t>come</a:t>
            </a:r>
            <a:r>
              <a:rPr lang="de-DE" dirty="0"/>
              <a:t> in </a:t>
            </a:r>
            <a:r>
              <a:rPr lang="de-DE" dirty="0" err="1"/>
              <a:t>correlative</a:t>
            </a:r>
            <a:r>
              <a:rPr lang="de-DE" dirty="0"/>
              <a:t> </a:t>
            </a:r>
            <a:r>
              <a:rPr lang="de-DE" dirty="0" err="1"/>
              <a:t>pairs</a:t>
            </a:r>
            <a:r>
              <a:rPr lang="de-DE" dirty="0"/>
              <a:t>. An </a:t>
            </a:r>
            <a:r>
              <a:rPr lang="de-DE" dirty="0" err="1"/>
              <a:t>event</a:t>
            </a:r>
            <a:r>
              <a:rPr lang="de-DE" dirty="0"/>
              <a:t> </a:t>
            </a:r>
            <a:r>
              <a:rPr lang="de-DE" dirty="0" err="1"/>
              <a:t>founds</a:t>
            </a:r>
            <a:r>
              <a:rPr lang="de-DE" dirty="0"/>
              <a:t> a legal </a:t>
            </a:r>
            <a:r>
              <a:rPr lang="de-DE" dirty="0" err="1"/>
              <a:t>relator</a:t>
            </a:r>
            <a:r>
              <a:rPr lang="de-DE" dirty="0"/>
              <a:t>, and the </a:t>
            </a:r>
            <a:r>
              <a:rPr lang="de-DE" dirty="0" err="1"/>
              <a:t>relator</a:t>
            </a:r>
            <a:r>
              <a:rPr lang="de-DE" dirty="0"/>
              <a:t> </a:t>
            </a:r>
            <a:r>
              <a:rPr lang="de-DE" dirty="0" err="1"/>
              <a:t>connects</a:t>
            </a:r>
            <a:r>
              <a:rPr lang="de-DE" dirty="0"/>
              <a:t> the </a:t>
            </a:r>
            <a:r>
              <a:rPr lang="de-DE" dirty="0" err="1"/>
              <a:t>two</a:t>
            </a:r>
            <a:r>
              <a:rPr lang="de-DE" dirty="0"/>
              <a:t> </a:t>
            </a:r>
            <a:r>
              <a:rPr lang="de-DE" dirty="0" err="1"/>
              <a:t>parties</a:t>
            </a:r>
            <a:r>
              <a:rPr lang="de-DE" dirty="0"/>
              <a:t> </a:t>
            </a:r>
            <a:r>
              <a:rPr lang="de-DE" dirty="0" err="1"/>
              <a:t>through</a:t>
            </a:r>
            <a:r>
              <a:rPr lang="de-DE" dirty="0"/>
              <a:t> </a:t>
            </a:r>
            <a:r>
              <a:rPr lang="de-DE" dirty="0" err="1"/>
              <a:t>their</a:t>
            </a:r>
            <a:r>
              <a:rPr lang="de-DE" dirty="0"/>
              <a:t> </a:t>
            </a:r>
            <a:r>
              <a:rPr lang="de-DE" dirty="0" err="1"/>
              <a:t>corresponding</a:t>
            </a:r>
            <a:r>
              <a:rPr lang="de-DE" dirty="0"/>
              <a:t> </a:t>
            </a:r>
            <a:r>
              <a:rPr lang="de-DE" dirty="0" err="1"/>
              <a:t>positions</a:t>
            </a:r>
            <a:r>
              <a:rPr lang="de-DE"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dirty="0"/>
              <a:t>The deontic analysis gives three findings. Permission is underspecified: under open, silence means allowed, but no Permission exists, it is only a convention. Under closed, each declared permission creates a Permission and No Right pair, but nothing protects it; strong permission would need Immunity. Prohibition is sanctioned, not regimented. Short proof: if violation were impossible, the remedy clause of the Recommendation could never apply, yet the Recommendation defines and requires remedies. And the formal semantics has an explicit violated state. Duty covers achievement obligations only: one event fulfils it. Maintenance and process obligations have no transition. The consequence of the second finding: going from violation to remedy needs a Power/Subjection pair. (about 1:30)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0B7EE-3D62-A936-1861-82FA37103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5ADB5-9B36-F1E5-B3CF-D061EA6B38FD}"/>
              </a:ext>
            </a:extLst>
          </p:cNvPr>
          <p:cNvSpPr>
            <a:spLocks noGrp="1" noRot="1" noChangeAspect="1"/>
          </p:cNvSpPr>
          <p:nvPr>
            <p:ph type="sldImg" idx="2"/>
          </p:nvPr>
        </p:nvSpPr>
        <p:spPr>
          <a:xfrm>
            <a:off x="685800" y="1143000"/>
            <a:ext cx="5486400" cy="30861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1CD48A8-0129-B7EC-469F-030F6AED392E}"/>
                  </a:ext>
                </a:extLst>
              </p:cNvPr>
              <p:cNvSpPr>
                <a:spLocks noGrp="1"/>
              </p:cNvSpPr>
              <p:nvPr>
                <p:ph type="body" sz="quarter" idx="3"/>
              </p:nvPr>
            </p:nvSpPr>
            <p:spPr/>
            <p:txBody>
              <a:bodyPr/>
              <a:lstStyle/>
              <a:p>
                <a:r>
                  <a:rPr lang="de-DE" dirty="0"/>
                  <a:t>The </a:t>
                </a:r>
                <a:r>
                  <a:rPr lang="de-DE" dirty="0" err="1"/>
                  <a:t>activation</a:t>
                </a:r>
                <a:r>
                  <a:rPr lang="de-DE" dirty="0"/>
                  <a:t> </a:t>
                </a:r>
                <a:r>
                  <a:rPr lang="de-DE" dirty="0" err="1"/>
                  <a:t>event</a:t>
                </a:r>
                <a:r>
                  <a:rPr lang="de-DE" dirty="0"/>
                  <a:t> </a:t>
                </a:r>
                <a14:m>
                  <m:oMath xmlns:m="http://schemas.openxmlformats.org/officeDocument/2006/math">
                    <m:r>
                      <a:rPr lang="de-DE" sz="1200" i="1" kern="1200">
                        <a:solidFill>
                          <a:schemeClr val="tx1"/>
                        </a:solidFill>
                        <a:latin typeface="Cambria Math" panose="02040503050406030204" pitchFamily="18" charset="0"/>
                        <a:ea typeface="+mn-ea"/>
                        <a:cs typeface="+mn-cs"/>
                      </a:rPr>
                      <m:t>𝑒</m:t>
                    </m:r>
                  </m:oMath>
                </a14:m>
                <a:r>
                  <a:rPr lang="de-DE" dirty="0" err="1"/>
                  <a:t>founds</a:t>
                </a:r>
                <a:r>
                  <a:rPr lang="de-DE" dirty="0"/>
                  <a:t> a legal </a:t>
                </a:r>
                <a:r>
                  <a:rPr lang="de-DE" dirty="0" err="1"/>
                  <a:t>relator</a:t>
                </a:r>
                <a:r>
                  <a:rPr lang="de-DE" dirty="0"/>
                  <a:t> </a:t>
                </a:r>
                <a14:m>
                  <m:oMath xmlns:m="http://schemas.openxmlformats.org/officeDocument/2006/math">
                    <m:sSub>
                      <m:sSubPr>
                        <m:ctrlPr>
                          <a:rPr lang="de-DE" sz="1200" i="1" kern="1200">
                            <a:solidFill>
                              <a:schemeClr val="tx1"/>
                            </a:solidFill>
                            <a:latin typeface="Cambria Math" panose="02040503050406030204" pitchFamily="18" charset="0"/>
                            <a:ea typeface="+mn-ea"/>
                            <a:cs typeface="+mn-cs"/>
                          </a:rPr>
                        </m:ctrlPr>
                      </m:sSubPr>
                      <m:e>
                        <m:r>
                          <a:rPr lang="de-DE" sz="1200" i="1" kern="1200">
                            <a:solidFill>
                              <a:schemeClr val="tx1"/>
                            </a:solidFill>
                            <a:latin typeface="Cambria Math" panose="02040503050406030204" pitchFamily="18" charset="0"/>
                            <a:ea typeface="+mn-ea"/>
                            <a:cs typeface="+mn-cs"/>
                          </a:rPr>
                          <m:t>𝜌</m:t>
                        </m:r>
                      </m:e>
                      <m:sub>
                        <m:r>
                          <a:rPr lang="de-DE" sz="1200" i="1" kern="1200">
                            <a:solidFill>
                              <a:schemeClr val="tx1"/>
                            </a:solidFill>
                            <a:latin typeface="Cambria Math" panose="02040503050406030204" pitchFamily="18" charset="0"/>
                            <a:ea typeface="+mn-ea"/>
                            <a:cs typeface="+mn-cs"/>
                          </a:rPr>
                          <m:t>𝑃</m:t>
                        </m:r>
                      </m:sub>
                    </m:sSub>
                  </m:oMath>
                </a14:m>
                <a:r>
                  <a:rPr lang="de-DE" dirty="0" err="1"/>
                  <a:t>that</a:t>
                </a:r>
                <a:r>
                  <a:rPr lang="de-DE" dirty="0"/>
                  <a:t> </a:t>
                </a:r>
                <a:r>
                  <a:rPr lang="de-DE" dirty="0" err="1"/>
                  <a:t>contains</a:t>
                </a:r>
                <a:r>
                  <a:rPr lang="de-DE" dirty="0"/>
                  <a:t> </a:t>
                </a:r>
                <a:r>
                  <a:rPr lang="de-DE" dirty="0" err="1"/>
                  <a:t>two</a:t>
                </a:r>
                <a:r>
                  <a:rPr lang="de-DE" dirty="0"/>
                  <a:t> </a:t>
                </a:r>
                <a:r>
                  <a:rPr lang="de-DE" dirty="0" err="1"/>
                  <a:t>correlative</a:t>
                </a:r>
                <a:r>
                  <a:rPr lang="de-DE" dirty="0"/>
                  <a:t> </a:t>
                </a:r>
                <a:r>
                  <a:rPr lang="de-DE" dirty="0" err="1"/>
                  <a:t>positions</a:t>
                </a:r>
                <a:r>
                  <a:rPr lang="de-DE" dirty="0"/>
                  <a:t>: Permission for the </a:t>
                </a:r>
                <a:r>
                  <a:rPr lang="de-DE" dirty="0" err="1"/>
                  <a:t>assignee</a:t>
                </a:r>
                <a:r>
                  <a:rPr lang="de-DE" dirty="0"/>
                  <a:t> </a:t>
                </a:r>
                <a14:m>
                  <m:oMath xmlns:m="http://schemas.openxmlformats.org/officeDocument/2006/math">
                    <m:r>
                      <a:rPr lang="de-DE" sz="1200" i="1" kern="1200">
                        <a:solidFill>
                          <a:schemeClr val="tx1"/>
                        </a:solidFill>
                        <a:latin typeface="Cambria Math" panose="02040503050406030204" pitchFamily="18" charset="0"/>
                        <a:ea typeface="+mn-ea"/>
                        <a:cs typeface="+mn-cs"/>
                      </a:rPr>
                      <m:t>𝑥</m:t>
                    </m:r>
                  </m:oMath>
                </a14:m>
                <a:r>
                  <a:rPr lang="de-DE" dirty="0"/>
                  <a:t>and </a:t>
                </a:r>
                <a:r>
                  <a:rPr lang="de-DE" dirty="0" err="1"/>
                  <a:t>NoRight</a:t>
                </a:r>
                <a:r>
                  <a:rPr lang="de-DE" dirty="0"/>
                  <a:t> for the </a:t>
                </a:r>
                <a:r>
                  <a:rPr lang="de-DE" dirty="0" err="1"/>
                  <a:t>assigner</a:t>
                </a:r>
                <a:r>
                  <a:rPr lang="de-DE" dirty="0"/>
                  <a:t> </a:t>
                </a:r>
                <a14:m>
                  <m:oMath xmlns:m="http://schemas.openxmlformats.org/officeDocument/2006/math">
                    <m:r>
                      <a:rPr lang="de-DE" sz="1200" i="1" kern="1200">
                        <a:solidFill>
                          <a:schemeClr val="tx1"/>
                        </a:solidFill>
                        <a:latin typeface="Cambria Math" panose="02040503050406030204" pitchFamily="18" charset="0"/>
                        <a:ea typeface="+mn-ea"/>
                        <a:cs typeface="+mn-cs"/>
                      </a:rPr>
                      <m:t>𝑦</m:t>
                    </m:r>
                  </m:oMath>
                </a14:m>
                <a:r>
                  <a:rPr lang="de-DE" dirty="0"/>
                  <a:t>, </a:t>
                </a:r>
                <a:r>
                  <a:rPr lang="de-DE" dirty="0" err="1"/>
                  <a:t>both</a:t>
                </a:r>
                <a:r>
                  <a:rPr lang="de-DE" dirty="0"/>
                  <a:t> </a:t>
                </a:r>
                <a:r>
                  <a:rPr lang="de-DE" dirty="0" err="1"/>
                  <a:t>concerning</a:t>
                </a:r>
                <a:r>
                  <a:rPr lang="de-DE" dirty="0"/>
                  <a:t> the same </a:t>
                </a:r>
                <a:r>
                  <a:rPr lang="de-DE" dirty="0" err="1"/>
                  <a:t>action</a:t>
                </a:r>
                <a:r>
                  <a:rPr lang="de-DE" dirty="0"/>
                  <a:t> </a:t>
                </a:r>
                <a14:m>
                  <m:oMath xmlns:m="http://schemas.openxmlformats.org/officeDocument/2006/math">
                    <m:r>
                      <a:rPr lang="de-DE" sz="1200" i="1" kern="1200">
                        <a:solidFill>
                          <a:schemeClr val="tx1"/>
                        </a:solidFill>
                        <a:latin typeface="Cambria Math" panose="02040503050406030204" pitchFamily="18" charset="0"/>
                        <a:ea typeface="+mn-ea"/>
                        <a:cs typeface="+mn-cs"/>
                      </a:rPr>
                      <m:t>𝑎</m:t>
                    </m:r>
                  </m:oMath>
                </a14:m>
                <a:r>
                  <a:rPr lang="de-DE" dirty="0"/>
                  <a:t>and </a:t>
                </a:r>
                <a:r>
                  <a:rPr lang="de-DE" dirty="0" err="1"/>
                  <a:t>target</a:t>
                </a:r>
                <a:r>
                  <a:rPr lang="de-DE" dirty="0"/>
                  <a:t> </a:t>
                </a:r>
                <a14:m>
                  <m:oMath xmlns:m="http://schemas.openxmlformats.org/officeDocument/2006/math">
                    <m:r>
                      <a:rPr lang="de-DE" sz="1200" i="1" kern="1200">
                        <a:solidFill>
                          <a:schemeClr val="tx1"/>
                        </a:solidFill>
                        <a:latin typeface="Cambria Math" panose="02040503050406030204" pitchFamily="18" charset="0"/>
                        <a:ea typeface="+mn-ea"/>
                        <a:cs typeface="+mn-cs"/>
                      </a:rPr>
                      <m:t>𝑡</m:t>
                    </m:r>
                  </m:oMath>
                </a14:m>
                <a:r>
                  <a:rPr lang="de-DE" dirty="0"/>
                  <a:t>.</a:t>
                </a:r>
                <a:endParaRPr dirty="0"/>
              </a:p>
            </p:txBody>
          </p:sp>
        </mc:Choice>
        <mc:Fallback xmlns="">
          <p:sp>
            <p:nvSpPr>
              <p:cNvPr id="3" name="Notes Placeholder 2">
                <a:extLst>
                  <a:ext uri="{FF2B5EF4-FFF2-40B4-BE49-F238E27FC236}">
                    <a16:creationId xmlns:a16="http://schemas.microsoft.com/office/drawing/2014/main" id="{C1CD48A8-0129-B7EC-469F-030F6AED392E}"/>
                  </a:ext>
                </a:extLst>
              </p:cNvPr>
              <p:cNvSpPr>
                <a:spLocks noGrp="1"/>
              </p:cNvSpPr>
              <p:nvPr>
                <p:ph type="body" sz="quarter" idx="3"/>
              </p:nvPr>
            </p:nvSpPr>
            <p:spPr/>
            <p:txBody>
              <a:bodyPr/>
              <a:lstStyle/>
              <a:p>
                <a:r>
                  <a:rPr lang="de-DE" dirty="0" err="1"/>
                  <a:t>If</a:t>
                </a:r>
                <a:r>
                  <a:rPr lang="de-DE" dirty="0"/>
                  <a:t> an ODRL Permission </a:t>
                </a:r>
                <a:r>
                  <a:rPr lang="de-DE" sz="1200" i="0" kern="1200">
                    <a:solidFill>
                      <a:schemeClr val="tx1"/>
                    </a:solidFill>
                    <a:latin typeface="+mn-lt"/>
                    <a:ea typeface="+mn-ea"/>
                    <a:cs typeface="+mn-cs"/>
                  </a:rPr>
                  <a:t>𝑝</a:t>
                </a:r>
                <a:r>
                  <a:rPr lang="de-DE" dirty="0" err="1"/>
                  <a:t>identifies</a:t>
                </a:r>
                <a:r>
                  <a:rPr lang="de-DE" dirty="0"/>
                  <a:t> who </a:t>
                </a:r>
                <a:r>
                  <a:rPr lang="de-DE" dirty="0" err="1"/>
                  <a:t>may</a:t>
                </a:r>
                <a:r>
                  <a:rPr lang="de-DE" dirty="0"/>
                  <a:t> do </a:t>
                </a:r>
                <a:r>
                  <a:rPr lang="de-DE" dirty="0" err="1"/>
                  <a:t>what</a:t>
                </a:r>
                <a:r>
                  <a:rPr lang="de-DE" dirty="0"/>
                  <a:t> to </a:t>
                </a:r>
                <a:r>
                  <a:rPr lang="de-DE" dirty="0" err="1"/>
                  <a:t>which</a:t>
                </a:r>
                <a:r>
                  <a:rPr lang="de-DE" dirty="0"/>
                  <a:t> </a:t>
                </a:r>
                <a:r>
                  <a:rPr lang="de-DE" dirty="0" err="1"/>
                  <a:t>target</a:t>
                </a:r>
                <a:r>
                  <a:rPr lang="de-DE" dirty="0"/>
                  <a:t>, and </a:t>
                </a:r>
                <a:r>
                  <a:rPr lang="de-DE" dirty="0" err="1"/>
                  <a:t>that</a:t>
                </a:r>
                <a:r>
                  <a:rPr lang="de-DE" dirty="0"/>
                  <a:t> </a:t>
                </a:r>
                <a:r>
                  <a:rPr lang="de-DE" dirty="0" err="1"/>
                  <a:t>permission</a:t>
                </a:r>
                <a:r>
                  <a:rPr lang="de-DE" dirty="0"/>
                  <a:t> </a:t>
                </a:r>
                <a:r>
                  <a:rPr lang="de-DE" dirty="0" err="1"/>
                  <a:t>is</a:t>
                </a:r>
                <a:r>
                  <a:rPr lang="de-DE" dirty="0"/>
                  <a:t> </a:t>
                </a:r>
                <a:r>
                  <a:rPr lang="de-DE" dirty="0" err="1"/>
                  <a:t>activated</a:t>
                </a:r>
                <a:r>
                  <a:rPr lang="de-DE" dirty="0"/>
                  <a:t>, </a:t>
                </a:r>
                <a:r>
                  <a:rPr lang="de-DE" dirty="0" err="1"/>
                  <a:t>then</a:t>
                </a:r>
                <a:r>
                  <a:rPr lang="de-DE" dirty="0"/>
                  <a:t> </a:t>
                </a:r>
                <a:r>
                  <a:rPr lang="de-DE" dirty="0" err="1"/>
                  <a:t>our</a:t>
                </a:r>
                <a:r>
                  <a:rPr lang="de-DE" dirty="0"/>
                  <a:t> UFO-L </a:t>
                </a:r>
                <a:r>
                  <a:rPr lang="de-DE" dirty="0" err="1"/>
                  <a:t>grounding</a:t>
                </a:r>
                <a:r>
                  <a:rPr lang="de-DE" dirty="0"/>
                  <a:t> </a:t>
                </a:r>
                <a:r>
                  <a:rPr lang="de-DE" dirty="0" err="1"/>
                  <a:t>represents</a:t>
                </a:r>
                <a:r>
                  <a:rPr lang="de-DE" dirty="0"/>
                  <a:t> it as a legal </a:t>
                </a:r>
                <a:r>
                  <a:rPr lang="de-DE" dirty="0" err="1"/>
                  <a:t>relator</a:t>
                </a:r>
                <a:r>
                  <a:rPr lang="de-DE" dirty="0"/>
                  <a:t> </a:t>
                </a:r>
                <a:r>
                  <a:rPr lang="de-DE" dirty="0" err="1"/>
                  <a:t>between</a:t>
                </a:r>
                <a:r>
                  <a:rPr lang="de-DE" dirty="0"/>
                  <a:t> the </a:t>
                </a:r>
                <a:r>
                  <a:rPr lang="de-DE" dirty="0" err="1"/>
                  <a:t>two</a:t>
                </a:r>
                <a:r>
                  <a:rPr lang="de-DE" dirty="0"/>
                  <a:t> </a:t>
                </a:r>
                <a:r>
                  <a:rPr lang="de-DE" dirty="0" err="1"/>
                  <a:t>parties</a:t>
                </a:r>
                <a:r>
                  <a:rPr lang="de-DE" dirty="0"/>
                  <a:t>: the </a:t>
                </a:r>
                <a:r>
                  <a:rPr lang="de-DE" dirty="0" err="1"/>
                  <a:t>assignee</a:t>
                </a:r>
                <a:r>
                  <a:rPr lang="de-DE" dirty="0"/>
                  <a:t> </a:t>
                </a:r>
                <a:r>
                  <a:rPr lang="de-DE" dirty="0" err="1"/>
                  <a:t>has</a:t>
                </a:r>
                <a:r>
                  <a:rPr lang="de-DE" dirty="0"/>
                  <a:t> Permission and the </a:t>
                </a:r>
                <a:r>
                  <a:rPr lang="de-DE" dirty="0" err="1"/>
                  <a:t>assigner</a:t>
                </a:r>
                <a:r>
                  <a:rPr lang="de-DE" dirty="0"/>
                  <a:t> </a:t>
                </a:r>
                <a:r>
                  <a:rPr lang="de-DE" dirty="0" err="1"/>
                  <a:t>has</a:t>
                </a:r>
                <a:r>
                  <a:rPr lang="de-DE" dirty="0"/>
                  <a:t> the </a:t>
                </a:r>
                <a:r>
                  <a:rPr lang="de-DE" dirty="0" err="1"/>
                  <a:t>corresponding</a:t>
                </a:r>
                <a:r>
                  <a:rPr lang="de-DE" dirty="0"/>
                  <a:t> </a:t>
                </a:r>
                <a:r>
                  <a:rPr lang="de-DE" dirty="0" err="1"/>
                  <a:t>NoRight</a:t>
                </a:r>
                <a:r>
                  <a:rPr lang="de-DE" dirty="0"/>
                  <a:t>.</a:t>
                </a:r>
                <a:endParaRPr dirty="0"/>
              </a:p>
            </p:txBody>
          </p:sp>
        </mc:Fallback>
      </mc:AlternateContent>
      <p:sp>
        <p:nvSpPr>
          <p:cNvPr id="4" name="Slide Number Placeholder 3">
            <a:extLst>
              <a:ext uri="{FF2B5EF4-FFF2-40B4-BE49-F238E27FC236}">
                <a16:creationId xmlns:a16="http://schemas.microsoft.com/office/drawing/2014/main" id="{00400534-A8D2-2C36-B94F-8D08DFD42719}"/>
              </a:ext>
            </a:extLst>
          </p:cNvPr>
          <p:cNvSpPr>
            <a:spLocks noGrp="1"/>
          </p:cNvSpPr>
          <p:nvPr>
            <p:ph type="sldNum" sz="quarter" idx="5"/>
          </p:nvPr>
        </p:nvSpPr>
        <p:spPr/>
      </p:sp>
    </p:spTree>
    <p:extLst>
      <p:ext uri="{BB962C8B-B14F-4D97-AF65-F5344CB8AC3E}">
        <p14:creationId xmlns:p14="http://schemas.microsoft.com/office/powerpoint/2010/main" val="990480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55158-6253-8DDB-0E0C-6AF15F642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2495B-C0FD-06CB-ECA9-8F80A156EEC6}"/>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C18B3B06-67D1-A634-348A-5D92B93146FD}"/>
              </a:ext>
            </a:extLst>
          </p:cNvPr>
          <p:cNvSpPr>
            <a:spLocks noGrp="1"/>
          </p:cNvSpPr>
          <p:nvPr>
            <p:ph type="body" sz="quarter" idx="3"/>
          </p:nvPr>
        </p:nvSpPr>
        <p:spPr/>
        <p:txBody>
          <a:bodyPr/>
          <a:lstStyle/>
          <a:p>
            <a:r>
              <a:rPr lang="en-US" dirty="0" err="1"/>
              <a:t>KulturPortal</a:t>
            </a:r>
            <a:endParaRPr lang="en-US" dirty="0"/>
          </a:p>
          <a:p>
            <a:r>
              <a:rPr lang="en-US" dirty="0"/>
              <a:t>Duty to Omit distribution</a:t>
            </a:r>
          </a:p>
          <a:p>
            <a:r>
              <a:rPr lang="en-US" dirty="0"/>
              <a:t>→ must NOT distribute the showtimes</a:t>
            </a:r>
          </a:p>
          <a:p>
            <a:endParaRPr lang="en-US" dirty="0"/>
          </a:p>
          <a:p>
            <a:r>
              <a:rPr lang="en-US" dirty="0"/>
              <a:t>Berliner Ensemble</a:t>
            </a:r>
          </a:p>
          <a:p>
            <a:r>
              <a:rPr lang="en-US" dirty="0"/>
              <a:t>Right to Omission</a:t>
            </a:r>
          </a:p>
          <a:p>
            <a:r>
              <a:rPr lang="en-US" dirty="0"/>
              <a:t>→ has the right that </a:t>
            </a:r>
            <a:r>
              <a:rPr lang="en-US" dirty="0" err="1"/>
              <a:t>KulturPortal</a:t>
            </a:r>
            <a:r>
              <a:rPr lang="en-US" dirty="0"/>
              <a:t> does NOT distribute the showtimes</a:t>
            </a:r>
            <a:endParaRPr dirty="0"/>
          </a:p>
        </p:txBody>
      </p:sp>
      <p:sp>
        <p:nvSpPr>
          <p:cNvPr id="4" name="Slide Number Placeholder 3">
            <a:extLst>
              <a:ext uri="{FF2B5EF4-FFF2-40B4-BE49-F238E27FC236}">
                <a16:creationId xmlns:a16="http://schemas.microsoft.com/office/drawing/2014/main" id="{98D70503-D3DD-49C2-DC5C-CCC53AEC4737}"/>
              </a:ext>
            </a:extLst>
          </p:cNvPr>
          <p:cNvSpPr>
            <a:spLocks noGrp="1"/>
          </p:cNvSpPr>
          <p:nvPr>
            <p:ph type="sldNum" sz="quarter" idx="5"/>
          </p:nvPr>
        </p:nvSpPr>
        <p:spPr/>
      </p:sp>
    </p:spTree>
    <p:extLst>
      <p:ext uri="{BB962C8B-B14F-4D97-AF65-F5344CB8AC3E}">
        <p14:creationId xmlns:p14="http://schemas.microsoft.com/office/powerpoint/2010/main" val="2601568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79BF5-2842-F297-0224-8292C503AB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64496-2CC0-EC72-7788-616487030840}"/>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6AE8DB1C-7085-0D79-F56C-526FB70B32D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D50A8C1-B579-3AA5-1F9A-FE6AF6D8790A}"/>
              </a:ext>
            </a:extLst>
          </p:cNvPr>
          <p:cNvSpPr>
            <a:spLocks noGrp="1"/>
          </p:cNvSpPr>
          <p:nvPr>
            <p:ph type="sldNum" sz="quarter" idx="5"/>
          </p:nvPr>
        </p:nvSpPr>
        <p:spPr/>
      </p:sp>
    </p:spTree>
    <p:extLst>
      <p:ext uri="{BB962C8B-B14F-4D97-AF65-F5344CB8AC3E}">
        <p14:creationId xmlns:p14="http://schemas.microsoft.com/office/powerpoint/2010/main" val="1141576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AA7A4-0A0A-A277-19F8-878DBC7D9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1AE7E-2C23-939F-10D3-14A5D75FDE5C}"/>
              </a:ext>
            </a:extLst>
          </p:cNvPr>
          <p:cNvSpPr>
            <a:spLocks noGrp="1" noRot="1" noChangeAspect="1"/>
          </p:cNvSpPr>
          <p:nvPr>
            <p:ph type="sldImg" idx="2"/>
          </p:nvPr>
        </p:nvSpPr>
        <p:spPr>
          <a:xfrm>
            <a:off x="685800" y="1143000"/>
            <a:ext cx="5486400" cy="3086100"/>
          </a:xfrm>
        </p:spPr>
      </p:sp>
      <p:sp>
        <p:nvSpPr>
          <p:cNvPr id="3" name="Notes Placeholder 2">
            <a:extLst>
              <a:ext uri="{FF2B5EF4-FFF2-40B4-BE49-F238E27FC236}">
                <a16:creationId xmlns:a16="http://schemas.microsoft.com/office/drawing/2014/main" id="{1566B5BF-A214-9CB5-58BD-A3A3B2ECE7CB}"/>
              </a:ext>
            </a:extLst>
          </p:cNvPr>
          <p:cNvSpPr>
            <a:spLocks noGrp="1"/>
          </p:cNvSpPr>
          <p:nvPr>
            <p:ph type="body" sz="quarter" idx="3"/>
          </p:nvPr>
        </p:nvSpPr>
        <p:spPr/>
        <p:txBody>
          <a:bodyPr/>
          <a:lstStyle/>
          <a:p>
            <a:r>
              <a:rPr dirty="0"/>
              <a:t>Here is the gain, rule by rule. Middle column: what the evaluator works with. Right column: what the grounding adds, which the evaluator cannot see; green is conduct level, blue is competence level. For a plain prohibition, the assigner's Right to Omission. For a prohibition with a remedy, the evaluator stops at violated, and the grounding adds the Power to declare the violation and the Subjection. For a strong permission, the evaluator stops at an unprotected permission, and the grounding adds Immunity and Disability. Proposition 5.2: everything the evaluator reports is entailed, so it is sound, but it is not complete. Coverage goes from two position types to eight. (about 1:15)</a:t>
            </a:r>
          </a:p>
        </p:txBody>
      </p:sp>
      <p:sp>
        <p:nvSpPr>
          <p:cNvPr id="4" name="Slide Number Placeholder 3">
            <a:extLst>
              <a:ext uri="{FF2B5EF4-FFF2-40B4-BE49-F238E27FC236}">
                <a16:creationId xmlns:a16="http://schemas.microsoft.com/office/drawing/2014/main" id="{1075F265-C1CA-2750-6CF3-E32EAE3930D8}"/>
              </a:ext>
            </a:extLst>
          </p:cNvPr>
          <p:cNvSpPr>
            <a:spLocks noGrp="1"/>
          </p:cNvSpPr>
          <p:nvPr>
            <p:ph type="sldNum" sz="quarter" idx="5"/>
          </p:nvPr>
        </p:nvSpPr>
        <p:spPr/>
      </p:sp>
    </p:spTree>
    <p:extLst>
      <p:ext uri="{BB962C8B-B14F-4D97-AF65-F5344CB8AC3E}">
        <p14:creationId xmlns:p14="http://schemas.microsoft.com/office/powerpoint/2010/main" val="13410943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t>Now the grounding. Each activated rule founds one simple legal relator: one position for the assignee, the correlative for the assigner. Permission gives Permission and No Right. A prohibition gives the assignee a Duty to omit the action, and the assigner the Right to that omission. Note the content is rfr(a), the omission, not the action. A duty gives Duty and Right. The two extension rows are where the competence level enters: a strong permission adds Immunity and Disability, and a prohibition with a remedy adds Power for the assigner and Subjection for the assignee, over decl(a), the act of declaring the violation. Both second relators are founded at the same event and kept apart by unique founding. (about 1:30)</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t>Back to the opening example. Activating the Berliner Ensemble agreement founds two relators at one event. The conduct relator: KulturPortal has a Duty to omit distributing, the theater has the Right to that omission. The competence relator, because there is a remedy: the theater has the Power over declaring the violation, KulturPortal the Subjection. The Deutsches Theater agreement founds its own pair. The evaluator only said violated twice. The grounding tells us that each theater holds a distinct Power, so which provider may demand which remedy follows from the model, not from how someone implemented the evaluator. That answers P2, P3 and, with the profile, P4. (about 1:15)</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t>Three take-aways. First, the Cross-Level Design Principle: if your norms can be broken and carry consequences, you need competence-level positions. Second, ODRL grounded in UFO-L: every activated rule founds a relator, the policy now makes eight positions explicit instead of two, and the authority to declare a violation becomes an explicit Power/Subjection pair. Third, it is checked mechanically and usable through the profile. Scope: simple legal relators only. Next: inherited policies, and using the positions as a target for LLM-based policy generation. Thank you. (about 45 seconds)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t>Leave this slide up during questions. Likely questions and where to go: full axioms, backup B1 and B2. Open world and delegation, B3. OWL limits, B4. Prover details, B5. Related work and why UFO-L, B6. Hohfeld, B7.</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t>Here is the gain, rule by rule. Middle column: what the evaluator works with. Right column: what the grounding adds, which the evaluator cannot see; green is conduct level, blue is competence level. For a plain prohibition, the assigner's Right to Omission. For a prohibition with a remedy, the evaluator stops at violated, and the grounding adds the Power to declare the violation and the Subjection. For a strong permission, the evaluator stops at an unprotected permission, and the grounding adds Immunity and Disability. Proposition 5.2: everything the evaluator reports is entailed, so it is sound, but it is not complete. Coverage goes from two position types to eight. (about 1:15)</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5" Type="http://schemas.openxmlformats.org/officeDocument/2006/relationships/image" Target="../media/image4.png"/><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48640" y="1325880"/>
            <a:ext cx="5362956" cy="484632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7356" y="1325880"/>
            <a:ext cx="5362956" cy="484632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elfolie – große Headline oben mit Bild">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2646599342"/>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pic>
        <p:nvPicPr>
          <p:cNvPr id="5" name="Grafik 4">
            <a:extLst>
              <a:ext uri="{FF2B5EF4-FFF2-40B4-BE49-F238E27FC236}">
                <a16:creationId xmlns:a16="http://schemas.microsoft.com/office/drawing/2014/main" id="{11F1A574-59A7-4800-855F-6C927C3EF908}"/>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1" y="3666896"/>
            <a:ext cx="11712575" cy="2317980"/>
          </a:xfrm>
          <a:noFill/>
        </p:spPr>
        <p:txBody>
          <a:bodyPr wrap="square" lIns="486000" tIns="360000" rIns="360000" bIns="360000" anchor="b">
            <a:spAutoFit/>
          </a:bodyPr>
          <a:lstStyle>
            <a:lvl1pPr>
              <a:lnSpc>
                <a:spcPct val="100000"/>
              </a:lnSpc>
              <a:spcAft>
                <a:spcPts val="0"/>
              </a:spcAft>
              <a:defRPr sz="2400" b="0">
                <a:solidFill>
                  <a:schemeClr val="bg1"/>
                </a:solidFill>
                <a:latin typeface="+mn-lt"/>
              </a:defRPr>
            </a:lvl1pPr>
            <a:lvl2pPr>
              <a:lnSpc>
                <a:spcPts val="2640"/>
              </a:lnSpc>
              <a:spcAft>
                <a:spcPts val="1200"/>
              </a:spcAft>
              <a:defRPr sz="3120" b="0">
                <a:solidFill>
                  <a:schemeClr val="bg1"/>
                </a:solidFill>
                <a:latin typeface="Frutiger LT Com 75 Black" panose="020B0A03040504030204" pitchFamily="34" charset="0"/>
              </a:defRPr>
            </a:lvl2pPr>
            <a:lvl3pPr>
              <a:lnSpc>
                <a:spcPct val="110000"/>
              </a:lnSpc>
              <a:spcAft>
                <a:spcPts val="0"/>
              </a:spcAft>
              <a:defRPr sz="1200">
                <a:solidFill>
                  <a:schemeClr val="bg1"/>
                </a:solidFill>
                <a:latin typeface="+mj-lt"/>
              </a:defRPr>
            </a:lvl3pPr>
            <a:lvl4pPr marL="0" indent="0">
              <a:lnSpc>
                <a:spcPct val="110000"/>
              </a:lnSpc>
              <a:spcBef>
                <a:spcPts val="1560"/>
              </a:spcBef>
              <a:spcAft>
                <a:spcPts val="0"/>
              </a:spcAft>
              <a:buNone/>
              <a:defRPr sz="1200">
                <a:solidFill>
                  <a:schemeClr val="bg1"/>
                </a:solidFill>
              </a:defRPr>
            </a:lvl4pPr>
            <a:lvl5pPr>
              <a:spcAft>
                <a:spcPts val="0"/>
              </a:spcAft>
              <a:defRPr/>
            </a:lvl5pPr>
          </a:lstStyle>
          <a:p>
            <a:pPr lvl="0"/>
            <a:r>
              <a:rPr lang="de-DE"/>
              <a:t>Headline groß, Frutiger LT </a:t>
            </a:r>
            <a:r>
              <a:rPr lang="de-DE" err="1"/>
              <a:t>Com</a:t>
            </a:r>
            <a:r>
              <a:rPr lang="de-DE"/>
              <a:t> Light, 32 </a:t>
            </a:r>
            <a:r>
              <a:rPr lang="de-DE" err="1"/>
              <a:t>pt</a:t>
            </a:r>
            <a:endParaRPr lang="de-DE"/>
          </a:p>
          <a:p>
            <a:pPr lvl="1"/>
            <a:r>
              <a:rPr lang="de-DE"/>
              <a:t>—</a:t>
            </a:r>
          </a:p>
          <a:p>
            <a:pPr lvl="2"/>
            <a:r>
              <a:rPr lang="de-DE" err="1"/>
              <a:t>Subline</a:t>
            </a:r>
            <a:r>
              <a:rPr lang="de-DE"/>
              <a:t>/Referent/Datum</a:t>
            </a:r>
          </a:p>
          <a:p>
            <a:pPr lvl="3"/>
            <a:r>
              <a:rPr lang="de-DE"/>
              <a:t>Referenten</a:t>
            </a:r>
          </a:p>
        </p:txBody>
      </p:sp>
      <p:sp>
        <p:nvSpPr>
          <p:cNvPr id="2" name="Datumsplatzhalter 1">
            <a:extLst>
              <a:ext uri="{FF2B5EF4-FFF2-40B4-BE49-F238E27FC236}">
                <a16:creationId xmlns:a16="http://schemas.microsoft.com/office/drawing/2014/main" id="{25C68886-21F8-4FFB-8201-7F0BA6565D68}"/>
              </a:ext>
            </a:extLst>
          </p:cNvPr>
          <p:cNvSpPr>
            <a:spLocks noGrp="1"/>
          </p:cNvSpPr>
          <p:nvPr>
            <p:ph type="dt" sz="half" idx="12"/>
          </p:nvPr>
        </p:nvSpPr>
        <p:spPr>
          <a:xfrm>
            <a:off x="1388048" y="7027338"/>
            <a:ext cx="720000" cy="123111"/>
          </a:xfrm>
        </p:spPr>
        <p:txBody>
          <a:bodyPr/>
          <a:lstStyle/>
          <a:p>
            <a:fld id="{18404E2F-0DC3-491D-BBFF-E567024868D0}" type="datetime1">
              <a:rPr lang="de-DE" noProof="0" smtClean="0"/>
              <a:t>24.09.2026</a:t>
            </a:fld>
            <a:endParaRPr lang="de-DE" noProof="0"/>
          </a:p>
        </p:txBody>
      </p:sp>
      <p:sp>
        <p:nvSpPr>
          <p:cNvPr id="3" name="Fußzeilenplatzhalter 2">
            <a:extLst>
              <a:ext uri="{FF2B5EF4-FFF2-40B4-BE49-F238E27FC236}">
                <a16:creationId xmlns:a16="http://schemas.microsoft.com/office/drawing/2014/main" id="{44BD0276-DAC0-4256-A958-3D3DD10E633D}"/>
              </a:ext>
            </a:extLst>
          </p:cNvPr>
          <p:cNvSpPr>
            <a:spLocks noGrp="1"/>
          </p:cNvSpPr>
          <p:nvPr>
            <p:ph type="ftr" sz="quarter" idx="13"/>
          </p:nvPr>
        </p:nvSpPr>
        <p:spPr>
          <a:xfrm>
            <a:off x="2297897" y="7027338"/>
            <a:ext cx="2952000" cy="123111"/>
          </a:xfrm>
        </p:spPr>
        <p:txBody>
          <a:bodyPr/>
          <a:lstStyle/>
          <a:p>
            <a:r>
              <a:rPr lang="de-DE" noProof="0"/>
              <a:t>© Fraunhofer FIT</a:t>
            </a:r>
          </a:p>
        </p:txBody>
      </p:sp>
      <p:sp>
        <p:nvSpPr>
          <p:cNvPr id="4" name="Foliennummernplatzhalter 3">
            <a:extLst>
              <a:ext uri="{FF2B5EF4-FFF2-40B4-BE49-F238E27FC236}">
                <a16:creationId xmlns:a16="http://schemas.microsoft.com/office/drawing/2014/main" id="{55696E82-453E-4196-8BCD-BF982D26413F}"/>
              </a:ext>
            </a:extLst>
          </p:cNvPr>
          <p:cNvSpPr>
            <a:spLocks noGrp="1"/>
          </p:cNvSpPr>
          <p:nvPr>
            <p:ph type="sldNum" sz="quarter" idx="14"/>
          </p:nvPr>
        </p:nvSpPr>
        <p:spPr>
          <a:xfrm>
            <a:off x="479425" y="7027338"/>
            <a:ext cx="720000" cy="123111"/>
          </a:xfrm>
        </p:spPr>
        <p:txBody>
          <a:bodyPr/>
          <a:lstStyle/>
          <a:p>
            <a:r>
              <a:rPr lang="de-DE" noProof="0"/>
              <a:t>Seite</a:t>
            </a:r>
            <a:r>
              <a:rPr lang="en-US"/>
              <a:t> </a:t>
            </a:r>
            <a:fld id="{401BA3E4-5E55-4F99-AF09-CC6D6B2539E2}" type="slidenum">
              <a:rPr lang="en-US" smtClean="0"/>
              <a:pPr/>
              <a:t>‹#›</a:t>
            </a:fld>
            <a:endParaRPr lang="en-US"/>
          </a:p>
        </p:txBody>
      </p:sp>
    </p:spTree>
    <p:extLst>
      <p:ext uri="{BB962C8B-B14F-4D97-AF65-F5344CB8AC3E}">
        <p14:creationId xmlns:p14="http://schemas.microsoft.com/office/powerpoint/2010/main" val="1193082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320040"/>
            <a:ext cx="11094415" cy="777240"/>
          </a:xfrm>
          <a:prstGeom prst="rect">
            <a:avLst/>
          </a:prstGeom>
        </p:spPr>
        <p:txBody>
          <a:bodyPr vert="horz" lIns="91440" tIns="45720" rIns="91440" bIns="45720" rtlCol="0" anchor="b">
            <a:noAutofit/>
          </a:bodyPr>
          <a:lstStyle/>
          <a:p>
            <a:r>
              <a:rPr lang="en-US"/>
              <a:t>Click to edit Master title style</a:t>
            </a:r>
          </a:p>
        </p:txBody>
      </p:sp>
      <p:sp>
        <p:nvSpPr>
          <p:cNvPr id="3" name="Text Placeholder 2"/>
          <p:cNvSpPr>
            <a:spLocks noGrp="1"/>
          </p:cNvSpPr>
          <p:nvPr>
            <p:ph type="body" idx="1"/>
          </p:nvPr>
        </p:nvSpPr>
        <p:spPr>
          <a:xfrm>
            <a:off x="548640" y="1325880"/>
            <a:ext cx="11094415" cy="48463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48640" y="6355080"/>
            <a:ext cx="1828800" cy="274320"/>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2743200" y="6355080"/>
            <a:ext cx="5486400" cy="27432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698480" y="6355080"/>
            <a:ext cx="914400" cy="274320"/>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201" name="Logo Fraunhofer FIT"/>
          <p:cNvPicPr>
            <a:picLocks noChangeAspect="1"/>
          </p:cNvPicPr>
          <p:nvPr userDrawn="1"/>
        </p:nvPicPr>
        <p:blipFill>
          <a:blip r:embed="rId14"/>
          <a:stretch>
            <a:fillRect/>
          </a:stretch>
        </p:blipFill>
        <p:spPr>
          <a:xfrm>
            <a:off x="9554154" y="6382512"/>
            <a:ext cx="1000170" cy="274320"/>
          </a:xfrm>
          <a:prstGeom prst="rect">
            <a:avLst/>
          </a:prstGeom>
        </p:spPr>
      </p:pic>
      <p:pic>
        <p:nvPicPr>
          <p:cNvPr id="202" name="Logo RWTH"/>
          <p:cNvPicPr>
            <a:picLocks noChangeAspect="1"/>
          </p:cNvPicPr>
          <p:nvPr userDrawn="1"/>
        </p:nvPicPr>
        <p:blipFill>
          <a:blip r:embed="rId15"/>
          <a:stretch>
            <a:fillRect/>
          </a:stretch>
        </p:blipFill>
        <p:spPr>
          <a:xfrm>
            <a:off x="10755492" y="6400800"/>
            <a:ext cx="887562" cy="246888"/>
          </a:xfrm>
          <a:prstGeom prst="rect">
            <a:avLst/>
          </a:prstGeom>
        </p:spPr>
      </p:pic>
      <p:sp>
        <p:nvSpPr>
          <p:cNvPr id="203" name="Footer text"/>
          <p:cNvSpPr txBox="1"/>
          <p:nvPr userDrawn="1"/>
        </p:nvSpPr>
        <p:spPr>
          <a:xfrm>
            <a:off x="548640" y="6382512"/>
            <a:ext cx="7772400" cy="274320"/>
          </a:xfrm>
          <a:prstGeom prst="rect">
            <a:avLst/>
          </a:prstGeom>
          <a:noFill/>
        </p:spPr>
        <p:txBody>
          <a:bodyPr wrap="square" lIns="0" tIns="0" rIns="0" bIns="0" anchor="ctr"/>
          <a:lstStyle/>
          <a:p>
            <a:fld id="{7A1E4C2B-3D5F-4B8E-9C1A-2F6D8E0B5A11}" type="slidenum">
              <a:rPr lang="en-US" sz="1000" b="1">
                <a:solidFill>
                  <a:srgbClr val="0B4F6C"/>
                </a:solidFill>
              </a:rPr>
              <a:t>‹#›</a:t>
            </a:fld>
            <a:r>
              <a:rPr lang="en-US" sz="1000">
                <a:solidFill>
                  <a:srgbClr val="5F6B76"/>
                </a:solidFill>
              </a:rPr>
              <a:t>     D. M. Mustafa et al.   |   What Does ODRL Mean?   |   FOIS 2026, Vitória</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457200" rtl="0" eaLnBrk="1" latinLnBrk="0" hangingPunct="1">
        <a:lnSpc>
          <a:spcPct val="90000"/>
        </a:lnSpc>
        <a:spcBef>
          <a:spcPct val="0"/>
        </a:spcBef>
        <a:buNone/>
        <a:defRPr sz="2800" b="1" kern="1200">
          <a:solidFill>
            <a:srgbClr val="000000"/>
          </a:solidFill>
          <a:latin typeface="+mj-lt"/>
          <a:ea typeface="+mj-ea"/>
          <a:cs typeface="+mj-cs"/>
        </a:defRPr>
      </a:lvl1pPr>
    </p:titleStyle>
    <p:bodyStyle>
      <a:lvl1pPr marL="285750" indent="-285750" algn="l" defTabSz="457200" rtl="0" eaLnBrk="1" latinLnBrk="0" hangingPunct="1">
        <a:lnSpc>
          <a:spcPct val="100000"/>
        </a:lnSpc>
        <a:spcBef>
          <a:spcPts val="1000"/>
        </a:spcBef>
        <a:buClr>
          <a:srgbClr val="0B4F6C"/>
        </a:buClr>
        <a:buFont typeface="Arial"/>
        <a:buChar char="•"/>
        <a:defRPr sz="2000" kern="1200">
          <a:solidFill>
            <a:srgbClr val="000000"/>
          </a:solidFill>
          <a:latin typeface="+mn-lt"/>
          <a:ea typeface="+mn-ea"/>
          <a:cs typeface="+mn-cs"/>
        </a:defRPr>
      </a:lvl1pPr>
      <a:lvl2pPr marL="628650" indent="-285750" algn="l" defTabSz="457200" rtl="0" eaLnBrk="1" latinLnBrk="0" hangingPunct="1">
        <a:lnSpc>
          <a:spcPct val="100000"/>
        </a:lnSpc>
        <a:spcBef>
          <a:spcPts val="400"/>
        </a:spcBef>
        <a:buClr>
          <a:srgbClr val="5F6B76"/>
        </a:buClr>
        <a:buFont typeface="Arial"/>
        <a:buChar char="•"/>
        <a:defRPr sz="1800" kern="1200">
          <a:solidFill>
            <a:srgbClr val="000000"/>
          </a:solidFill>
          <a:latin typeface="+mn-lt"/>
          <a:ea typeface="+mn-ea"/>
          <a:cs typeface="+mn-cs"/>
        </a:defRPr>
      </a:lvl2pPr>
      <a:lvl3pPr marL="914400" indent="-228600" algn="l" defTabSz="457200" rtl="0" eaLnBrk="1" latinLnBrk="0" hangingPunct="1">
        <a:lnSpc>
          <a:spcPct val="100000"/>
        </a:lnSpc>
        <a:spcBef>
          <a:spcPts val="300"/>
        </a:spcBef>
        <a:buClr>
          <a:srgbClr val="5F6B76"/>
        </a:buClr>
        <a:buFont typeface="Arial"/>
        <a:buChar char="•"/>
        <a:defRPr sz="1600" kern="1200">
          <a:solidFill>
            <a:srgbClr val="000000"/>
          </a:solidFill>
          <a:latin typeface="+mn-lt"/>
          <a:ea typeface="+mn-ea"/>
          <a:cs typeface="+mn-cs"/>
        </a:defRPr>
      </a:lvl3pPr>
      <a:lvl4pPr marL="1200150" indent="-228600" algn="l" defTabSz="457200" rtl="0" eaLnBrk="1" latinLnBrk="0" hangingPunct="1">
        <a:lnSpc>
          <a:spcPct val="100000"/>
        </a:lnSpc>
        <a:spcBef>
          <a:spcPts val="300"/>
        </a:spcBef>
        <a:buClr>
          <a:srgbClr val="5F6B76"/>
        </a:buClr>
        <a:buFont typeface="Arial"/>
        <a:buChar char="•"/>
        <a:defRPr sz="1400" kern="1200">
          <a:solidFill>
            <a:srgbClr val="000000"/>
          </a:solidFill>
          <a:latin typeface="+mn-lt"/>
          <a:ea typeface="+mn-ea"/>
          <a:cs typeface="+mn-cs"/>
        </a:defRPr>
      </a:lvl4pPr>
      <a:lvl5pPr marL="1485900" indent="-228600" algn="l" defTabSz="457200" rtl="0" eaLnBrk="1" latinLnBrk="0" hangingPunct="1">
        <a:lnSpc>
          <a:spcPct val="100000"/>
        </a:lnSpc>
        <a:spcBef>
          <a:spcPts val="300"/>
        </a:spcBef>
        <a:buClr>
          <a:srgbClr val="5F6B76"/>
        </a:buClr>
        <a:buFont typeface="Arial"/>
        <a:buChar char="•"/>
        <a:defRPr sz="1400" kern="1200">
          <a:solidFill>
            <a:srgbClr val="000000"/>
          </a:solidFill>
          <a:latin typeface="+mn-lt"/>
          <a:ea typeface="+mn-ea"/>
          <a:cs typeface="+mn-cs"/>
        </a:defRPr>
      </a:lvl5pPr>
      <a:lvl6pPr marL="1771650" indent="-228600" algn="l" defTabSz="457200" rtl="0" eaLnBrk="1" latinLnBrk="0" hangingPunct="1">
        <a:lnSpc>
          <a:spcPct val="100000"/>
        </a:lnSpc>
        <a:spcBef>
          <a:spcPts val="300"/>
        </a:spcBef>
        <a:buClr>
          <a:srgbClr val="5F6B76"/>
        </a:buClr>
        <a:buFont typeface="Arial"/>
        <a:buChar char="•"/>
        <a:defRPr sz="1400" kern="1200">
          <a:solidFill>
            <a:srgbClr val="000000"/>
          </a:solidFill>
          <a:latin typeface="+mn-lt"/>
          <a:ea typeface="+mn-ea"/>
          <a:cs typeface="+mn-cs"/>
        </a:defRPr>
      </a:lvl6pPr>
      <a:lvl7pPr marL="2057400" indent="-228600" algn="l" defTabSz="457200" rtl="0" eaLnBrk="1" latinLnBrk="0" hangingPunct="1">
        <a:lnSpc>
          <a:spcPct val="100000"/>
        </a:lnSpc>
        <a:spcBef>
          <a:spcPts val="300"/>
        </a:spcBef>
        <a:buClr>
          <a:srgbClr val="5F6B76"/>
        </a:buClr>
        <a:buFont typeface="Arial"/>
        <a:buChar char="•"/>
        <a:defRPr sz="1400" kern="1200">
          <a:solidFill>
            <a:srgbClr val="000000"/>
          </a:solidFill>
          <a:latin typeface="+mn-lt"/>
          <a:ea typeface="+mn-ea"/>
          <a:cs typeface="+mn-cs"/>
        </a:defRPr>
      </a:lvl7pPr>
      <a:lvl8pPr marL="2343150" indent="-228600" algn="l" defTabSz="457200" rtl="0" eaLnBrk="1" latinLnBrk="0" hangingPunct="1">
        <a:lnSpc>
          <a:spcPct val="100000"/>
        </a:lnSpc>
        <a:spcBef>
          <a:spcPts val="300"/>
        </a:spcBef>
        <a:buClr>
          <a:srgbClr val="5F6B76"/>
        </a:buClr>
        <a:buFont typeface="Arial"/>
        <a:buChar char="•"/>
        <a:defRPr sz="1400" kern="1200">
          <a:solidFill>
            <a:srgbClr val="000000"/>
          </a:solidFill>
          <a:latin typeface="+mn-lt"/>
          <a:ea typeface="+mn-ea"/>
          <a:cs typeface="+mn-cs"/>
        </a:defRPr>
      </a:lvl8pPr>
      <a:lvl9pPr marL="2628900" indent="-228600" algn="l" defTabSz="457200" rtl="0" eaLnBrk="1" latinLnBrk="0" hangingPunct="1">
        <a:lnSpc>
          <a:spcPct val="100000"/>
        </a:lnSpc>
        <a:spcBef>
          <a:spcPts val="300"/>
        </a:spcBef>
        <a:buClr>
          <a:srgbClr val="5F6B76"/>
        </a:buClr>
        <a:buFont typeface="Arial"/>
        <a:buChar char="•"/>
        <a:defRPr sz="1400" kern="1200">
          <a:solidFill>
            <a:srgbClr val="000000"/>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5.sv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79" y="411480"/>
            <a:ext cx="4160520" cy="1005840"/>
          </a:xfrm>
          <a:prstGeom prst="rect">
            <a:avLst/>
          </a:prstGeom>
          <a:solidFill>
            <a:srgbClr val="FFFFFF"/>
          </a:solidFill>
          <a:ln>
            <a:noFill/>
          </a:ln>
        </p:spPr>
        <p:txBody>
          <a:bodyPr rtlCol="0" anchor="ctr"/>
          <a:lstStyle/>
          <a:p>
            <a:pPr algn="ctr"/>
            <a:endParaRPr/>
          </a:p>
        </p:txBody>
      </p:sp>
      <p:pic>
        <p:nvPicPr>
          <p:cNvPr id="3" name="Picture 2" descr="fit_compact.png"/>
          <p:cNvPicPr>
            <a:picLocks noChangeAspect="1"/>
          </p:cNvPicPr>
          <p:nvPr/>
        </p:nvPicPr>
        <p:blipFill>
          <a:blip r:embed="rId3"/>
          <a:stretch>
            <a:fillRect/>
          </a:stretch>
        </p:blipFill>
        <p:spPr>
          <a:xfrm>
            <a:off x="7653527" y="630936"/>
            <a:ext cx="2067019" cy="566928"/>
          </a:xfrm>
          <a:prstGeom prst="rect">
            <a:avLst/>
          </a:prstGeom>
        </p:spPr>
      </p:pic>
      <p:cxnSp>
        <p:nvCxnSpPr>
          <p:cNvPr id="4" name="Connector 3"/>
          <p:cNvCxnSpPr/>
          <p:nvPr/>
        </p:nvCxnSpPr>
        <p:spPr>
          <a:xfrm>
            <a:off x="9857232" y="603504"/>
            <a:ext cx="0" cy="621792"/>
          </a:xfrm>
          <a:prstGeom prst="line">
            <a:avLst/>
          </a:prstGeom>
          <a:ln w="12700">
            <a:solidFill>
              <a:srgbClr val="C8CED4"/>
            </a:solidFill>
          </a:ln>
        </p:spPr>
      </p:cxnSp>
      <p:pic>
        <p:nvPicPr>
          <p:cNvPr id="5" name="Picture 4" descr="rwth_clean.png"/>
          <p:cNvPicPr>
            <a:picLocks noChangeAspect="1"/>
          </p:cNvPicPr>
          <p:nvPr/>
        </p:nvPicPr>
        <p:blipFill>
          <a:blip r:embed="rId4"/>
          <a:stretch>
            <a:fillRect/>
          </a:stretch>
        </p:blipFill>
        <p:spPr>
          <a:xfrm>
            <a:off x="9994392" y="694944"/>
            <a:ext cx="1577888" cy="438912"/>
          </a:xfrm>
          <a:prstGeom prst="rect">
            <a:avLst/>
          </a:prstGeom>
        </p:spPr>
      </p:pic>
      <p:sp>
        <p:nvSpPr>
          <p:cNvPr id="6" name="TextBox 5"/>
          <p:cNvSpPr txBox="1"/>
          <p:nvPr/>
        </p:nvSpPr>
        <p:spPr>
          <a:xfrm>
            <a:off x="548640" y="2011680"/>
            <a:ext cx="11091672" cy="731520"/>
          </a:xfrm>
          <a:prstGeom prst="rect">
            <a:avLst/>
          </a:prstGeom>
          <a:noFill/>
        </p:spPr>
        <p:txBody>
          <a:bodyPr wrap="square" lIns="0" tIns="0" rIns="0" bIns="0" anchor="ctr">
            <a:noAutofit/>
          </a:bodyPr>
          <a:lstStyle/>
          <a:p>
            <a:pPr marL="0" indent="0" algn="ctr">
              <a:buNone/>
            </a:pPr>
            <a:r>
              <a:rPr sz="4000" b="1" dirty="0">
                <a:latin typeface="+mj-lt"/>
              </a:rPr>
              <a:t>What Does ODRL Mean?</a:t>
            </a:r>
          </a:p>
        </p:txBody>
      </p:sp>
      <p:sp>
        <p:nvSpPr>
          <p:cNvPr id="7" name="TextBox 6"/>
          <p:cNvSpPr txBox="1"/>
          <p:nvPr/>
        </p:nvSpPr>
        <p:spPr>
          <a:xfrm>
            <a:off x="548640" y="2788920"/>
            <a:ext cx="11091672" cy="822960"/>
          </a:xfrm>
          <a:prstGeom prst="rect">
            <a:avLst/>
          </a:prstGeom>
          <a:noFill/>
        </p:spPr>
        <p:txBody>
          <a:bodyPr wrap="square" lIns="0" tIns="0" rIns="0" bIns="0" anchor="t">
            <a:noAutofit/>
          </a:bodyPr>
          <a:lstStyle/>
          <a:p>
            <a:pPr marL="0" indent="0" algn="ctr">
              <a:buNone/>
            </a:pPr>
            <a:r>
              <a:rPr sz="2200" dirty="0">
                <a:latin typeface="+mj-lt"/>
              </a:rPr>
              <a:t>A Cross-Level Ontological Grounding of Permissions,</a:t>
            </a:r>
          </a:p>
          <a:p>
            <a:pPr marL="0" indent="0" algn="ctr">
              <a:buNone/>
            </a:pPr>
            <a:r>
              <a:rPr sz="2200" dirty="0">
                <a:latin typeface="+mj-lt"/>
              </a:rPr>
              <a:t>Prohibitions, and Duties in UFO-L</a:t>
            </a:r>
          </a:p>
        </p:txBody>
      </p:sp>
      <p:sp>
        <p:nvSpPr>
          <p:cNvPr id="8" name="TextBox 7"/>
          <p:cNvSpPr txBox="1"/>
          <p:nvPr/>
        </p:nvSpPr>
        <p:spPr>
          <a:xfrm>
            <a:off x="548640" y="3749040"/>
            <a:ext cx="11091672" cy="365760"/>
          </a:xfrm>
          <a:prstGeom prst="rect">
            <a:avLst/>
          </a:prstGeom>
          <a:noFill/>
        </p:spPr>
        <p:txBody>
          <a:bodyPr wrap="square" lIns="0" tIns="0" rIns="0" bIns="0" anchor="t">
            <a:noAutofit/>
          </a:bodyPr>
          <a:lstStyle/>
          <a:p>
            <a:pPr marL="0" indent="0" algn="ctr">
              <a:buNone/>
            </a:pPr>
            <a:r>
              <a:rPr b="1" dirty="0">
                <a:solidFill>
                  <a:schemeClr val="bg2"/>
                </a:solidFill>
                <a:latin typeface="+mj-lt"/>
              </a:rPr>
              <a:t>Daham M. Mustafa, Christoph Lange, Giancarlo Guizzardi, Diego Collarana, Christoph Quix, Stefan Decker</a:t>
            </a:r>
          </a:p>
        </p:txBody>
      </p:sp>
      <p:sp>
        <p:nvSpPr>
          <p:cNvPr id="9" name="TextBox 8"/>
          <p:cNvSpPr txBox="1"/>
          <p:nvPr/>
        </p:nvSpPr>
        <p:spPr>
          <a:xfrm>
            <a:off x="548640" y="4343400"/>
            <a:ext cx="11091672" cy="320040"/>
          </a:xfrm>
          <a:prstGeom prst="rect">
            <a:avLst/>
          </a:prstGeom>
          <a:noFill/>
        </p:spPr>
        <p:txBody>
          <a:bodyPr wrap="square" lIns="0" tIns="0" rIns="0" bIns="0" anchor="t">
            <a:noAutofit/>
          </a:bodyPr>
          <a:lstStyle/>
          <a:p>
            <a:pPr marL="0" indent="0" algn="ctr">
              <a:buNone/>
            </a:pPr>
            <a:r>
              <a:rPr sz="1900" dirty="0">
                <a:solidFill>
                  <a:schemeClr val="bg2"/>
                </a:solidFill>
                <a:latin typeface="+mj-lt"/>
              </a:rPr>
              <a:t>Fraunhofer FIT   |   RWTH Aachen University   |   University of Twente   |   Universidad Privada </a:t>
            </a:r>
            <a:r>
              <a:rPr sz="1900" dirty="0" err="1">
                <a:solidFill>
                  <a:schemeClr val="bg2"/>
                </a:solidFill>
                <a:latin typeface="+mj-lt"/>
              </a:rPr>
              <a:t>Boliviana</a:t>
            </a:r>
            <a:endParaRPr sz="1900" dirty="0">
              <a:solidFill>
                <a:schemeClr val="bg2"/>
              </a:solidFill>
              <a:latin typeface="+mj-lt"/>
            </a:endParaRPr>
          </a:p>
        </p:txBody>
      </p:sp>
      <p:sp>
        <p:nvSpPr>
          <p:cNvPr id="10" name="TextBox 9"/>
          <p:cNvSpPr txBox="1"/>
          <p:nvPr/>
        </p:nvSpPr>
        <p:spPr>
          <a:xfrm>
            <a:off x="548640" y="5074920"/>
            <a:ext cx="11091672" cy="365760"/>
          </a:xfrm>
          <a:prstGeom prst="rect">
            <a:avLst/>
          </a:prstGeom>
          <a:noFill/>
        </p:spPr>
        <p:txBody>
          <a:bodyPr wrap="square" lIns="0" tIns="0" rIns="0" bIns="0" anchor="t">
            <a:noAutofit/>
          </a:bodyPr>
          <a:lstStyle/>
          <a:p>
            <a:pPr marL="0" indent="0" algn="ctr">
              <a:buNone/>
            </a:pPr>
            <a:r>
              <a:rPr sz="1600" b="1">
                <a:solidFill>
                  <a:srgbClr val="FFFFFF"/>
                </a:solidFill>
              </a:rPr>
              <a:t>FOIS 2026   |   Vitória, Brazil</a:t>
            </a:r>
          </a:p>
        </p:txBody>
      </p:sp>
    </p:spTree>
    <p:extLst>
      <p:ext uri="{BB962C8B-B14F-4D97-AF65-F5344CB8AC3E}">
        <p14:creationId xmlns:p14="http://schemas.microsoft.com/office/powerpoint/2010/main" val="2388169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ODRL and its information model</a:t>
            </a:r>
          </a:p>
        </p:txBody>
      </p:sp>
      <p:sp>
        <p:nvSpPr>
          <p:cNvPr id="3" name="Content Placeholder 2"/>
          <p:cNvSpPr>
            <a:spLocks noGrp="1"/>
          </p:cNvSpPr>
          <p:nvPr>
            <p:ph sz="half" idx="1"/>
          </p:nvPr>
        </p:nvSpPr>
        <p:spPr/>
        <p:txBody>
          <a:bodyPr>
            <a:noAutofit/>
          </a:bodyPr>
          <a:lstStyle/>
          <a:p>
            <a:r>
              <a:rPr lang="en-US" sz="1800" b="1" noProof="0" dirty="0">
                <a:latin typeface="+mj-lt"/>
              </a:rPr>
              <a:t>ODRL</a:t>
            </a:r>
            <a:r>
              <a:rPr lang="en-US" sz="1800" noProof="0" dirty="0">
                <a:latin typeface="+mj-lt"/>
              </a:rPr>
              <a:t>, the Open Digital Rights Language: a W3C Recommendation (version 2.2, 2018)</a:t>
            </a:r>
          </a:p>
          <a:p>
            <a:r>
              <a:rPr lang="en-US" sz="1800" noProof="0" dirty="0">
                <a:latin typeface="+mj-lt"/>
              </a:rPr>
              <a:t>Machine-readable policies: what may, must, or must not be done with an asset</a:t>
            </a:r>
          </a:p>
          <a:p>
            <a:r>
              <a:rPr lang="en-US" sz="1800" noProof="0" dirty="0">
                <a:latin typeface="+mj-lt"/>
              </a:rPr>
              <a:t>Two parts: an </a:t>
            </a:r>
            <a:r>
              <a:rPr lang="en-US" sz="1800" b="1" noProof="0" dirty="0">
                <a:latin typeface="+mj-lt"/>
              </a:rPr>
              <a:t>Information Model</a:t>
            </a:r>
            <a:r>
              <a:rPr lang="en-US" sz="1800" noProof="0" dirty="0">
                <a:latin typeface="+mj-lt"/>
              </a:rPr>
              <a:t> and a </a:t>
            </a:r>
            <a:r>
              <a:rPr lang="en-US" sz="1800" b="1" noProof="0" dirty="0">
                <a:latin typeface="+mj-lt"/>
              </a:rPr>
              <a:t>Vocabulary</a:t>
            </a:r>
            <a:r>
              <a:rPr lang="en-US" sz="1800" noProof="0" dirty="0">
                <a:latin typeface="+mj-lt"/>
              </a:rPr>
              <a:t>, published as an RDF/OWL ontology</a:t>
            </a:r>
          </a:p>
          <a:p>
            <a:r>
              <a:rPr lang="en-US" sz="1800" noProof="0" dirty="0">
                <a:latin typeface="+mj-lt"/>
              </a:rPr>
              <a:t>ODRL has one </a:t>
            </a:r>
            <a:r>
              <a:rPr lang="en-US" sz="1800" b="1" noProof="0" dirty="0">
                <a:latin typeface="+mj-lt"/>
              </a:rPr>
              <a:t>Duty</a:t>
            </a:r>
            <a:r>
              <a:rPr lang="en-US" sz="1800" noProof="0" dirty="0">
                <a:latin typeface="+mj-lt"/>
              </a:rPr>
              <a:t> construct, but its role depends on where it is attached: it can be a policy obligation, a permission condition, a prohibition remedy, or a consequence of another duty</a:t>
            </a:r>
          </a:p>
          <a:p>
            <a:r>
              <a:rPr lang="en-US" sz="1800" noProof="0" dirty="0">
                <a:latin typeface="+mj-lt"/>
              </a:rPr>
              <a:t>ODRL can be extended by </a:t>
            </a:r>
            <a:r>
              <a:rPr lang="en-US" sz="1800" b="1" noProof="0" dirty="0">
                <a:latin typeface="+mj-lt"/>
              </a:rPr>
              <a:t>Profiles</a:t>
            </a:r>
          </a:p>
        </p:txBody>
      </p:sp>
      <p:sp>
        <p:nvSpPr>
          <p:cNvPr id="4" name="Rectangle 3"/>
          <p:cNvSpPr/>
          <p:nvPr/>
        </p:nvSpPr>
        <p:spPr>
          <a:xfrm>
            <a:off x="6400800" y="1463040"/>
            <a:ext cx="2377440" cy="960120"/>
          </a:xfrm>
          <a:prstGeom prst="rect">
            <a:avLst/>
          </a:prstGeom>
          <a:noFill/>
          <a:ln w="12700">
            <a:solidFill>
              <a:srgbClr val="5F6B76"/>
            </a:solidFill>
          </a:ln>
        </p:spPr>
        <p:txBody>
          <a:bodyPr wrap="square" tIns="36576" bIns="36576" rtlCol="0" anchor="ctr">
            <a:noAutofit/>
          </a:bodyPr>
          <a:lstStyle/>
          <a:p>
            <a:pPr marL="0" indent="0" algn="ctr">
              <a:buNone/>
            </a:pPr>
            <a:r>
              <a:rPr lang="en-US" sz="1600" b="1" noProof="0" dirty="0" err="1">
                <a:solidFill>
                  <a:srgbClr val="000000"/>
                </a:solidFill>
              </a:rPr>
              <a:t>odrl:Policy</a:t>
            </a:r>
            <a:endParaRPr lang="en-US" sz="1600" b="1" noProof="0" dirty="0">
              <a:solidFill>
                <a:srgbClr val="000000"/>
              </a:solidFill>
            </a:endParaRPr>
          </a:p>
          <a:p>
            <a:pPr marL="0" indent="0" algn="ctr">
              <a:buNone/>
            </a:pPr>
            <a:r>
              <a:rPr lang="en-US" sz="1300" noProof="0" dirty="0">
                <a:solidFill>
                  <a:srgbClr val="5F6B76"/>
                </a:solidFill>
              </a:rPr>
              <a:t>Offer, Agreement, Set</a:t>
            </a:r>
          </a:p>
        </p:txBody>
      </p:sp>
      <p:cxnSp>
        <p:nvCxnSpPr>
          <p:cNvPr id="5" name="Connector 4"/>
          <p:cNvCxnSpPr/>
          <p:nvPr/>
        </p:nvCxnSpPr>
        <p:spPr>
          <a:xfrm>
            <a:off x="7589520" y="2423160"/>
            <a:ext cx="0" cy="640080"/>
          </a:xfrm>
          <a:prstGeom prst="line">
            <a:avLst/>
          </a:prstGeom>
          <a:ln w="15875">
            <a:solidFill>
              <a:srgbClr val="5F6B76"/>
            </a:solidFill>
            <a:tailEnd type="triangle" w="med" len="med"/>
          </a:ln>
        </p:spPr>
      </p:cxnSp>
      <p:sp>
        <p:nvSpPr>
          <p:cNvPr id="6" name="TextBox 5"/>
          <p:cNvSpPr txBox="1"/>
          <p:nvPr/>
        </p:nvSpPr>
        <p:spPr>
          <a:xfrm>
            <a:off x="7699248" y="2587752"/>
            <a:ext cx="1463040" cy="274320"/>
          </a:xfrm>
          <a:prstGeom prst="rect">
            <a:avLst/>
          </a:prstGeom>
          <a:noFill/>
        </p:spPr>
        <p:txBody>
          <a:bodyPr wrap="square" lIns="0" tIns="0" rIns="0" bIns="0" anchor="t">
            <a:noAutofit/>
          </a:bodyPr>
          <a:lstStyle/>
          <a:p>
            <a:pPr marL="0" indent="0">
              <a:buNone/>
            </a:pPr>
            <a:r>
              <a:rPr lang="en-US" sz="1200" i="1" noProof="0" dirty="0">
                <a:solidFill>
                  <a:srgbClr val="5F6B76"/>
                </a:solidFill>
              </a:rPr>
              <a:t>has rules</a:t>
            </a:r>
          </a:p>
        </p:txBody>
      </p:sp>
      <p:sp>
        <p:nvSpPr>
          <p:cNvPr id="7" name="Rectangle 6"/>
          <p:cNvSpPr/>
          <p:nvPr/>
        </p:nvSpPr>
        <p:spPr>
          <a:xfrm>
            <a:off x="6400800" y="3063240"/>
            <a:ext cx="2377440" cy="1188720"/>
          </a:xfrm>
          <a:prstGeom prst="rect">
            <a:avLst/>
          </a:prstGeom>
          <a:noFill/>
          <a:ln w="12700">
            <a:solidFill>
              <a:srgbClr val="5F6B76"/>
            </a:solidFill>
          </a:ln>
        </p:spPr>
        <p:txBody>
          <a:bodyPr wrap="square" tIns="36576" bIns="36576" rtlCol="0" anchor="ctr">
            <a:noAutofit/>
          </a:bodyPr>
          <a:lstStyle/>
          <a:p>
            <a:pPr marL="0" indent="0" algn="ctr">
              <a:buNone/>
            </a:pPr>
            <a:r>
              <a:rPr lang="en-US" sz="1600" b="1" noProof="0" dirty="0" err="1">
                <a:solidFill>
                  <a:srgbClr val="000000"/>
                </a:solidFill>
              </a:rPr>
              <a:t>odrl:Rule</a:t>
            </a:r>
            <a:endParaRPr lang="en-US" sz="1600" b="1" noProof="0" dirty="0">
              <a:solidFill>
                <a:srgbClr val="000000"/>
              </a:solidFill>
            </a:endParaRPr>
          </a:p>
          <a:p>
            <a:pPr marL="0" indent="0" algn="ctr">
              <a:buNone/>
            </a:pPr>
            <a:r>
              <a:rPr lang="en-US" sz="1300" noProof="0" dirty="0">
                <a:solidFill>
                  <a:srgbClr val="5F6B76"/>
                </a:solidFill>
              </a:rPr>
              <a:t>Permission,</a:t>
            </a:r>
          </a:p>
          <a:p>
            <a:pPr marL="0" indent="0" algn="ctr">
              <a:buNone/>
            </a:pPr>
            <a:r>
              <a:rPr lang="en-US" sz="1300" noProof="0" dirty="0">
                <a:solidFill>
                  <a:srgbClr val="5F6B76"/>
                </a:solidFill>
              </a:rPr>
              <a:t>Prohibition, Duty</a:t>
            </a:r>
          </a:p>
        </p:txBody>
      </p:sp>
      <p:sp>
        <p:nvSpPr>
          <p:cNvPr id="8" name="Rectangle 7"/>
          <p:cNvSpPr/>
          <p:nvPr/>
        </p:nvSpPr>
        <p:spPr>
          <a:xfrm>
            <a:off x="9418320" y="2148840"/>
            <a:ext cx="2221992" cy="585216"/>
          </a:xfrm>
          <a:prstGeom prst="rect">
            <a:avLst/>
          </a:prstGeom>
          <a:noFill/>
          <a:ln w="12700">
            <a:solidFill>
              <a:srgbClr val="5F6B76"/>
            </a:solidFill>
          </a:ln>
        </p:spPr>
        <p:txBody>
          <a:bodyPr wrap="square" tIns="36576" bIns="36576" rtlCol="0" anchor="ctr">
            <a:noAutofit/>
          </a:bodyPr>
          <a:lstStyle/>
          <a:p>
            <a:pPr marL="0" indent="0" algn="ctr">
              <a:buNone/>
            </a:pPr>
            <a:r>
              <a:rPr lang="en-US" sz="1400" b="1" noProof="0" dirty="0" err="1">
                <a:solidFill>
                  <a:srgbClr val="000000"/>
                </a:solidFill>
              </a:rPr>
              <a:t>odrl:Party</a:t>
            </a:r>
            <a:endParaRPr lang="en-US" sz="1400" b="1" noProof="0" dirty="0">
              <a:solidFill>
                <a:srgbClr val="000000"/>
              </a:solidFill>
            </a:endParaRPr>
          </a:p>
          <a:p>
            <a:pPr marL="0" indent="0" algn="ctr">
              <a:buNone/>
            </a:pPr>
            <a:r>
              <a:rPr lang="en-US" sz="1200" noProof="0" dirty="0">
                <a:solidFill>
                  <a:srgbClr val="5F6B76"/>
                </a:solidFill>
              </a:rPr>
              <a:t>assigner, assignee</a:t>
            </a:r>
          </a:p>
        </p:txBody>
      </p:sp>
      <p:cxnSp>
        <p:nvCxnSpPr>
          <p:cNvPr id="9" name="Connector 8"/>
          <p:cNvCxnSpPr/>
          <p:nvPr/>
        </p:nvCxnSpPr>
        <p:spPr>
          <a:xfrm flipV="1">
            <a:off x="8778240" y="2441448"/>
            <a:ext cx="640080" cy="1216152"/>
          </a:xfrm>
          <a:prstGeom prst="line">
            <a:avLst/>
          </a:prstGeom>
          <a:ln w="12700">
            <a:solidFill>
              <a:srgbClr val="5F6B76"/>
            </a:solidFill>
            <a:tailEnd type="triangle" w="med" len="med"/>
          </a:ln>
        </p:spPr>
      </p:cxnSp>
      <p:sp>
        <p:nvSpPr>
          <p:cNvPr id="10" name="Rectangle 9"/>
          <p:cNvSpPr/>
          <p:nvPr/>
        </p:nvSpPr>
        <p:spPr>
          <a:xfrm>
            <a:off x="9418320" y="2880360"/>
            <a:ext cx="2221992" cy="585216"/>
          </a:xfrm>
          <a:prstGeom prst="rect">
            <a:avLst/>
          </a:prstGeom>
          <a:noFill/>
          <a:ln w="12700">
            <a:solidFill>
              <a:srgbClr val="5F6B76"/>
            </a:solidFill>
          </a:ln>
        </p:spPr>
        <p:txBody>
          <a:bodyPr wrap="square" tIns="36576" bIns="36576" rtlCol="0" anchor="ctr">
            <a:noAutofit/>
          </a:bodyPr>
          <a:lstStyle/>
          <a:p>
            <a:pPr marL="0" indent="0" algn="ctr">
              <a:buNone/>
            </a:pPr>
            <a:r>
              <a:rPr lang="en-US" sz="1400" b="1" noProof="0" dirty="0" err="1">
                <a:solidFill>
                  <a:srgbClr val="000000"/>
                </a:solidFill>
              </a:rPr>
              <a:t>odrl:Action</a:t>
            </a:r>
            <a:endParaRPr lang="en-US" sz="1400" b="1" noProof="0" dirty="0">
              <a:solidFill>
                <a:srgbClr val="000000"/>
              </a:solidFill>
            </a:endParaRPr>
          </a:p>
          <a:p>
            <a:pPr marL="0" indent="0" algn="ctr">
              <a:buNone/>
            </a:pPr>
            <a:r>
              <a:rPr lang="en-US" sz="1200" noProof="0" dirty="0">
                <a:solidFill>
                  <a:srgbClr val="5F6B76"/>
                </a:solidFill>
              </a:rPr>
              <a:t>an act type</a:t>
            </a:r>
          </a:p>
        </p:txBody>
      </p:sp>
      <p:cxnSp>
        <p:nvCxnSpPr>
          <p:cNvPr id="11" name="Connector 10"/>
          <p:cNvCxnSpPr/>
          <p:nvPr/>
        </p:nvCxnSpPr>
        <p:spPr>
          <a:xfrm flipV="1">
            <a:off x="8778240" y="3172968"/>
            <a:ext cx="640080" cy="484632"/>
          </a:xfrm>
          <a:prstGeom prst="line">
            <a:avLst/>
          </a:prstGeom>
          <a:ln w="12700">
            <a:solidFill>
              <a:srgbClr val="5F6B76"/>
            </a:solidFill>
            <a:tailEnd type="triangle" w="med" len="med"/>
          </a:ln>
        </p:spPr>
      </p:cxnSp>
      <p:sp>
        <p:nvSpPr>
          <p:cNvPr id="12" name="Rectangle 11"/>
          <p:cNvSpPr/>
          <p:nvPr/>
        </p:nvSpPr>
        <p:spPr>
          <a:xfrm>
            <a:off x="9418320" y="3611880"/>
            <a:ext cx="2221992" cy="585216"/>
          </a:xfrm>
          <a:prstGeom prst="rect">
            <a:avLst/>
          </a:prstGeom>
          <a:noFill/>
          <a:ln w="12700">
            <a:solidFill>
              <a:srgbClr val="5F6B76"/>
            </a:solidFill>
          </a:ln>
        </p:spPr>
        <p:txBody>
          <a:bodyPr wrap="square" tIns="36576" bIns="36576" rtlCol="0" anchor="ctr">
            <a:noAutofit/>
          </a:bodyPr>
          <a:lstStyle/>
          <a:p>
            <a:pPr marL="0" indent="0" algn="ctr">
              <a:buNone/>
            </a:pPr>
            <a:r>
              <a:rPr lang="en-US" sz="1400" b="1" noProof="0" dirty="0" err="1">
                <a:solidFill>
                  <a:srgbClr val="000000"/>
                </a:solidFill>
              </a:rPr>
              <a:t>odrl:Asset</a:t>
            </a:r>
            <a:endParaRPr lang="en-US" sz="1400" b="1" noProof="0" dirty="0">
              <a:solidFill>
                <a:srgbClr val="000000"/>
              </a:solidFill>
            </a:endParaRPr>
          </a:p>
          <a:p>
            <a:pPr marL="0" indent="0" algn="ctr">
              <a:buNone/>
            </a:pPr>
            <a:r>
              <a:rPr lang="en-US" sz="1200" noProof="0" dirty="0">
                <a:solidFill>
                  <a:srgbClr val="5F6B76"/>
                </a:solidFill>
              </a:rPr>
              <a:t>the target, a token</a:t>
            </a:r>
          </a:p>
        </p:txBody>
      </p:sp>
      <p:cxnSp>
        <p:nvCxnSpPr>
          <p:cNvPr id="13" name="Connector 12"/>
          <p:cNvCxnSpPr/>
          <p:nvPr/>
        </p:nvCxnSpPr>
        <p:spPr>
          <a:xfrm>
            <a:off x="8778240" y="3657600"/>
            <a:ext cx="640080" cy="246888"/>
          </a:xfrm>
          <a:prstGeom prst="line">
            <a:avLst/>
          </a:prstGeom>
          <a:ln w="12700">
            <a:solidFill>
              <a:srgbClr val="5F6B76"/>
            </a:solidFill>
            <a:tailEnd type="triangle" w="med" len="med"/>
          </a:ln>
        </p:spPr>
      </p:cxnSp>
      <p:sp>
        <p:nvSpPr>
          <p:cNvPr id="14" name="Rectangle 13"/>
          <p:cNvSpPr/>
          <p:nvPr/>
        </p:nvSpPr>
        <p:spPr>
          <a:xfrm>
            <a:off x="9418320" y="4343400"/>
            <a:ext cx="2221992" cy="585216"/>
          </a:xfrm>
          <a:prstGeom prst="rect">
            <a:avLst/>
          </a:prstGeom>
          <a:noFill/>
          <a:ln w="12700">
            <a:solidFill>
              <a:srgbClr val="5F6B76"/>
            </a:solidFill>
          </a:ln>
        </p:spPr>
        <p:txBody>
          <a:bodyPr wrap="square" tIns="36576" bIns="36576" rtlCol="0" anchor="ctr">
            <a:noAutofit/>
          </a:bodyPr>
          <a:lstStyle/>
          <a:p>
            <a:pPr marL="0" indent="0" algn="ctr">
              <a:buNone/>
            </a:pPr>
            <a:r>
              <a:rPr lang="en-US" sz="1400" b="1" noProof="0" dirty="0" err="1">
                <a:solidFill>
                  <a:srgbClr val="000000"/>
                </a:solidFill>
              </a:rPr>
              <a:t>odrl:Constraint</a:t>
            </a:r>
            <a:endParaRPr lang="en-US" sz="1400" b="1" noProof="0" dirty="0">
              <a:solidFill>
                <a:srgbClr val="000000"/>
              </a:solidFill>
            </a:endParaRPr>
          </a:p>
          <a:p>
            <a:pPr marL="0" indent="0" algn="ctr">
              <a:buNone/>
            </a:pPr>
            <a:r>
              <a:rPr lang="en-US" sz="1200" noProof="0" dirty="0">
                <a:solidFill>
                  <a:srgbClr val="5F6B76"/>
                </a:solidFill>
              </a:rPr>
              <a:t>when the rule applies</a:t>
            </a:r>
          </a:p>
        </p:txBody>
      </p:sp>
      <p:cxnSp>
        <p:nvCxnSpPr>
          <p:cNvPr id="15" name="Connector 14"/>
          <p:cNvCxnSpPr/>
          <p:nvPr/>
        </p:nvCxnSpPr>
        <p:spPr>
          <a:xfrm>
            <a:off x="8778240" y="3657600"/>
            <a:ext cx="640080" cy="978408"/>
          </a:xfrm>
          <a:prstGeom prst="line">
            <a:avLst/>
          </a:prstGeom>
          <a:ln w="12700">
            <a:solidFill>
              <a:srgbClr val="5F6B76"/>
            </a:solidFill>
            <a:tailEnd type="triangle" w="med" len="med"/>
          </a:ln>
        </p:spPr>
      </p:cxnSp>
      <p:sp>
        <p:nvSpPr>
          <p:cNvPr id="16" name="TextBox 15"/>
          <p:cNvSpPr txBox="1"/>
          <p:nvPr/>
        </p:nvSpPr>
        <p:spPr>
          <a:xfrm>
            <a:off x="6952488" y="5303520"/>
            <a:ext cx="5239512" cy="457200"/>
          </a:xfrm>
          <a:prstGeom prst="rect">
            <a:avLst/>
          </a:prstGeom>
          <a:noFill/>
        </p:spPr>
        <p:txBody>
          <a:bodyPr wrap="square" lIns="0" tIns="0" rIns="0" bIns="0" anchor="t">
            <a:noAutofit/>
          </a:bodyPr>
          <a:lstStyle/>
          <a:p>
            <a:pPr marL="0" indent="0">
              <a:buNone/>
            </a:pPr>
            <a:r>
              <a:rPr lang="en-US" sz="1200" i="1" noProof="0" dirty="0">
                <a:latin typeface="+mj-lt"/>
              </a:rPr>
              <a:t>Core classes of the ODRL Information Model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Background: ODRL, Data Spaces, and Formal </a:t>
            </a:r>
            <a:r>
              <a:rPr lang="de-DE" dirty="0" err="1"/>
              <a:t>Semantics</a:t>
            </a:r>
            <a:endParaRPr dirty="0"/>
          </a:p>
        </p:txBody>
      </p:sp>
      <p:sp>
        <p:nvSpPr>
          <p:cNvPr id="3" name="Rectangle 2"/>
          <p:cNvSpPr/>
          <p:nvPr/>
        </p:nvSpPr>
        <p:spPr>
          <a:xfrm>
            <a:off x="548640" y="1417320"/>
            <a:ext cx="3291840" cy="868680"/>
          </a:xfrm>
          <a:prstGeom prst="rect">
            <a:avLst/>
          </a:prstGeom>
          <a:noFill/>
          <a:ln w="12700">
            <a:solidFill>
              <a:srgbClr val="5F6B76"/>
            </a:solidFill>
          </a:ln>
        </p:spPr>
        <p:txBody>
          <a:bodyPr wrap="square" tIns="36576" bIns="36576" rtlCol="0" anchor="ctr">
            <a:noAutofit/>
          </a:bodyPr>
          <a:lstStyle/>
          <a:p>
            <a:pPr marL="0" indent="0" algn="ctr">
              <a:buNone/>
            </a:pPr>
            <a:r>
              <a:rPr sz="1600" dirty="0">
                <a:solidFill>
                  <a:srgbClr val="000000"/>
                </a:solidFill>
              </a:rPr>
              <a:t>Provider publishes a dataset with an Offer</a:t>
            </a:r>
          </a:p>
        </p:txBody>
      </p:sp>
      <p:cxnSp>
        <p:nvCxnSpPr>
          <p:cNvPr id="4" name="Connector 3"/>
          <p:cNvCxnSpPr/>
          <p:nvPr/>
        </p:nvCxnSpPr>
        <p:spPr>
          <a:xfrm>
            <a:off x="3886200" y="1851660"/>
            <a:ext cx="516636" cy="0"/>
          </a:xfrm>
          <a:prstGeom prst="line">
            <a:avLst/>
          </a:prstGeom>
          <a:ln w="19050">
            <a:solidFill>
              <a:srgbClr val="000000"/>
            </a:solidFill>
            <a:tailEnd type="triangle" w="med" len="med"/>
          </a:ln>
        </p:spPr>
      </p:cxnSp>
      <p:sp>
        <p:nvSpPr>
          <p:cNvPr id="5" name="Rectangle 4"/>
          <p:cNvSpPr/>
          <p:nvPr/>
        </p:nvSpPr>
        <p:spPr>
          <a:xfrm>
            <a:off x="4448556" y="1417320"/>
            <a:ext cx="3291840" cy="868680"/>
          </a:xfrm>
          <a:prstGeom prst="rect">
            <a:avLst/>
          </a:prstGeom>
          <a:noFill/>
          <a:ln w="12700">
            <a:solidFill>
              <a:srgbClr val="5F6B76"/>
            </a:solidFill>
          </a:ln>
        </p:spPr>
        <p:txBody>
          <a:bodyPr wrap="square" tIns="36576" bIns="36576" rtlCol="0" anchor="ctr">
            <a:noAutofit/>
          </a:bodyPr>
          <a:lstStyle/>
          <a:p>
            <a:pPr marL="0" indent="0" algn="ctr">
              <a:buNone/>
            </a:pPr>
            <a:r>
              <a:rPr sz="1600">
                <a:solidFill>
                  <a:srgbClr val="000000"/>
                </a:solidFill>
              </a:rPr>
              <a:t>Consumer negotiates; the result is an Agreement</a:t>
            </a:r>
          </a:p>
        </p:txBody>
      </p:sp>
      <p:cxnSp>
        <p:nvCxnSpPr>
          <p:cNvPr id="6" name="Connector 5"/>
          <p:cNvCxnSpPr/>
          <p:nvPr/>
        </p:nvCxnSpPr>
        <p:spPr>
          <a:xfrm>
            <a:off x="7786116" y="1851660"/>
            <a:ext cx="516635" cy="0"/>
          </a:xfrm>
          <a:prstGeom prst="line">
            <a:avLst/>
          </a:prstGeom>
          <a:ln w="19050">
            <a:solidFill>
              <a:srgbClr val="000000"/>
            </a:solidFill>
            <a:tailEnd type="triangle" w="med" len="med"/>
          </a:ln>
        </p:spPr>
      </p:cxnSp>
      <p:sp>
        <p:nvSpPr>
          <p:cNvPr id="7" name="Rectangle 6"/>
          <p:cNvSpPr/>
          <p:nvPr/>
        </p:nvSpPr>
        <p:spPr>
          <a:xfrm>
            <a:off x="8348472" y="1417320"/>
            <a:ext cx="3291840" cy="868680"/>
          </a:xfrm>
          <a:prstGeom prst="rect">
            <a:avLst/>
          </a:prstGeom>
          <a:noFill/>
          <a:ln w="12700">
            <a:solidFill>
              <a:srgbClr val="5F6B76"/>
            </a:solidFill>
          </a:ln>
        </p:spPr>
        <p:txBody>
          <a:bodyPr wrap="square" tIns="36576" bIns="36576" rtlCol="0" anchor="ctr">
            <a:noAutofit/>
          </a:bodyPr>
          <a:lstStyle/>
          <a:p>
            <a:pPr marL="0" indent="0" algn="ctr">
              <a:buNone/>
            </a:pPr>
            <a:r>
              <a:rPr sz="1600">
                <a:solidFill>
                  <a:srgbClr val="000000"/>
                </a:solidFill>
              </a:rPr>
              <a:t>Connectors enforce the Agreement</a:t>
            </a:r>
          </a:p>
        </p:txBody>
      </p:sp>
      <p:sp>
        <p:nvSpPr>
          <p:cNvPr id="8" name="TextBox 7"/>
          <p:cNvSpPr txBox="1"/>
          <p:nvPr/>
        </p:nvSpPr>
        <p:spPr>
          <a:xfrm>
            <a:off x="548640" y="2743200"/>
            <a:ext cx="11091672" cy="411480"/>
          </a:xfrm>
          <a:prstGeom prst="rect">
            <a:avLst/>
          </a:prstGeom>
          <a:noFill/>
        </p:spPr>
        <p:txBody>
          <a:bodyPr wrap="square" lIns="0" tIns="0" rIns="0" bIns="0" anchor="t">
            <a:noAutofit/>
          </a:bodyPr>
          <a:lstStyle/>
          <a:p>
            <a:pPr marL="0" indent="0">
              <a:buNone/>
            </a:pPr>
            <a:r>
              <a:rPr sz="1900" b="1" dirty="0">
                <a:solidFill>
                  <a:srgbClr val="000000"/>
                </a:solidFill>
                <a:latin typeface="+mj-lt"/>
              </a:rPr>
              <a:t>ODRL Formal Semantics</a:t>
            </a:r>
            <a:r>
              <a:rPr sz="1900" dirty="0">
                <a:latin typeface="+mj-lt"/>
              </a:rPr>
              <a:t>  (W3C Community Group draft) defines an evaluator</a:t>
            </a:r>
          </a:p>
        </p:txBody>
      </p:sp>
      <p:sp>
        <p:nvSpPr>
          <p:cNvPr id="9" name="TextBox 8"/>
          <p:cNvSpPr txBox="1"/>
          <p:nvPr/>
        </p:nvSpPr>
        <p:spPr>
          <a:xfrm>
            <a:off x="548640" y="3429000"/>
            <a:ext cx="3749039" cy="1188720"/>
          </a:xfrm>
          <a:prstGeom prst="rect">
            <a:avLst/>
          </a:prstGeom>
          <a:noFill/>
        </p:spPr>
        <p:txBody>
          <a:bodyPr wrap="square" lIns="0" tIns="0" rIns="0" bIns="0" anchor="ctr">
            <a:noAutofit/>
          </a:bodyPr>
          <a:lstStyle/>
          <a:p>
            <a:pPr marL="0" indent="0">
              <a:buNone/>
            </a:pPr>
            <a:r>
              <a:rPr sz="1600" b="1" dirty="0">
                <a:solidFill>
                  <a:srgbClr val="000000"/>
                </a:solidFill>
                <a:latin typeface="+mj-lt"/>
              </a:rPr>
              <a:t>Input</a:t>
            </a:r>
          </a:p>
          <a:p>
            <a:pPr marL="0" indent="0">
              <a:buNone/>
            </a:pPr>
            <a:r>
              <a:rPr sz="1900" dirty="0">
                <a:latin typeface="+mj-lt"/>
              </a:rPr>
              <a:t>policies, the state of the world, </a:t>
            </a:r>
            <a:r>
              <a:rPr sz="1900" dirty="0" err="1">
                <a:latin typeface="+mj-lt"/>
              </a:rPr>
              <a:t>behaviour</a:t>
            </a:r>
            <a:r>
              <a:rPr sz="1900" dirty="0">
                <a:latin typeface="+mj-lt"/>
              </a:rPr>
              <a:t> (open or closed)</a:t>
            </a:r>
          </a:p>
        </p:txBody>
      </p:sp>
      <p:cxnSp>
        <p:nvCxnSpPr>
          <p:cNvPr id="10" name="Connector 9"/>
          <p:cNvCxnSpPr/>
          <p:nvPr/>
        </p:nvCxnSpPr>
        <p:spPr>
          <a:xfrm>
            <a:off x="4343400" y="4023360"/>
            <a:ext cx="548640" cy="0"/>
          </a:xfrm>
          <a:prstGeom prst="line">
            <a:avLst/>
          </a:prstGeom>
          <a:ln w="19050">
            <a:solidFill>
              <a:srgbClr val="000000"/>
            </a:solidFill>
            <a:tailEnd type="triangle" w="med" len="med"/>
          </a:ln>
        </p:spPr>
      </p:cxnSp>
      <p:sp>
        <p:nvSpPr>
          <p:cNvPr id="11" name="Rectangle 10"/>
          <p:cNvSpPr/>
          <p:nvPr/>
        </p:nvSpPr>
        <p:spPr>
          <a:xfrm>
            <a:off x="4937760" y="3566160"/>
            <a:ext cx="2194560" cy="914400"/>
          </a:xfrm>
          <a:prstGeom prst="rect">
            <a:avLst/>
          </a:prstGeom>
          <a:noFill/>
          <a:ln w="15875">
            <a:solidFill>
              <a:srgbClr val="000000"/>
            </a:solidFill>
          </a:ln>
        </p:spPr>
        <p:txBody>
          <a:bodyPr wrap="square" tIns="36576" bIns="36576" rtlCol="0" anchor="ctr">
            <a:noAutofit/>
          </a:bodyPr>
          <a:lstStyle/>
          <a:p>
            <a:pPr marL="0" indent="0" algn="ctr">
              <a:buNone/>
            </a:pPr>
            <a:r>
              <a:rPr sz="1700" b="1">
                <a:solidFill>
                  <a:srgbClr val="000000"/>
                </a:solidFill>
              </a:rPr>
              <a:t>Evaluator</a:t>
            </a:r>
          </a:p>
        </p:txBody>
      </p:sp>
      <p:cxnSp>
        <p:nvCxnSpPr>
          <p:cNvPr id="12" name="Connector 11"/>
          <p:cNvCxnSpPr/>
          <p:nvPr/>
        </p:nvCxnSpPr>
        <p:spPr>
          <a:xfrm>
            <a:off x="7178040" y="4023360"/>
            <a:ext cx="548639" cy="0"/>
          </a:xfrm>
          <a:prstGeom prst="line">
            <a:avLst/>
          </a:prstGeom>
          <a:ln w="19050">
            <a:solidFill>
              <a:srgbClr val="000000"/>
            </a:solidFill>
            <a:tailEnd type="triangle" w="med" len="med"/>
          </a:ln>
        </p:spPr>
      </p:cxnSp>
      <p:sp>
        <p:nvSpPr>
          <p:cNvPr id="13" name="TextBox 12"/>
          <p:cNvSpPr txBox="1"/>
          <p:nvPr/>
        </p:nvSpPr>
        <p:spPr>
          <a:xfrm>
            <a:off x="7863840" y="3429000"/>
            <a:ext cx="3776472" cy="1188720"/>
          </a:xfrm>
          <a:prstGeom prst="rect">
            <a:avLst/>
          </a:prstGeom>
          <a:noFill/>
        </p:spPr>
        <p:txBody>
          <a:bodyPr wrap="square" lIns="0" tIns="0" rIns="0" bIns="0" anchor="ctr">
            <a:noAutofit/>
          </a:bodyPr>
          <a:lstStyle/>
          <a:p>
            <a:pPr marL="0" indent="0">
              <a:buNone/>
            </a:pPr>
            <a:r>
              <a:rPr sz="1600" b="1" dirty="0">
                <a:solidFill>
                  <a:srgbClr val="000000"/>
                </a:solidFill>
                <a:latin typeface="+mj-lt"/>
              </a:rPr>
              <a:t>Output per rule</a:t>
            </a:r>
          </a:p>
          <a:p>
            <a:pPr marL="0" indent="0">
              <a:buNone/>
            </a:pPr>
            <a:r>
              <a:rPr sz="1900" dirty="0">
                <a:latin typeface="+mj-lt"/>
              </a:rPr>
              <a:t>active, violated, fulfilled, not-set</a:t>
            </a:r>
          </a:p>
        </p:txBody>
      </p:sp>
      <p:sp>
        <p:nvSpPr>
          <p:cNvPr id="14" name="TextBox 13"/>
          <p:cNvSpPr txBox="1"/>
          <p:nvPr/>
        </p:nvSpPr>
        <p:spPr>
          <a:xfrm>
            <a:off x="548640" y="5212080"/>
            <a:ext cx="11091672" cy="457200"/>
          </a:xfrm>
          <a:prstGeom prst="rect">
            <a:avLst/>
          </a:prstGeom>
          <a:noFill/>
        </p:spPr>
        <p:txBody>
          <a:bodyPr wrap="square" lIns="0" tIns="0" rIns="0" bIns="0" anchor="t">
            <a:noAutofit/>
          </a:bodyPr>
          <a:lstStyle/>
          <a:p>
            <a:r>
              <a:rPr lang="en-US" sz="1900" noProof="0" dirty="0">
                <a:latin typeface="+mj-lt"/>
              </a:rPr>
              <a:t>The Information Model describes the policy’s content; the Formal Semantics defines how that content is evaluated.</a:t>
            </a:r>
            <a:endParaRPr lang="en-US" sz="1900" i="1" noProof="0"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Running example: two theaters, one portal</a:t>
            </a:r>
          </a:p>
        </p:txBody>
      </p:sp>
      <p:sp>
        <p:nvSpPr>
          <p:cNvPr id="3" name="TextBox 2"/>
          <p:cNvSpPr txBox="1"/>
          <p:nvPr/>
        </p:nvSpPr>
        <p:spPr>
          <a:xfrm>
            <a:off x="548640" y="1188720"/>
            <a:ext cx="11091672" cy="731520"/>
          </a:xfrm>
          <a:prstGeom prst="rect">
            <a:avLst/>
          </a:prstGeom>
          <a:noFill/>
        </p:spPr>
        <p:txBody>
          <a:bodyPr wrap="square" lIns="0" tIns="0" rIns="0" bIns="0" anchor="t">
            <a:noAutofit/>
          </a:bodyPr>
          <a:lstStyle/>
          <a:p>
            <a:pPr marL="0" indent="0">
              <a:buNone/>
            </a:pPr>
            <a:r>
              <a:rPr sz="1800" dirty="0">
                <a:solidFill>
                  <a:srgbClr val="000000"/>
                </a:solidFill>
                <a:latin typeface="+mj-lt"/>
              </a:rPr>
              <a:t>Berliner Ensemble and </a:t>
            </a:r>
            <a:r>
              <a:rPr sz="1800" dirty="0" err="1">
                <a:solidFill>
                  <a:srgbClr val="000000"/>
                </a:solidFill>
                <a:latin typeface="+mj-lt"/>
              </a:rPr>
              <a:t>Deutsches</a:t>
            </a:r>
            <a:r>
              <a:rPr sz="1800" dirty="0">
                <a:solidFill>
                  <a:srgbClr val="000000"/>
                </a:solidFill>
                <a:latin typeface="+mj-lt"/>
              </a:rPr>
              <a:t> Theater provide showtimes to </a:t>
            </a:r>
            <a:r>
              <a:rPr sz="1800" b="1" dirty="0" err="1">
                <a:solidFill>
                  <a:srgbClr val="000000"/>
                </a:solidFill>
                <a:latin typeface="+mj-lt"/>
              </a:rPr>
              <a:t>KulturPortal</a:t>
            </a:r>
            <a:r>
              <a:rPr sz="1800" dirty="0">
                <a:solidFill>
                  <a:srgbClr val="000000"/>
                </a:solidFill>
                <a:latin typeface="+mj-lt"/>
              </a:rPr>
              <a:t>. Each agreement prohibits </a:t>
            </a:r>
            <a:r>
              <a:rPr sz="1800" dirty="0" err="1">
                <a:solidFill>
                  <a:srgbClr val="000000"/>
                </a:solidFill>
                <a:latin typeface="+mj-lt"/>
              </a:rPr>
              <a:t>KulturPortal</a:t>
            </a:r>
            <a:r>
              <a:rPr sz="1800" dirty="0">
                <a:solidFill>
                  <a:srgbClr val="000000"/>
                </a:solidFill>
                <a:latin typeface="+mj-lt"/>
              </a:rPr>
              <a:t> from distributing them.</a:t>
            </a:r>
          </a:p>
        </p:txBody>
      </p:sp>
      <p:sp>
        <p:nvSpPr>
          <p:cNvPr id="4" name="Rectangle 3"/>
          <p:cNvSpPr/>
          <p:nvPr/>
        </p:nvSpPr>
        <p:spPr>
          <a:xfrm>
            <a:off x="731520" y="2514600"/>
            <a:ext cx="2377440" cy="868680"/>
          </a:xfrm>
          <a:prstGeom prst="rect">
            <a:avLst/>
          </a:prstGeom>
          <a:noFill/>
          <a:ln w="15875">
            <a:solidFill>
              <a:srgbClr val="000000"/>
            </a:solidFill>
          </a:ln>
        </p:spPr>
        <p:txBody>
          <a:bodyPr wrap="square" tIns="36576" bIns="36576" rtlCol="0" anchor="ctr">
            <a:noAutofit/>
          </a:bodyPr>
          <a:lstStyle/>
          <a:p>
            <a:pPr marL="0" indent="0" algn="ctr">
              <a:buNone/>
            </a:pPr>
            <a:r>
              <a:rPr sz="1700" b="1">
                <a:solidFill>
                  <a:srgbClr val="000000"/>
                </a:solidFill>
              </a:rPr>
              <a:t>Berliner Ensemble</a:t>
            </a:r>
          </a:p>
        </p:txBody>
      </p:sp>
      <p:sp>
        <p:nvSpPr>
          <p:cNvPr id="5" name="Rectangle 4"/>
          <p:cNvSpPr/>
          <p:nvPr/>
        </p:nvSpPr>
        <p:spPr>
          <a:xfrm>
            <a:off x="4910328" y="2514600"/>
            <a:ext cx="2377440" cy="868680"/>
          </a:xfrm>
          <a:prstGeom prst="rect">
            <a:avLst/>
          </a:prstGeom>
          <a:noFill/>
          <a:ln w="15875">
            <a:solidFill>
              <a:srgbClr val="000000"/>
            </a:solidFill>
          </a:ln>
        </p:spPr>
        <p:txBody>
          <a:bodyPr wrap="square" tIns="36576" bIns="36576" rtlCol="0" anchor="ctr">
            <a:noAutofit/>
          </a:bodyPr>
          <a:lstStyle/>
          <a:p>
            <a:pPr marL="0" indent="0" algn="ctr">
              <a:buNone/>
            </a:pPr>
            <a:r>
              <a:rPr sz="1700" b="1">
                <a:solidFill>
                  <a:srgbClr val="000000"/>
                </a:solidFill>
              </a:rPr>
              <a:t>KulturPortal</a:t>
            </a:r>
          </a:p>
        </p:txBody>
      </p:sp>
      <p:sp>
        <p:nvSpPr>
          <p:cNvPr id="6" name="Rectangle 5"/>
          <p:cNvSpPr/>
          <p:nvPr/>
        </p:nvSpPr>
        <p:spPr>
          <a:xfrm>
            <a:off x="9079992" y="2514600"/>
            <a:ext cx="2377440" cy="868680"/>
          </a:xfrm>
          <a:prstGeom prst="rect">
            <a:avLst/>
          </a:prstGeom>
          <a:noFill/>
          <a:ln w="15875">
            <a:solidFill>
              <a:srgbClr val="000000"/>
            </a:solidFill>
          </a:ln>
        </p:spPr>
        <p:txBody>
          <a:bodyPr wrap="square" tIns="36576" bIns="36576" rtlCol="0" anchor="ctr">
            <a:noAutofit/>
          </a:bodyPr>
          <a:lstStyle/>
          <a:p>
            <a:pPr marL="0" indent="0" algn="ctr">
              <a:buNone/>
            </a:pPr>
            <a:r>
              <a:rPr sz="1700" b="1">
                <a:solidFill>
                  <a:srgbClr val="000000"/>
                </a:solidFill>
              </a:rPr>
              <a:t>Deutsches Theater</a:t>
            </a:r>
          </a:p>
        </p:txBody>
      </p:sp>
      <p:cxnSp>
        <p:nvCxnSpPr>
          <p:cNvPr id="7" name="Connector 6"/>
          <p:cNvCxnSpPr/>
          <p:nvPr/>
        </p:nvCxnSpPr>
        <p:spPr>
          <a:xfrm>
            <a:off x="3154680" y="2948940"/>
            <a:ext cx="1709928" cy="0"/>
          </a:xfrm>
          <a:prstGeom prst="line">
            <a:avLst/>
          </a:prstGeom>
          <a:ln w="19050">
            <a:solidFill>
              <a:srgbClr val="000000"/>
            </a:solidFill>
            <a:tailEnd type="triangle" w="med" len="med"/>
          </a:ln>
        </p:spPr>
      </p:cxnSp>
      <p:cxnSp>
        <p:nvCxnSpPr>
          <p:cNvPr id="8" name="Connector 7"/>
          <p:cNvCxnSpPr/>
          <p:nvPr/>
        </p:nvCxnSpPr>
        <p:spPr>
          <a:xfrm flipH="1">
            <a:off x="7333488" y="2948940"/>
            <a:ext cx="1700784" cy="0"/>
          </a:xfrm>
          <a:prstGeom prst="line">
            <a:avLst/>
          </a:prstGeom>
          <a:ln w="19050">
            <a:solidFill>
              <a:srgbClr val="000000"/>
            </a:solidFill>
            <a:tailEnd type="triangle" w="med" len="med"/>
          </a:ln>
        </p:spPr>
      </p:cxnSp>
      <p:sp>
        <p:nvSpPr>
          <p:cNvPr id="9" name="TextBox 8"/>
          <p:cNvSpPr txBox="1"/>
          <p:nvPr/>
        </p:nvSpPr>
        <p:spPr>
          <a:xfrm>
            <a:off x="3108960" y="2057400"/>
            <a:ext cx="1792224" cy="457200"/>
          </a:xfrm>
          <a:prstGeom prst="rect">
            <a:avLst/>
          </a:prstGeom>
          <a:noFill/>
        </p:spPr>
        <p:txBody>
          <a:bodyPr wrap="square" lIns="0" tIns="0" rIns="0" bIns="0" anchor="b">
            <a:noAutofit/>
          </a:bodyPr>
          <a:lstStyle/>
          <a:p>
            <a:pPr marL="0" indent="0" algn="ctr">
              <a:buNone/>
            </a:pPr>
            <a:r>
              <a:rPr sz="1300">
                <a:solidFill>
                  <a:srgbClr val="5F6B76"/>
                </a:solidFill>
              </a:rPr>
              <a:t>Agreement:</a:t>
            </a:r>
          </a:p>
          <a:p>
            <a:pPr marL="0" indent="0" algn="ctr">
              <a:buNone/>
            </a:pPr>
            <a:r>
              <a:rPr sz="1300">
                <a:solidFill>
                  <a:srgbClr val="5F6B76"/>
                </a:solidFill>
              </a:rPr>
              <a:t>no distribution</a:t>
            </a:r>
          </a:p>
        </p:txBody>
      </p:sp>
      <p:sp>
        <p:nvSpPr>
          <p:cNvPr id="10" name="TextBox 9"/>
          <p:cNvSpPr txBox="1"/>
          <p:nvPr/>
        </p:nvSpPr>
        <p:spPr>
          <a:xfrm>
            <a:off x="7287768" y="2057400"/>
            <a:ext cx="1792224" cy="457200"/>
          </a:xfrm>
          <a:prstGeom prst="rect">
            <a:avLst/>
          </a:prstGeom>
          <a:noFill/>
        </p:spPr>
        <p:txBody>
          <a:bodyPr wrap="square" lIns="0" tIns="0" rIns="0" bIns="0" anchor="b">
            <a:noAutofit/>
          </a:bodyPr>
          <a:lstStyle/>
          <a:p>
            <a:pPr marL="0" indent="0" algn="ctr">
              <a:buNone/>
            </a:pPr>
            <a:r>
              <a:rPr sz="1300">
                <a:solidFill>
                  <a:srgbClr val="5F6B76"/>
                </a:solidFill>
              </a:rPr>
              <a:t>Agreement:</a:t>
            </a:r>
          </a:p>
          <a:p>
            <a:pPr marL="0" indent="0" algn="ctr">
              <a:buNone/>
            </a:pPr>
            <a:r>
              <a:rPr sz="1300">
                <a:solidFill>
                  <a:srgbClr val="5F6B76"/>
                </a:solidFill>
              </a:rPr>
              <a:t>no distribution</a:t>
            </a:r>
          </a:p>
        </p:txBody>
      </p:sp>
      <p:sp>
        <p:nvSpPr>
          <p:cNvPr id="11" name="TextBox 10"/>
          <p:cNvSpPr txBox="1"/>
          <p:nvPr/>
        </p:nvSpPr>
        <p:spPr>
          <a:xfrm>
            <a:off x="4910328" y="3474720"/>
            <a:ext cx="2377440" cy="365760"/>
          </a:xfrm>
          <a:prstGeom prst="rect">
            <a:avLst/>
          </a:prstGeom>
          <a:noFill/>
        </p:spPr>
        <p:txBody>
          <a:bodyPr wrap="square" lIns="0" tIns="0" rIns="0" bIns="0" anchor="t">
            <a:noAutofit/>
          </a:bodyPr>
          <a:lstStyle/>
          <a:p>
            <a:pPr marL="0" indent="0" algn="ctr">
              <a:buNone/>
            </a:pPr>
            <a:r>
              <a:rPr sz="1600" i="1" dirty="0">
                <a:solidFill>
                  <a:srgbClr val="FF0000"/>
                </a:solidFill>
              </a:rPr>
              <a:t>distributes both datasets</a:t>
            </a:r>
          </a:p>
        </p:txBody>
      </p:sp>
      <p:grpSp>
        <p:nvGrpSpPr>
          <p:cNvPr id="12" name="Group 11"/>
          <p:cNvGrpSpPr/>
          <p:nvPr/>
        </p:nvGrpSpPr>
        <p:grpSpPr>
          <a:xfrm>
            <a:off x="548640" y="3931920"/>
            <a:ext cx="11091672" cy="2001740"/>
            <a:chOff x="548640" y="3931920"/>
            <a:chExt cx="11091672" cy="2001740"/>
          </a:xfrm>
        </p:grpSpPr>
        <p:sp>
          <p:nvSpPr>
            <p:cNvPr id="13" name="TextBox 12"/>
            <p:cNvSpPr txBox="1"/>
            <p:nvPr/>
          </p:nvSpPr>
          <p:spPr>
            <a:xfrm>
              <a:off x="2651760" y="3931920"/>
              <a:ext cx="2706624" cy="868680"/>
            </a:xfrm>
            <a:prstGeom prst="rect">
              <a:avLst/>
            </a:prstGeom>
            <a:noFill/>
          </p:spPr>
          <p:txBody>
            <a:bodyPr wrap="square" lIns="0" tIns="0" rIns="0" bIns="0" anchor="t">
              <a:noAutofit/>
            </a:bodyPr>
            <a:lstStyle/>
            <a:p>
              <a:pPr marL="0" indent="0" algn="ctr">
                <a:buNone/>
              </a:pPr>
              <a:r>
                <a:rPr sz="1600" b="1" dirty="0">
                  <a:solidFill>
                    <a:srgbClr val="B9501A"/>
                  </a:solidFill>
                </a:rPr>
                <a:t>violated</a:t>
              </a:r>
            </a:p>
            <a:p>
              <a:pPr marL="0" indent="0" algn="ctr">
                <a:buNone/>
              </a:pPr>
              <a:r>
                <a:rPr sz="1600" dirty="0">
                  <a:solidFill>
                    <a:srgbClr val="000000"/>
                  </a:solidFill>
                </a:rPr>
                <a:t>remedy: compensation</a:t>
              </a:r>
            </a:p>
          </p:txBody>
        </p:sp>
        <p:sp>
          <p:nvSpPr>
            <p:cNvPr id="14" name="TextBox 13"/>
            <p:cNvSpPr txBox="1"/>
            <p:nvPr/>
          </p:nvSpPr>
          <p:spPr>
            <a:xfrm>
              <a:off x="6830568" y="3931920"/>
              <a:ext cx="2706624" cy="868680"/>
            </a:xfrm>
            <a:prstGeom prst="rect">
              <a:avLst/>
            </a:prstGeom>
            <a:noFill/>
          </p:spPr>
          <p:txBody>
            <a:bodyPr wrap="square" lIns="0" tIns="0" rIns="0" bIns="0" anchor="t">
              <a:noAutofit/>
            </a:bodyPr>
            <a:lstStyle/>
            <a:p>
              <a:pPr marL="0" indent="0" algn="ctr">
                <a:buNone/>
              </a:pPr>
              <a:r>
                <a:rPr sz="1600" b="1">
                  <a:solidFill>
                    <a:srgbClr val="B9501A"/>
                  </a:solidFill>
                </a:rPr>
                <a:t>violated</a:t>
              </a:r>
            </a:p>
            <a:p>
              <a:pPr marL="0" indent="0" algn="ctr">
                <a:buNone/>
              </a:pPr>
              <a:r>
                <a:rPr sz="1600">
                  <a:solidFill>
                    <a:srgbClr val="000000"/>
                  </a:solidFill>
                </a:rPr>
                <a:t>remedy: deletion</a:t>
              </a:r>
            </a:p>
          </p:txBody>
        </p:sp>
        <p:sp>
          <p:nvSpPr>
            <p:cNvPr id="15" name="TextBox 14"/>
            <p:cNvSpPr txBox="1"/>
            <p:nvPr/>
          </p:nvSpPr>
          <p:spPr>
            <a:xfrm>
              <a:off x="548640" y="4709159"/>
              <a:ext cx="11091672" cy="1224501"/>
            </a:xfrm>
            <a:prstGeom prst="rect">
              <a:avLst/>
            </a:prstGeom>
            <a:noFill/>
          </p:spPr>
          <p:txBody>
            <a:bodyPr wrap="square" lIns="0" tIns="0" rIns="0" bIns="0" anchor="t">
              <a:noAutofit/>
            </a:bodyPr>
            <a:lstStyle/>
            <a:p>
              <a:pPr marL="0" indent="0" algn="ctr">
                <a:buNone/>
              </a:pPr>
              <a:r>
                <a:rPr sz="1800" dirty="0">
                  <a:solidFill>
                    <a:srgbClr val="000000"/>
                  </a:solidFill>
                </a:rPr>
                <a:t>The evaluator stops at "violated".</a:t>
              </a:r>
              <a:endParaRPr lang="en-US" sz="1800" dirty="0">
                <a:solidFill>
                  <a:srgbClr val="000000"/>
                </a:solidFill>
              </a:endParaRPr>
            </a:p>
            <a:p>
              <a:pPr marL="0" indent="0" algn="ctr">
                <a:buNone/>
              </a:pPr>
              <a:endParaRPr lang="en-US" sz="1800" dirty="0">
                <a:solidFill>
                  <a:srgbClr val="000000"/>
                </a:solidFill>
              </a:endParaRPr>
            </a:p>
            <a:p>
              <a:pPr algn="ctr"/>
              <a:r>
                <a:rPr lang="de-DE" b="1" dirty="0" err="1">
                  <a:latin typeface="+mj-lt"/>
                </a:rPr>
                <a:t>Which</a:t>
              </a:r>
              <a:r>
                <a:rPr lang="de-DE" b="1" dirty="0">
                  <a:latin typeface="+mj-lt"/>
                </a:rPr>
                <a:t> legal </a:t>
              </a:r>
              <a:r>
                <a:rPr lang="de-DE" b="1" dirty="0" err="1">
                  <a:latin typeface="+mj-lt"/>
                </a:rPr>
                <a:t>positions</a:t>
              </a:r>
              <a:r>
                <a:rPr lang="de-DE" b="1" dirty="0">
                  <a:latin typeface="+mj-lt"/>
                </a:rPr>
                <a:t> and </a:t>
              </a:r>
              <a:r>
                <a:rPr lang="de-DE" b="1" dirty="0" err="1">
                  <a:latin typeface="+mj-lt"/>
                </a:rPr>
                <a:t>authority</a:t>
              </a:r>
              <a:r>
                <a:rPr lang="de-DE" b="1" dirty="0">
                  <a:latin typeface="+mj-lt"/>
                </a:rPr>
                <a:t> </a:t>
              </a:r>
              <a:r>
                <a:rPr lang="de-DE" b="1" dirty="0" err="1">
                  <a:latin typeface="+mj-lt"/>
                </a:rPr>
                <a:t>relations</a:t>
              </a:r>
              <a:r>
                <a:rPr lang="de-DE" b="1" dirty="0">
                  <a:latin typeface="+mj-lt"/>
                </a:rPr>
                <a:t> </a:t>
              </a:r>
              <a:r>
                <a:rPr lang="de-DE" b="1" dirty="0" err="1">
                  <a:latin typeface="+mj-lt"/>
                </a:rPr>
                <a:t>does</a:t>
              </a:r>
              <a:r>
                <a:rPr lang="de-DE" b="1" dirty="0">
                  <a:latin typeface="+mj-lt"/>
                </a:rPr>
                <a:t> a </a:t>
              </a:r>
              <a:r>
                <a:rPr lang="de-DE" b="1" dirty="0" err="1">
                  <a:latin typeface="+mj-lt"/>
                </a:rPr>
                <a:t>violated</a:t>
              </a:r>
              <a:r>
                <a:rPr lang="de-DE" b="1" dirty="0">
                  <a:latin typeface="+mj-lt"/>
                </a:rPr>
                <a:t> </a:t>
              </a:r>
              <a:r>
                <a:rPr lang="de-DE" b="1" dirty="0" err="1">
                  <a:latin typeface="+mj-lt"/>
                </a:rPr>
                <a:t>verdict</a:t>
              </a:r>
              <a:r>
                <a:rPr lang="de-DE" b="1" dirty="0">
                  <a:latin typeface="+mj-lt"/>
                </a:rPr>
                <a:t> </a:t>
              </a:r>
              <a:r>
                <a:rPr lang="de-DE" b="1" dirty="0" err="1">
                  <a:latin typeface="+mj-lt"/>
                </a:rPr>
                <a:t>presuppose</a:t>
              </a:r>
              <a:r>
                <a:rPr lang="de-DE" b="1" dirty="0">
                  <a:latin typeface="+mj-lt"/>
                </a:rPr>
                <a:t>?</a:t>
              </a:r>
              <a:endParaRPr sz="1800" dirty="0">
                <a:solidFill>
                  <a:srgbClr val="000000"/>
                </a:solidFill>
                <a:latin typeface="+mj-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err="1"/>
              <a:t>What</a:t>
            </a:r>
            <a:r>
              <a:rPr lang="de-DE" dirty="0"/>
              <a:t> Legal Situation Does an ODRL Rule Create?</a:t>
            </a:r>
            <a:endParaRPr dirty="0"/>
          </a:p>
        </p:txBody>
      </p:sp>
      <p:sp>
        <p:nvSpPr>
          <p:cNvPr id="3" name="Content Placeholder 2"/>
          <p:cNvSpPr>
            <a:spLocks noGrp="1"/>
          </p:cNvSpPr>
          <p:nvPr>
            <p:ph idx="1"/>
          </p:nvPr>
        </p:nvSpPr>
        <p:spPr/>
        <p:txBody>
          <a:bodyPr>
            <a:noAutofit/>
          </a:bodyPr>
          <a:lstStyle/>
          <a:p>
            <a:r>
              <a:rPr lang="de-DE" sz="2400" dirty="0" err="1">
                <a:latin typeface="+mj-lt"/>
              </a:rPr>
              <a:t>What</a:t>
            </a:r>
            <a:r>
              <a:rPr lang="de-DE" sz="2400" dirty="0">
                <a:latin typeface="+mj-lt"/>
              </a:rPr>
              <a:t> legal </a:t>
            </a:r>
            <a:r>
              <a:rPr lang="de-DE" sz="2400" dirty="0" err="1">
                <a:latin typeface="+mj-lt"/>
              </a:rPr>
              <a:t>positions</a:t>
            </a:r>
            <a:r>
              <a:rPr lang="de-DE" sz="2400" dirty="0">
                <a:latin typeface="+mj-lt"/>
              </a:rPr>
              <a:t> and </a:t>
            </a:r>
            <a:r>
              <a:rPr lang="de-DE" sz="2400" dirty="0" err="1">
                <a:latin typeface="+mj-lt"/>
              </a:rPr>
              <a:t>authority</a:t>
            </a:r>
            <a:r>
              <a:rPr lang="de-DE" sz="2400" dirty="0">
                <a:latin typeface="+mj-lt"/>
              </a:rPr>
              <a:t> </a:t>
            </a:r>
            <a:r>
              <a:rPr lang="de-DE" sz="2400" dirty="0" err="1">
                <a:latin typeface="+mj-lt"/>
              </a:rPr>
              <a:t>relations</a:t>
            </a:r>
            <a:r>
              <a:rPr lang="de-DE" sz="2400" dirty="0">
                <a:latin typeface="+mj-lt"/>
              </a:rPr>
              <a:t> </a:t>
            </a:r>
            <a:r>
              <a:rPr lang="de-DE" sz="2400" dirty="0" err="1">
                <a:latin typeface="+mj-lt"/>
              </a:rPr>
              <a:t>does</a:t>
            </a:r>
            <a:r>
              <a:rPr lang="de-DE" sz="2400" dirty="0">
                <a:latin typeface="+mj-lt"/>
              </a:rPr>
              <a:t> </a:t>
            </a:r>
            <a:r>
              <a:rPr lang="de-DE" sz="2400" dirty="0" err="1">
                <a:latin typeface="+mj-lt"/>
              </a:rPr>
              <a:t>each</a:t>
            </a:r>
            <a:r>
              <a:rPr lang="de-DE" sz="2400" dirty="0">
                <a:latin typeface="+mj-lt"/>
              </a:rPr>
              <a:t> ODRL </a:t>
            </a:r>
            <a:r>
              <a:rPr lang="de-DE" sz="2400" dirty="0" err="1">
                <a:latin typeface="+mj-lt"/>
              </a:rPr>
              <a:t>rule</a:t>
            </a:r>
            <a:r>
              <a:rPr lang="de-DE" sz="2400" dirty="0">
                <a:latin typeface="+mj-lt"/>
              </a:rPr>
              <a:t> </a:t>
            </a:r>
            <a:r>
              <a:rPr lang="de-DE" sz="2400" dirty="0" err="1">
                <a:latin typeface="+mj-lt"/>
              </a:rPr>
              <a:t>establish</a:t>
            </a:r>
            <a:r>
              <a:rPr lang="de-DE" sz="2400" dirty="0">
                <a:latin typeface="+mj-lt"/>
              </a:rPr>
              <a:t> </a:t>
            </a:r>
            <a:r>
              <a:rPr lang="de-DE" sz="2400" dirty="0" err="1">
                <a:latin typeface="+mj-lt"/>
              </a:rPr>
              <a:t>when</a:t>
            </a:r>
            <a:r>
              <a:rPr lang="de-DE" sz="2400" dirty="0">
                <a:latin typeface="+mj-lt"/>
              </a:rPr>
              <a:t> a </a:t>
            </a:r>
            <a:r>
              <a:rPr lang="de-DE" sz="2400" dirty="0" err="1">
                <a:latin typeface="+mj-lt"/>
              </a:rPr>
              <a:t>policy</a:t>
            </a:r>
            <a:r>
              <a:rPr lang="de-DE" sz="2400" dirty="0">
                <a:latin typeface="+mj-lt"/>
              </a:rPr>
              <a:t> </a:t>
            </a:r>
            <a:r>
              <a:rPr lang="de-DE" sz="2400" dirty="0" err="1">
                <a:latin typeface="+mj-lt"/>
              </a:rPr>
              <a:t>is</a:t>
            </a:r>
            <a:r>
              <a:rPr lang="de-DE" sz="2400" dirty="0">
                <a:latin typeface="+mj-lt"/>
              </a:rPr>
              <a:t> in force?</a:t>
            </a:r>
          </a:p>
          <a:p>
            <a:pPr lvl="0"/>
            <a:endParaRPr lang="de-DE" sz="2400" b="1" dirty="0">
              <a:latin typeface="+mj-lt"/>
            </a:endParaRPr>
          </a:p>
          <a:p>
            <a:pPr lvl="0"/>
            <a:r>
              <a:rPr lang="de-DE" sz="2400" b="1" dirty="0">
                <a:latin typeface="+mj-lt"/>
              </a:rPr>
              <a:t>Permission: </a:t>
            </a:r>
            <a:r>
              <a:rPr lang="de-DE" sz="2400" dirty="0" err="1">
                <a:latin typeface="+mj-lt"/>
              </a:rPr>
              <a:t>what</a:t>
            </a:r>
            <a:r>
              <a:rPr lang="de-DE" sz="2400" dirty="0">
                <a:latin typeface="+mj-lt"/>
              </a:rPr>
              <a:t> </a:t>
            </a:r>
            <a:r>
              <a:rPr lang="de-DE" sz="2400" dirty="0" err="1">
                <a:latin typeface="+mj-lt"/>
              </a:rPr>
              <a:t>does</a:t>
            </a:r>
            <a:r>
              <a:rPr lang="de-DE" sz="2400" dirty="0">
                <a:latin typeface="+mj-lt"/>
              </a:rPr>
              <a:t> “</a:t>
            </a:r>
            <a:r>
              <a:rPr lang="de-DE" sz="2400" dirty="0" err="1">
                <a:latin typeface="+mj-lt"/>
              </a:rPr>
              <a:t>may</a:t>
            </a:r>
            <a:r>
              <a:rPr lang="de-DE" sz="2400" dirty="0">
                <a:latin typeface="+mj-lt"/>
              </a:rPr>
              <a:t> do” </a:t>
            </a:r>
            <a:r>
              <a:rPr lang="de-DE" sz="2400" dirty="0" err="1">
                <a:latin typeface="+mj-lt"/>
              </a:rPr>
              <a:t>establish</a:t>
            </a:r>
            <a:r>
              <a:rPr lang="de-DE" sz="2400" dirty="0">
                <a:latin typeface="+mj-lt"/>
              </a:rPr>
              <a:t>?</a:t>
            </a:r>
          </a:p>
          <a:p>
            <a:pPr lvl="0"/>
            <a:r>
              <a:rPr lang="de-DE" sz="2400" b="1" dirty="0">
                <a:latin typeface="+mj-lt"/>
              </a:rPr>
              <a:t>Prohibition: </a:t>
            </a:r>
            <a:r>
              <a:rPr lang="de-DE" sz="2400" dirty="0" err="1">
                <a:latin typeface="+mj-lt"/>
              </a:rPr>
              <a:t>what</a:t>
            </a:r>
            <a:r>
              <a:rPr lang="de-DE" sz="2400" dirty="0">
                <a:latin typeface="+mj-lt"/>
              </a:rPr>
              <a:t> </a:t>
            </a:r>
            <a:r>
              <a:rPr lang="de-DE" sz="2400" dirty="0" err="1">
                <a:latin typeface="+mj-lt"/>
              </a:rPr>
              <a:t>does</a:t>
            </a:r>
            <a:r>
              <a:rPr lang="de-DE" sz="2400" dirty="0">
                <a:latin typeface="+mj-lt"/>
              </a:rPr>
              <a:t> “</a:t>
            </a:r>
            <a:r>
              <a:rPr lang="de-DE" sz="2400" dirty="0" err="1">
                <a:latin typeface="+mj-lt"/>
              </a:rPr>
              <a:t>must</a:t>
            </a:r>
            <a:r>
              <a:rPr lang="de-DE" sz="2400" dirty="0">
                <a:latin typeface="+mj-lt"/>
              </a:rPr>
              <a:t> not do” </a:t>
            </a:r>
            <a:r>
              <a:rPr lang="de-DE" sz="2400" dirty="0" err="1">
                <a:latin typeface="+mj-lt"/>
              </a:rPr>
              <a:t>establish</a:t>
            </a:r>
            <a:r>
              <a:rPr lang="de-DE" sz="2400" dirty="0">
                <a:latin typeface="+mj-lt"/>
              </a:rPr>
              <a:t>?</a:t>
            </a:r>
          </a:p>
          <a:p>
            <a:pPr lvl="0"/>
            <a:r>
              <a:rPr lang="de-DE" sz="2400" b="1" dirty="0">
                <a:latin typeface="+mj-lt"/>
              </a:rPr>
              <a:t>Duty: </a:t>
            </a:r>
            <a:r>
              <a:rPr lang="de-DE" sz="2400" dirty="0" err="1">
                <a:latin typeface="+mj-lt"/>
              </a:rPr>
              <a:t>what</a:t>
            </a:r>
            <a:r>
              <a:rPr lang="de-DE" sz="2400" dirty="0">
                <a:latin typeface="+mj-lt"/>
              </a:rPr>
              <a:t> </a:t>
            </a:r>
            <a:r>
              <a:rPr lang="de-DE" sz="2400" dirty="0" err="1">
                <a:latin typeface="+mj-lt"/>
              </a:rPr>
              <a:t>does</a:t>
            </a:r>
            <a:r>
              <a:rPr lang="de-DE" sz="2400" dirty="0">
                <a:latin typeface="+mj-lt"/>
              </a:rPr>
              <a:t> “</a:t>
            </a:r>
            <a:r>
              <a:rPr lang="de-DE" sz="2400" dirty="0" err="1">
                <a:latin typeface="+mj-lt"/>
              </a:rPr>
              <a:t>must</a:t>
            </a:r>
            <a:r>
              <a:rPr lang="de-DE" sz="2400" dirty="0">
                <a:latin typeface="+mj-lt"/>
              </a:rPr>
              <a:t> do” </a:t>
            </a:r>
            <a:r>
              <a:rPr lang="de-DE" sz="2400" dirty="0" err="1">
                <a:latin typeface="+mj-lt"/>
              </a:rPr>
              <a:t>establish</a:t>
            </a:r>
            <a:r>
              <a:rPr lang="de-DE" sz="2400" dirty="0">
                <a:latin typeface="+mj-lt"/>
              </a:rPr>
              <a:t>?</a:t>
            </a:r>
          </a:p>
          <a:p>
            <a:pPr marL="0" lvl="0" indent="0">
              <a:buNone/>
            </a:pPr>
            <a:endParaRPr lang="de-DE" sz="2400" dirty="0">
              <a:latin typeface="+mj-lt"/>
            </a:endParaRPr>
          </a:p>
          <a:p>
            <a:r>
              <a:rPr lang="de-DE" sz="2400" dirty="0" err="1">
                <a:latin typeface="+mj-lt"/>
              </a:rPr>
              <a:t>Which</a:t>
            </a:r>
            <a:r>
              <a:rPr lang="de-DE" sz="2400" dirty="0">
                <a:latin typeface="+mj-lt"/>
              </a:rPr>
              <a:t> of </a:t>
            </a:r>
            <a:r>
              <a:rPr lang="de-DE" sz="2400" dirty="0" err="1">
                <a:latin typeface="+mj-lt"/>
              </a:rPr>
              <a:t>these</a:t>
            </a:r>
            <a:r>
              <a:rPr lang="de-DE" sz="2400" dirty="0">
                <a:latin typeface="+mj-lt"/>
              </a:rPr>
              <a:t> </a:t>
            </a:r>
            <a:r>
              <a:rPr lang="de-DE" sz="2400" dirty="0" err="1">
                <a:latin typeface="+mj-lt"/>
              </a:rPr>
              <a:t>positions</a:t>
            </a:r>
            <a:r>
              <a:rPr lang="de-DE" sz="2400" dirty="0">
                <a:latin typeface="+mj-lt"/>
              </a:rPr>
              <a:t> </a:t>
            </a:r>
            <a:r>
              <a:rPr lang="de-DE" sz="2400" dirty="0" err="1">
                <a:latin typeface="+mj-lt"/>
              </a:rPr>
              <a:t>remain</a:t>
            </a:r>
            <a:r>
              <a:rPr lang="de-DE" sz="2400" dirty="0">
                <a:latin typeface="+mj-lt"/>
              </a:rPr>
              <a:t> </a:t>
            </a:r>
            <a:r>
              <a:rPr lang="de-DE" sz="2400" dirty="0" err="1">
                <a:latin typeface="+mj-lt"/>
              </a:rPr>
              <a:t>implicit</a:t>
            </a:r>
            <a:r>
              <a:rPr lang="de-DE" sz="2400" dirty="0">
                <a:latin typeface="+mj-lt"/>
              </a:rPr>
              <a:t> in ODRL, and </a:t>
            </a:r>
            <a:r>
              <a:rPr lang="de-DE" sz="2400" dirty="0" err="1">
                <a:latin typeface="+mj-lt"/>
              </a:rPr>
              <a:t>which</a:t>
            </a:r>
            <a:r>
              <a:rPr lang="de-DE" sz="2400" dirty="0">
                <a:latin typeface="+mj-lt"/>
              </a:rPr>
              <a:t> </a:t>
            </a:r>
            <a:r>
              <a:rPr lang="de-DE" sz="2400" dirty="0" err="1">
                <a:latin typeface="+mj-lt"/>
              </a:rPr>
              <a:t>require</a:t>
            </a:r>
            <a:r>
              <a:rPr lang="de-DE" sz="2400" dirty="0">
                <a:latin typeface="+mj-lt"/>
              </a:rPr>
              <a:t> </a:t>
            </a:r>
            <a:r>
              <a:rPr lang="de-DE" sz="2400" dirty="0" err="1">
                <a:latin typeface="+mj-lt"/>
              </a:rPr>
              <a:t>competence</a:t>
            </a:r>
            <a:r>
              <a:rPr lang="de-DE" sz="2400" dirty="0">
                <a:latin typeface="+mj-lt"/>
              </a:rPr>
              <a:t>-level </a:t>
            </a:r>
            <a:r>
              <a:rPr lang="de-DE" sz="2400" dirty="0" err="1">
                <a:latin typeface="+mj-lt"/>
              </a:rPr>
              <a:t>grounding</a:t>
            </a:r>
            <a:r>
              <a:rPr lang="de-DE" sz="2400" dirty="0">
                <a:latin typeface="+mj-lt"/>
              </a:rPr>
              <a:t> in UFO-L?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Approach</a:t>
            </a:r>
          </a:p>
        </p:txBody>
      </p:sp>
      <p:sp>
        <p:nvSpPr>
          <p:cNvPr id="3" name="Content Placeholder 2"/>
          <p:cNvSpPr>
            <a:spLocks noGrp="1"/>
          </p:cNvSpPr>
          <p:nvPr>
            <p:ph idx="1"/>
          </p:nvPr>
        </p:nvSpPr>
        <p:spPr/>
        <p:txBody>
          <a:bodyPr>
            <a:noAutofit/>
          </a:bodyPr>
          <a:lstStyle/>
          <a:p>
            <a:r>
              <a:rPr sz="1900" b="1" dirty="0">
                <a:latin typeface="+mj-lt"/>
              </a:rPr>
              <a:t>A</a:t>
            </a:r>
            <a:r>
              <a:rPr lang="de-DE" sz="1800" b="1" dirty="0">
                <a:latin typeface="+mj-lt"/>
              </a:rPr>
              <a:t>Grounding in UFO-L</a:t>
            </a:r>
            <a:br>
              <a:rPr lang="de-DE" sz="1800" dirty="0">
                <a:latin typeface="+mj-lt"/>
              </a:rPr>
            </a:br>
            <a:r>
              <a:rPr lang="de-DE" sz="1800" dirty="0">
                <a:latin typeface="+mj-lt"/>
              </a:rPr>
              <a:t>Ground ODRL in </a:t>
            </a:r>
            <a:r>
              <a:rPr lang="de-DE" sz="1800" b="1" dirty="0">
                <a:latin typeface="+mj-lt"/>
              </a:rPr>
              <a:t>UFO-L</a:t>
            </a:r>
            <a:r>
              <a:rPr lang="de-DE" sz="1800" dirty="0">
                <a:latin typeface="+mj-lt"/>
              </a:rPr>
              <a:t>, the legal </a:t>
            </a:r>
            <a:r>
              <a:rPr lang="de-DE" sz="1800" dirty="0" err="1">
                <a:latin typeface="+mj-lt"/>
              </a:rPr>
              <a:t>core</a:t>
            </a:r>
            <a:r>
              <a:rPr lang="de-DE" sz="1800" dirty="0">
                <a:latin typeface="+mj-lt"/>
              </a:rPr>
              <a:t> </a:t>
            </a:r>
            <a:r>
              <a:rPr lang="de-DE" sz="1800" dirty="0" err="1">
                <a:latin typeface="+mj-lt"/>
              </a:rPr>
              <a:t>ontology</a:t>
            </a:r>
            <a:r>
              <a:rPr lang="de-DE" sz="1800" dirty="0">
                <a:latin typeface="+mj-lt"/>
              </a:rPr>
              <a:t> </a:t>
            </a:r>
            <a:r>
              <a:rPr lang="de-DE" sz="1800" dirty="0" err="1">
                <a:latin typeface="+mj-lt"/>
              </a:rPr>
              <a:t>built</a:t>
            </a:r>
            <a:r>
              <a:rPr lang="de-DE" sz="1800" dirty="0">
                <a:latin typeface="+mj-lt"/>
              </a:rPr>
              <a:t> on UFO, to </a:t>
            </a:r>
            <a:r>
              <a:rPr lang="de-DE" sz="1800" dirty="0" err="1">
                <a:latin typeface="+mj-lt"/>
              </a:rPr>
              <a:t>make</a:t>
            </a:r>
            <a:r>
              <a:rPr lang="de-DE" sz="1800" dirty="0">
                <a:latin typeface="+mj-lt"/>
              </a:rPr>
              <a:t> explicit </a:t>
            </a:r>
            <a:r>
              <a:rPr lang="de-DE" sz="1800" dirty="0" err="1">
                <a:latin typeface="+mj-lt"/>
              </a:rPr>
              <a:t>which</a:t>
            </a:r>
            <a:r>
              <a:rPr lang="de-DE" sz="1800" dirty="0">
                <a:latin typeface="+mj-lt"/>
              </a:rPr>
              <a:t> legal </a:t>
            </a:r>
            <a:r>
              <a:rPr lang="de-DE" sz="1800" dirty="0" err="1">
                <a:latin typeface="+mj-lt"/>
              </a:rPr>
              <a:t>relations</a:t>
            </a:r>
            <a:r>
              <a:rPr lang="de-DE" sz="1800" dirty="0">
                <a:latin typeface="+mj-lt"/>
              </a:rPr>
              <a:t> </a:t>
            </a:r>
            <a:r>
              <a:rPr lang="de-DE" sz="1800" dirty="0" err="1">
                <a:latin typeface="+mj-lt"/>
              </a:rPr>
              <a:t>exist</a:t>
            </a:r>
            <a:r>
              <a:rPr lang="de-DE" sz="1800" dirty="0">
                <a:latin typeface="+mj-lt"/>
              </a:rPr>
              <a:t> </a:t>
            </a:r>
            <a:r>
              <a:rPr lang="de-DE" sz="1800" dirty="0" err="1">
                <a:latin typeface="+mj-lt"/>
              </a:rPr>
              <a:t>when</a:t>
            </a:r>
            <a:r>
              <a:rPr lang="de-DE" sz="1800" dirty="0">
                <a:latin typeface="+mj-lt"/>
              </a:rPr>
              <a:t> a </a:t>
            </a:r>
            <a:r>
              <a:rPr lang="de-DE" sz="1800" dirty="0" err="1">
                <a:latin typeface="+mj-lt"/>
              </a:rPr>
              <a:t>policy</a:t>
            </a:r>
            <a:r>
              <a:rPr lang="de-DE" sz="1800" dirty="0">
                <a:latin typeface="+mj-lt"/>
              </a:rPr>
              <a:t> </a:t>
            </a:r>
            <a:r>
              <a:rPr lang="de-DE" sz="1800" dirty="0" err="1">
                <a:latin typeface="+mj-lt"/>
              </a:rPr>
              <a:t>is</a:t>
            </a:r>
            <a:r>
              <a:rPr lang="de-DE" sz="1800" dirty="0">
                <a:latin typeface="+mj-lt"/>
              </a:rPr>
              <a:t> in force.</a:t>
            </a:r>
          </a:p>
          <a:p>
            <a:pPr marL="0" indent="0">
              <a:buNone/>
            </a:pPr>
            <a:endParaRPr lang="de-DE" sz="1800" dirty="0">
              <a:latin typeface="+mj-lt"/>
            </a:endParaRPr>
          </a:p>
          <a:p>
            <a:r>
              <a:rPr lang="de-DE" sz="1800" b="1" dirty="0">
                <a:latin typeface="+mj-lt"/>
              </a:rPr>
              <a:t>Cross-Level Design </a:t>
            </a:r>
            <a:r>
              <a:rPr lang="de-DE" sz="1800" b="1" dirty="0" err="1">
                <a:latin typeface="+mj-lt"/>
              </a:rPr>
              <a:t>Principle</a:t>
            </a:r>
            <a:br>
              <a:rPr lang="de-DE" sz="1800" dirty="0">
                <a:latin typeface="+mj-lt"/>
              </a:rPr>
            </a:br>
            <a:r>
              <a:rPr lang="de-DE" sz="1800" dirty="0" err="1">
                <a:latin typeface="+mj-lt"/>
              </a:rPr>
              <a:t>Norms</a:t>
            </a:r>
            <a:r>
              <a:rPr lang="de-DE" sz="1800" dirty="0">
                <a:latin typeface="+mj-lt"/>
              </a:rPr>
              <a:t> </a:t>
            </a:r>
            <a:r>
              <a:rPr lang="de-DE" sz="1800" dirty="0" err="1">
                <a:latin typeface="+mj-lt"/>
              </a:rPr>
              <a:t>that</a:t>
            </a:r>
            <a:r>
              <a:rPr lang="de-DE" sz="1800" dirty="0">
                <a:latin typeface="+mj-lt"/>
              </a:rPr>
              <a:t> </a:t>
            </a:r>
            <a:r>
              <a:rPr lang="de-DE" sz="1800" dirty="0" err="1">
                <a:latin typeface="+mj-lt"/>
              </a:rPr>
              <a:t>can</a:t>
            </a:r>
            <a:r>
              <a:rPr lang="de-DE" sz="1800" dirty="0">
                <a:latin typeface="+mj-lt"/>
              </a:rPr>
              <a:t> </a:t>
            </a:r>
            <a:r>
              <a:rPr lang="de-DE" sz="1800" dirty="0" err="1">
                <a:latin typeface="+mj-lt"/>
              </a:rPr>
              <a:t>be</a:t>
            </a:r>
            <a:r>
              <a:rPr lang="de-DE" sz="1800" dirty="0">
                <a:latin typeface="+mj-lt"/>
              </a:rPr>
              <a:t> </a:t>
            </a:r>
            <a:r>
              <a:rPr lang="de-DE" sz="1800" b="1" dirty="0" err="1">
                <a:latin typeface="+mj-lt"/>
              </a:rPr>
              <a:t>violated</a:t>
            </a:r>
            <a:r>
              <a:rPr lang="de-DE" sz="1800" b="1" dirty="0">
                <a:latin typeface="+mj-lt"/>
              </a:rPr>
              <a:t> and </a:t>
            </a:r>
            <a:r>
              <a:rPr lang="de-DE" sz="1800" b="1" dirty="0" err="1">
                <a:latin typeface="+mj-lt"/>
              </a:rPr>
              <a:t>have</a:t>
            </a:r>
            <a:r>
              <a:rPr lang="de-DE" sz="1800" b="1" dirty="0">
                <a:latin typeface="+mj-lt"/>
              </a:rPr>
              <a:t> </a:t>
            </a:r>
            <a:r>
              <a:rPr lang="de-DE" sz="1800" b="1" dirty="0" err="1">
                <a:latin typeface="+mj-lt"/>
              </a:rPr>
              <a:t>consequences</a:t>
            </a:r>
            <a:r>
              <a:rPr lang="de-DE" sz="1800" dirty="0">
                <a:latin typeface="+mj-lt"/>
              </a:rPr>
              <a:t> </a:t>
            </a:r>
            <a:r>
              <a:rPr lang="de-DE" sz="1800" dirty="0" err="1">
                <a:latin typeface="+mj-lt"/>
              </a:rPr>
              <a:t>require</a:t>
            </a:r>
            <a:r>
              <a:rPr lang="de-DE" sz="1800" dirty="0">
                <a:latin typeface="+mj-lt"/>
              </a:rPr>
              <a:t> </a:t>
            </a:r>
            <a:r>
              <a:rPr lang="de-DE" sz="1800" dirty="0" err="1">
                <a:latin typeface="+mj-lt"/>
              </a:rPr>
              <a:t>two</a:t>
            </a:r>
            <a:r>
              <a:rPr lang="de-DE" sz="1800" dirty="0">
                <a:latin typeface="+mj-lt"/>
              </a:rPr>
              <a:t> </a:t>
            </a:r>
            <a:r>
              <a:rPr lang="de-DE" sz="1800" dirty="0" err="1">
                <a:latin typeface="+mj-lt"/>
              </a:rPr>
              <a:t>levels</a:t>
            </a:r>
            <a:r>
              <a:rPr lang="de-DE" sz="1800" dirty="0">
                <a:latin typeface="+mj-lt"/>
              </a:rPr>
              <a:t> of legal </a:t>
            </a:r>
            <a:r>
              <a:rPr lang="de-DE" sz="1800" dirty="0" err="1">
                <a:latin typeface="+mj-lt"/>
              </a:rPr>
              <a:t>positions</a:t>
            </a:r>
            <a:r>
              <a:rPr lang="de-DE" sz="1800" dirty="0">
                <a:latin typeface="+mj-lt"/>
              </a:rPr>
              <a:t>:</a:t>
            </a:r>
          </a:p>
          <a:p>
            <a:pPr lvl="1"/>
            <a:r>
              <a:rPr lang="de-DE" sz="1600" b="1" dirty="0">
                <a:latin typeface="+mj-lt"/>
              </a:rPr>
              <a:t>Conduct:</a:t>
            </a:r>
            <a:r>
              <a:rPr lang="de-DE" sz="1600" dirty="0">
                <a:latin typeface="+mj-lt"/>
              </a:rPr>
              <a:t> who </a:t>
            </a:r>
            <a:r>
              <a:rPr lang="de-DE" sz="1600" dirty="0" err="1">
                <a:latin typeface="+mj-lt"/>
              </a:rPr>
              <a:t>may</a:t>
            </a:r>
            <a:r>
              <a:rPr lang="de-DE" sz="1600" dirty="0">
                <a:latin typeface="+mj-lt"/>
              </a:rPr>
              <a:t> </a:t>
            </a:r>
            <a:r>
              <a:rPr lang="de-DE" sz="1600" dirty="0" err="1">
                <a:latin typeface="+mj-lt"/>
              </a:rPr>
              <a:t>or</a:t>
            </a:r>
            <a:r>
              <a:rPr lang="de-DE" sz="1600" dirty="0">
                <a:latin typeface="+mj-lt"/>
              </a:rPr>
              <a:t> </a:t>
            </a:r>
            <a:r>
              <a:rPr lang="de-DE" sz="1600" dirty="0" err="1">
                <a:latin typeface="+mj-lt"/>
              </a:rPr>
              <a:t>must</a:t>
            </a:r>
            <a:r>
              <a:rPr lang="de-DE" sz="1600" dirty="0">
                <a:latin typeface="+mj-lt"/>
              </a:rPr>
              <a:t> do </a:t>
            </a:r>
            <a:r>
              <a:rPr lang="de-DE" sz="1600" dirty="0" err="1">
                <a:latin typeface="+mj-lt"/>
              </a:rPr>
              <a:t>what</a:t>
            </a:r>
            <a:r>
              <a:rPr lang="de-DE" sz="1600" dirty="0">
                <a:latin typeface="+mj-lt"/>
              </a:rPr>
              <a:t>.</a:t>
            </a:r>
          </a:p>
          <a:p>
            <a:pPr lvl="1"/>
            <a:r>
              <a:rPr lang="de-DE" sz="1600" b="1" dirty="0">
                <a:latin typeface="+mj-lt"/>
              </a:rPr>
              <a:t>Competence:</a:t>
            </a:r>
            <a:r>
              <a:rPr lang="de-DE" sz="1600" dirty="0">
                <a:latin typeface="+mj-lt"/>
              </a:rPr>
              <a:t> who </a:t>
            </a:r>
            <a:r>
              <a:rPr lang="de-DE" sz="1600" dirty="0" err="1">
                <a:latin typeface="+mj-lt"/>
              </a:rPr>
              <a:t>has</a:t>
            </a:r>
            <a:r>
              <a:rPr lang="de-DE" sz="1600" dirty="0">
                <a:latin typeface="+mj-lt"/>
              </a:rPr>
              <a:t> </a:t>
            </a:r>
            <a:r>
              <a:rPr lang="de-DE" sz="1600" dirty="0" err="1">
                <a:latin typeface="+mj-lt"/>
              </a:rPr>
              <a:t>authority</a:t>
            </a:r>
            <a:r>
              <a:rPr lang="de-DE" sz="1600" dirty="0">
                <a:latin typeface="+mj-lt"/>
              </a:rPr>
              <a:t> to change </a:t>
            </a:r>
            <a:r>
              <a:rPr lang="de-DE" sz="1600" dirty="0" err="1">
                <a:latin typeface="+mj-lt"/>
              </a:rPr>
              <a:t>or</a:t>
            </a:r>
            <a:r>
              <a:rPr lang="de-DE" sz="1600" dirty="0">
                <a:latin typeface="+mj-lt"/>
              </a:rPr>
              <a:t> </a:t>
            </a:r>
            <a:r>
              <a:rPr lang="de-DE" sz="1600" dirty="0" err="1">
                <a:latin typeface="+mj-lt"/>
              </a:rPr>
              <a:t>declare</a:t>
            </a:r>
            <a:r>
              <a:rPr lang="de-DE" sz="1600" dirty="0">
                <a:latin typeface="+mj-lt"/>
              </a:rPr>
              <a:t> a legal </a:t>
            </a:r>
            <a:r>
              <a:rPr lang="de-DE" sz="1600" dirty="0" err="1">
                <a:latin typeface="+mj-lt"/>
              </a:rPr>
              <a:t>position</a:t>
            </a:r>
            <a:r>
              <a:rPr lang="de-DE" sz="1600" dirty="0">
                <a:latin typeface="+mj-lt"/>
              </a:rPr>
              <a:t>.</a:t>
            </a:r>
          </a:p>
          <a:p>
            <a:pPr lvl="1"/>
            <a:endParaRPr lang="de-DE" sz="1600" dirty="0">
              <a:latin typeface="+mj-lt"/>
            </a:endParaRPr>
          </a:p>
          <a:p>
            <a:r>
              <a:rPr lang="de-DE" sz="1800" b="1" dirty="0">
                <a:latin typeface="+mj-lt"/>
              </a:rPr>
              <a:t>Grounding</a:t>
            </a:r>
            <a:br>
              <a:rPr lang="de-DE" sz="1800" dirty="0">
                <a:latin typeface="+mj-lt"/>
              </a:rPr>
            </a:br>
            <a:r>
              <a:rPr lang="de-DE" sz="1800" dirty="0">
                <a:latin typeface="+mj-lt"/>
              </a:rPr>
              <a:t>An </a:t>
            </a:r>
            <a:r>
              <a:rPr lang="de-DE" sz="1800" dirty="0" err="1">
                <a:latin typeface="+mj-lt"/>
              </a:rPr>
              <a:t>active</a:t>
            </a:r>
            <a:r>
              <a:rPr lang="de-DE" sz="1800" dirty="0">
                <a:latin typeface="+mj-lt"/>
              </a:rPr>
              <a:t> ODRL </a:t>
            </a:r>
            <a:r>
              <a:rPr lang="de-DE" sz="1800" dirty="0" err="1">
                <a:latin typeface="+mj-lt"/>
              </a:rPr>
              <a:t>rule</a:t>
            </a:r>
            <a:r>
              <a:rPr lang="de-DE" sz="1800" dirty="0">
                <a:latin typeface="+mj-lt"/>
              </a:rPr>
              <a:t> </a:t>
            </a:r>
            <a:r>
              <a:rPr lang="de-DE" sz="1800" dirty="0" err="1">
                <a:latin typeface="+mj-lt"/>
              </a:rPr>
              <a:t>grounds</a:t>
            </a:r>
            <a:r>
              <a:rPr lang="de-DE" sz="1800" dirty="0">
                <a:latin typeface="+mj-lt"/>
              </a:rPr>
              <a:t> a </a:t>
            </a:r>
            <a:r>
              <a:rPr lang="de-DE" sz="1800" b="1" dirty="0">
                <a:latin typeface="+mj-lt"/>
              </a:rPr>
              <a:t>legal </a:t>
            </a:r>
            <a:r>
              <a:rPr lang="de-DE" sz="1800" b="1" dirty="0" err="1">
                <a:latin typeface="+mj-lt"/>
              </a:rPr>
              <a:t>relator</a:t>
            </a:r>
            <a:r>
              <a:rPr lang="de-DE" sz="1800" dirty="0">
                <a:latin typeface="+mj-lt"/>
              </a:rPr>
              <a:t> </a:t>
            </a:r>
            <a:r>
              <a:rPr lang="de-DE" sz="1800" dirty="0" err="1">
                <a:latin typeface="+mj-lt"/>
              </a:rPr>
              <a:t>between</a:t>
            </a:r>
            <a:r>
              <a:rPr lang="de-DE" sz="1800" dirty="0">
                <a:latin typeface="+mj-lt"/>
              </a:rPr>
              <a:t> the </a:t>
            </a:r>
            <a:r>
              <a:rPr lang="de-DE" sz="1800" dirty="0" err="1">
                <a:latin typeface="+mj-lt"/>
              </a:rPr>
              <a:t>parties</a:t>
            </a:r>
            <a:r>
              <a:rPr lang="de-DE" sz="1800" dirty="0">
                <a:latin typeface="+mj-lt"/>
              </a:rPr>
              <a:t>. </a:t>
            </a:r>
            <a:r>
              <a:rPr lang="de-DE" sz="1800" dirty="0" err="1">
                <a:latin typeface="+mj-lt"/>
              </a:rPr>
              <a:t>Across</a:t>
            </a:r>
            <a:r>
              <a:rPr lang="de-DE" sz="1800" dirty="0">
                <a:latin typeface="+mj-lt"/>
              </a:rPr>
              <a:t> the </a:t>
            </a:r>
            <a:r>
              <a:rPr lang="de-DE" sz="1800" dirty="0" err="1">
                <a:latin typeface="+mj-lt"/>
              </a:rPr>
              <a:t>grounding</a:t>
            </a:r>
            <a:r>
              <a:rPr lang="de-DE" sz="1800" dirty="0">
                <a:latin typeface="+mj-lt"/>
              </a:rPr>
              <a:t>, </a:t>
            </a:r>
            <a:r>
              <a:rPr lang="de-DE" sz="1800" b="1" dirty="0">
                <a:latin typeface="+mj-lt"/>
              </a:rPr>
              <a:t>UFO-L legal </a:t>
            </a:r>
            <a:r>
              <a:rPr lang="de-DE" sz="1800" b="1" dirty="0" err="1">
                <a:latin typeface="+mj-lt"/>
              </a:rPr>
              <a:t>positions</a:t>
            </a:r>
            <a:r>
              <a:rPr lang="de-DE" sz="1800" dirty="0">
                <a:latin typeface="+mj-lt"/>
              </a:rPr>
              <a:t> </a:t>
            </a:r>
            <a:r>
              <a:rPr lang="de-DE" sz="1800" dirty="0" err="1">
                <a:latin typeface="+mj-lt"/>
              </a:rPr>
              <a:t>become</a:t>
            </a:r>
            <a:r>
              <a:rPr lang="de-DE" sz="1800" dirty="0">
                <a:latin typeface="+mj-lt"/>
              </a:rPr>
              <a:t> explicit, </a:t>
            </a:r>
            <a:r>
              <a:rPr lang="de-DE" sz="1800" dirty="0" err="1">
                <a:latin typeface="+mj-lt"/>
              </a:rPr>
              <a:t>including</a:t>
            </a:r>
            <a:r>
              <a:rPr lang="de-DE" sz="1800" dirty="0">
                <a:latin typeface="+mj-lt"/>
              </a:rPr>
              <a:t> </a:t>
            </a:r>
            <a:r>
              <a:rPr lang="de-DE" sz="1800" dirty="0" err="1">
                <a:latin typeface="+mj-lt"/>
              </a:rPr>
              <a:t>authority</a:t>
            </a:r>
            <a:r>
              <a:rPr lang="de-DE" sz="1800" dirty="0">
                <a:latin typeface="+mj-lt"/>
              </a:rPr>
              <a:t> to </a:t>
            </a:r>
            <a:r>
              <a:rPr lang="de-DE" sz="1800" dirty="0" err="1">
                <a:latin typeface="+mj-lt"/>
              </a:rPr>
              <a:t>declare</a:t>
            </a:r>
            <a:r>
              <a:rPr lang="de-DE" sz="1800" dirty="0">
                <a:latin typeface="+mj-lt"/>
              </a:rPr>
              <a:t> a </a:t>
            </a:r>
            <a:r>
              <a:rPr lang="de-DE" sz="1800" dirty="0" err="1">
                <a:latin typeface="+mj-lt"/>
              </a:rPr>
              <a:t>violation</a:t>
            </a:r>
            <a:r>
              <a:rPr lang="de-DE" sz="1800" dirty="0">
                <a:latin typeface="+mj-lt"/>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UFO-L: legal positions come in correlative pairs</a:t>
            </a:r>
          </a:p>
        </p:txBody>
      </p:sp>
      <p:sp>
        <p:nvSpPr>
          <p:cNvPr id="4" name="Oval 3"/>
          <p:cNvSpPr/>
          <p:nvPr/>
        </p:nvSpPr>
        <p:spPr>
          <a:xfrm>
            <a:off x="685800" y="2377439"/>
            <a:ext cx="1005840" cy="1005840"/>
          </a:xfrm>
          <a:prstGeom prst="ellipse">
            <a:avLst/>
          </a:prstGeom>
          <a:noFill/>
          <a:ln w="15875">
            <a:solidFill>
              <a:srgbClr val="000000"/>
            </a:solidFill>
          </a:ln>
        </p:spPr>
        <p:txBody>
          <a:bodyPr wrap="square" tIns="36576" bIns="36576" rtlCol="0" anchor="ctr">
            <a:noAutofit/>
          </a:bodyPr>
          <a:lstStyle/>
          <a:p>
            <a:pPr marL="0" indent="0" algn="ctr">
              <a:buNone/>
            </a:pPr>
            <a:r>
              <a:rPr lang="en-US" sz="2600" b="0" i="1" noProof="0" dirty="0">
                <a:solidFill>
                  <a:srgbClr val="000000"/>
                </a:solidFill>
                <a:latin typeface="Cambria Math"/>
              </a:rPr>
              <a:t>x</a:t>
            </a:r>
          </a:p>
        </p:txBody>
      </p:sp>
      <p:sp>
        <p:nvSpPr>
          <p:cNvPr id="5" name="Oval 4"/>
          <p:cNvSpPr/>
          <p:nvPr/>
        </p:nvSpPr>
        <p:spPr>
          <a:xfrm>
            <a:off x="4526280" y="2377439"/>
            <a:ext cx="1005840" cy="1005840"/>
          </a:xfrm>
          <a:prstGeom prst="ellipse">
            <a:avLst/>
          </a:prstGeom>
          <a:noFill/>
          <a:ln w="15875">
            <a:solidFill>
              <a:srgbClr val="000000"/>
            </a:solidFill>
          </a:ln>
        </p:spPr>
        <p:txBody>
          <a:bodyPr wrap="square" tIns="36576" bIns="36576" rtlCol="0" anchor="ctr">
            <a:noAutofit/>
          </a:bodyPr>
          <a:lstStyle/>
          <a:p>
            <a:pPr marL="0" indent="0" algn="ctr">
              <a:buNone/>
            </a:pPr>
            <a:r>
              <a:rPr lang="en-US" sz="2600" b="0" i="1" noProof="0" dirty="0">
                <a:solidFill>
                  <a:srgbClr val="000000"/>
                </a:solidFill>
                <a:latin typeface="Cambria Math"/>
              </a:rPr>
              <a:t>y</a:t>
            </a:r>
          </a:p>
        </p:txBody>
      </p:sp>
      <p:sp>
        <p:nvSpPr>
          <p:cNvPr id="6" name="Rectangle 5"/>
          <p:cNvSpPr/>
          <p:nvPr/>
        </p:nvSpPr>
        <p:spPr>
          <a:xfrm>
            <a:off x="2011680" y="2423160"/>
            <a:ext cx="2240280" cy="914400"/>
          </a:xfrm>
          <a:prstGeom prst="rect">
            <a:avLst/>
          </a:prstGeom>
          <a:noFill/>
          <a:ln w="19050">
            <a:solidFill>
              <a:srgbClr val="0B4F6C"/>
            </a:solidFill>
          </a:ln>
        </p:spPr>
        <p:txBody>
          <a:bodyPr rtlCol="0" anchor="ctr"/>
          <a:lstStyle/>
          <a:p>
            <a:pPr algn="ctr"/>
            <a:endParaRPr lang="en-US" noProof="0" dirty="0"/>
          </a:p>
        </p:txBody>
      </p:sp>
      <p:sp>
        <p:nvSpPr>
          <p:cNvPr id="7" name="Rectangle 6"/>
          <p:cNvSpPr/>
          <p:nvPr/>
        </p:nvSpPr>
        <p:spPr>
          <a:xfrm>
            <a:off x="2103120" y="2542032"/>
            <a:ext cx="978408" cy="676656"/>
          </a:xfrm>
          <a:prstGeom prst="rect">
            <a:avLst/>
          </a:prstGeom>
          <a:noFill/>
          <a:ln w="12700">
            <a:solidFill>
              <a:srgbClr val="137A62"/>
            </a:solidFill>
          </a:ln>
        </p:spPr>
        <p:txBody>
          <a:bodyPr wrap="square" tIns="36576" bIns="36576" rtlCol="0" anchor="ctr">
            <a:noAutofit/>
          </a:bodyPr>
          <a:lstStyle/>
          <a:p>
            <a:pPr marL="0" indent="0" algn="ctr">
              <a:buNone/>
            </a:pPr>
            <a:r>
              <a:rPr lang="en-US" sz="1600" b="1" noProof="0" dirty="0">
                <a:solidFill>
                  <a:srgbClr val="137A62"/>
                </a:solidFill>
              </a:rPr>
              <a:t>Duty</a:t>
            </a:r>
          </a:p>
        </p:txBody>
      </p:sp>
      <p:sp>
        <p:nvSpPr>
          <p:cNvPr id="8" name="Rectangle 7"/>
          <p:cNvSpPr/>
          <p:nvPr/>
        </p:nvSpPr>
        <p:spPr>
          <a:xfrm>
            <a:off x="3182112" y="2542032"/>
            <a:ext cx="978408" cy="676656"/>
          </a:xfrm>
          <a:prstGeom prst="rect">
            <a:avLst/>
          </a:prstGeom>
          <a:noFill/>
          <a:ln w="12700">
            <a:solidFill>
              <a:srgbClr val="137A62"/>
            </a:solidFill>
          </a:ln>
        </p:spPr>
        <p:txBody>
          <a:bodyPr wrap="square" tIns="36576" bIns="36576" rtlCol="0" anchor="ctr">
            <a:noAutofit/>
          </a:bodyPr>
          <a:lstStyle/>
          <a:p>
            <a:pPr marL="0" indent="0" algn="ctr">
              <a:buNone/>
            </a:pPr>
            <a:r>
              <a:rPr lang="en-US" sz="1600" b="1" noProof="0" dirty="0">
                <a:solidFill>
                  <a:srgbClr val="137A62"/>
                </a:solidFill>
              </a:rPr>
              <a:t>Right</a:t>
            </a:r>
          </a:p>
        </p:txBody>
      </p:sp>
      <p:cxnSp>
        <p:nvCxnSpPr>
          <p:cNvPr id="9" name="Connector 8"/>
          <p:cNvCxnSpPr/>
          <p:nvPr/>
        </p:nvCxnSpPr>
        <p:spPr>
          <a:xfrm>
            <a:off x="1691640" y="2880360"/>
            <a:ext cx="320040" cy="0"/>
          </a:xfrm>
          <a:prstGeom prst="line">
            <a:avLst/>
          </a:prstGeom>
          <a:ln w="15875">
            <a:solidFill>
              <a:srgbClr val="000000"/>
            </a:solidFill>
          </a:ln>
        </p:spPr>
      </p:cxnSp>
      <p:cxnSp>
        <p:nvCxnSpPr>
          <p:cNvPr id="10" name="Connector 9"/>
          <p:cNvCxnSpPr/>
          <p:nvPr/>
        </p:nvCxnSpPr>
        <p:spPr>
          <a:xfrm>
            <a:off x="4251960" y="2880360"/>
            <a:ext cx="274320" cy="0"/>
          </a:xfrm>
          <a:prstGeom prst="line">
            <a:avLst/>
          </a:prstGeom>
          <a:ln w="15875">
            <a:solidFill>
              <a:srgbClr val="000000"/>
            </a:solidFill>
          </a:ln>
        </p:spPr>
      </p:cxnSp>
      <p:sp>
        <p:nvSpPr>
          <p:cNvPr id="11" name="Oval 10"/>
          <p:cNvSpPr/>
          <p:nvPr/>
        </p:nvSpPr>
        <p:spPr>
          <a:xfrm>
            <a:off x="2926080" y="1737360"/>
            <a:ext cx="402336" cy="402336"/>
          </a:xfrm>
          <a:prstGeom prst="ellipse">
            <a:avLst/>
          </a:prstGeom>
          <a:noFill/>
          <a:ln w="12700">
            <a:solidFill>
              <a:srgbClr val="5F6B76"/>
            </a:solidFill>
          </a:ln>
        </p:spPr>
        <p:txBody>
          <a:bodyPr wrap="square" lIns="0" tIns="36576" rIns="0" bIns="36576" rtlCol="0" anchor="ctr">
            <a:noAutofit/>
          </a:bodyPr>
          <a:lstStyle/>
          <a:p>
            <a:pPr marL="0" indent="0" algn="ctr">
              <a:buNone/>
            </a:pPr>
            <a:r>
              <a:rPr lang="en-US" sz="1600" b="0" i="1" noProof="0" dirty="0">
                <a:solidFill>
                  <a:srgbClr val="000000"/>
                </a:solidFill>
                <a:latin typeface="Cambria Math"/>
              </a:rPr>
              <a:t>e</a:t>
            </a:r>
          </a:p>
        </p:txBody>
      </p:sp>
      <p:cxnSp>
        <p:nvCxnSpPr>
          <p:cNvPr id="12" name="Connector 11"/>
          <p:cNvCxnSpPr/>
          <p:nvPr/>
        </p:nvCxnSpPr>
        <p:spPr>
          <a:xfrm>
            <a:off x="3127248" y="2139696"/>
            <a:ext cx="0" cy="283464"/>
          </a:xfrm>
          <a:prstGeom prst="line">
            <a:avLst/>
          </a:prstGeom>
          <a:ln w="15875">
            <a:solidFill>
              <a:srgbClr val="5F6B76"/>
            </a:solidFill>
            <a:tailEnd type="triangle" w="med" len="med"/>
          </a:ln>
        </p:spPr>
      </p:cxnSp>
      <p:sp>
        <p:nvSpPr>
          <p:cNvPr id="13" name="TextBox 12"/>
          <p:cNvSpPr txBox="1"/>
          <p:nvPr/>
        </p:nvSpPr>
        <p:spPr>
          <a:xfrm>
            <a:off x="3246120" y="2176272"/>
            <a:ext cx="1097280" cy="274320"/>
          </a:xfrm>
          <a:prstGeom prst="rect">
            <a:avLst/>
          </a:prstGeom>
          <a:noFill/>
        </p:spPr>
        <p:txBody>
          <a:bodyPr wrap="square" lIns="0" tIns="0" rIns="0" bIns="0" anchor="t">
            <a:noAutofit/>
          </a:bodyPr>
          <a:lstStyle/>
          <a:p>
            <a:pPr marL="0" indent="0">
              <a:buNone/>
            </a:pPr>
            <a:r>
              <a:rPr lang="en-US" sz="1200" i="1" noProof="0" dirty="0">
                <a:solidFill>
                  <a:srgbClr val="5F6B76"/>
                </a:solidFill>
              </a:rPr>
              <a:t>founds</a:t>
            </a:r>
          </a:p>
        </p:txBody>
      </p:sp>
      <p:sp>
        <p:nvSpPr>
          <p:cNvPr id="14" name="TextBox 13"/>
          <p:cNvSpPr txBox="1"/>
          <p:nvPr/>
        </p:nvSpPr>
        <p:spPr>
          <a:xfrm>
            <a:off x="603305" y="4127125"/>
            <a:ext cx="11091672" cy="1975501"/>
          </a:xfrm>
          <a:prstGeom prst="rect">
            <a:avLst/>
          </a:prstGeom>
          <a:noFill/>
        </p:spPr>
        <p:txBody>
          <a:bodyPr wrap="square" lIns="0" tIns="0" rIns="0" bIns="0" anchor="t">
            <a:noAutofit/>
          </a:bodyPr>
          <a:lstStyle/>
          <a:p>
            <a:pPr marL="285750" indent="-285750">
              <a:buClr>
                <a:srgbClr val="0B4F6C"/>
              </a:buClr>
              <a:buFont typeface="Arial"/>
              <a:buChar char="•"/>
            </a:pPr>
            <a:r>
              <a:rPr lang="en-US" sz="1900" noProof="0" dirty="0">
                <a:latin typeface="+mj-lt"/>
              </a:rPr>
              <a:t>An </a:t>
            </a:r>
            <a:r>
              <a:rPr lang="en-US" sz="1900" b="1" noProof="0" dirty="0">
                <a:latin typeface="+mj-lt"/>
              </a:rPr>
              <a:t>event</a:t>
            </a:r>
            <a:r>
              <a:rPr lang="en-US" sz="1900" noProof="0" dirty="0">
                <a:latin typeface="+mj-lt"/>
              </a:rPr>
              <a:t> founds a </a:t>
            </a:r>
            <a:r>
              <a:rPr lang="en-US" sz="1900" b="1" noProof="0" dirty="0">
                <a:latin typeface="+mj-lt"/>
              </a:rPr>
              <a:t>simple legal relator</a:t>
            </a:r>
            <a:r>
              <a:rPr lang="en-US" sz="1900" noProof="0" dirty="0">
                <a:latin typeface="+mj-lt"/>
              </a:rPr>
              <a:t>.</a:t>
            </a:r>
          </a:p>
          <a:p>
            <a:pPr marL="285750" indent="-285750">
              <a:buClr>
                <a:srgbClr val="0B4F6C"/>
              </a:buClr>
              <a:buFont typeface="Arial"/>
              <a:buChar char="•"/>
            </a:pPr>
            <a:r>
              <a:rPr lang="en-US" sz="1900" noProof="0" dirty="0">
                <a:latin typeface="+mj-lt"/>
              </a:rPr>
              <a:t>The relator bundles two </a:t>
            </a:r>
            <a:r>
              <a:rPr lang="en-US" sz="1900" b="1" noProof="0" dirty="0">
                <a:latin typeface="+mj-lt"/>
              </a:rPr>
              <a:t>correlative positions</a:t>
            </a:r>
            <a:r>
              <a:rPr lang="en-US" sz="1900" noProof="0" dirty="0">
                <a:latin typeface="+mj-lt"/>
              </a:rPr>
              <a:t>, one each party.</a:t>
            </a:r>
            <a:endParaRPr lang="en-US" sz="1900" noProof="0" dirty="0">
              <a:solidFill>
                <a:srgbClr val="000000"/>
              </a:solidFill>
              <a:latin typeface="+mj-lt"/>
            </a:endParaRPr>
          </a:p>
          <a:p>
            <a:pPr marL="285750" indent="-285750">
              <a:buClr>
                <a:srgbClr val="0B4F6C"/>
              </a:buClr>
              <a:buFont typeface="Arial"/>
              <a:buChar char="•"/>
            </a:pPr>
            <a:r>
              <a:rPr lang="en-US" sz="1900" dirty="0">
                <a:latin typeface="+mj-lt"/>
              </a:rPr>
              <a:t>Each legal position belongs to one party and exists in relation to the other party.</a:t>
            </a:r>
          </a:p>
          <a:p>
            <a:pPr>
              <a:buClr>
                <a:srgbClr val="0B4F6C"/>
              </a:buClr>
            </a:pPr>
            <a:endParaRPr lang="en-US" sz="1900" dirty="0">
              <a:latin typeface="+mj-lt"/>
            </a:endParaRPr>
          </a:p>
        </p:txBody>
      </p:sp>
      <p:graphicFrame>
        <p:nvGraphicFramePr>
          <p:cNvPr id="15" name="Table 14"/>
          <p:cNvGraphicFramePr>
            <a:graphicFrameLocks noGrp="1"/>
          </p:cNvGraphicFramePr>
          <p:nvPr>
            <p:extLst>
              <p:ext uri="{D42A27DB-BD31-4B8C-83A1-F6EECF244321}">
                <p14:modId xmlns:p14="http://schemas.microsoft.com/office/powerpoint/2010/main" val="819572125"/>
              </p:ext>
            </p:extLst>
          </p:nvPr>
        </p:nvGraphicFramePr>
        <p:xfrm>
          <a:off x="6277356" y="1828800"/>
          <a:ext cx="5362957" cy="2194560"/>
        </p:xfrm>
        <a:graphic>
          <a:graphicData uri="http://schemas.openxmlformats.org/drawingml/2006/table">
            <a:tbl>
              <a:tblPr>
                <a:tableStyleId>{2D5ABB26-0587-4C30-8999-92F81FD0307C}</a:tableStyleId>
              </a:tblPr>
              <a:tblGrid>
                <a:gridCol w="2057400">
                  <a:extLst>
                    <a:ext uri="{9D8B030D-6E8A-4147-A177-3AD203B41FA5}">
                      <a16:colId xmlns:a16="http://schemas.microsoft.com/office/drawing/2014/main" val="20000"/>
                    </a:ext>
                  </a:extLst>
                </a:gridCol>
                <a:gridCol w="1691641">
                  <a:extLst>
                    <a:ext uri="{9D8B030D-6E8A-4147-A177-3AD203B41FA5}">
                      <a16:colId xmlns:a16="http://schemas.microsoft.com/office/drawing/2014/main" val="20001"/>
                    </a:ext>
                  </a:extLst>
                </a:gridCol>
                <a:gridCol w="1613916">
                  <a:extLst>
                    <a:ext uri="{9D8B030D-6E8A-4147-A177-3AD203B41FA5}">
                      <a16:colId xmlns:a16="http://schemas.microsoft.com/office/drawing/2014/main" val="20002"/>
                    </a:ext>
                  </a:extLst>
                </a:gridCol>
              </a:tblGrid>
              <a:tr h="548640">
                <a:tc rowSpan="2">
                  <a:txBody>
                    <a:bodyPr/>
                    <a:lstStyle/>
                    <a:p>
                      <a:r>
                        <a:rPr lang="en-US" sz="1800" b="1" noProof="0" dirty="0">
                          <a:solidFill>
                            <a:schemeClr val="accent3">
                              <a:lumMod val="50000"/>
                            </a:schemeClr>
                          </a:solidFill>
                        </a:rPr>
                        <a:t>Conduct</a:t>
                      </a:r>
                    </a:p>
                    <a:p>
                      <a:r>
                        <a:rPr lang="en-US" sz="1300" i="1" noProof="0" dirty="0">
                          <a:solidFill>
                            <a:schemeClr val="accent3">
                              <a:lumMod val="50000"/>
                            </a:schemeClr>
                          </a:solidFill>
                        </a:rPr>
                        <a:t>may, must</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lang="en-US" sz="1800" noProof="0" dirty="0">
                          <a:solidFill>
                            <a:schemeClr val="accent3">
                              <a:lumMod val="50000"/>
                            </a:schemeClr>
                          </a:solidFill>
                        </a:rPr>
                        <a:t>Permission</a:t>
                      </a:r>
                    </a:p>
                  </a:txBody>
                  <a:tcPr marT="27432" marB="27432"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r>
                        <a:rPr lang="en-US" sz="1800" noProof="0" dirty="0">
                          <a:solidFill>
                            <a:schemeClr val="accent3">
                              <a:lumMod val="50000"/>
                            </a:schemeClr>
                          </a:solidFill>
                        </a:rPr>
                        <a:t>No Right</a:t>
                      </a:r>
                    </a:p>
                  </a:txBody>
                  <a:tcPr marT="27432" marB="27432" anchor="ctr">
                    <a:lnL>
                      <a:noFill/>
                    </a:lnL>
                    <a:lnR>
                      <a:noFill/>
                    </a:lnR>
                    <a:lnT w="9525"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1"/>
                  </a:ext>
                </a:extLst>
              </a:tr>
              <a:tr h="548640">
                <a:tc vMerge="1">
                  <a:txBody>
                    <a:bodyPr/>
                    <a:lstStyle/>
                    <a:p>
                      <a:endParaRPr/>
                    </a:p>
                  </a:txBody>
                  <a:tcPr marT="27432" marB="27432" anchor="ctr">
                    <a:lnL>
                      <a:noFill/>
                    </a:lnL>
                    <a:lnR>
                      <a:noFill/>
                    </a:lnR>
                    <a:lnT>
                      <a:noFill/>
                    </a:lnT>
                    <a:lnB w="6350">
                      <a:solidFill>
                        <a:srgbClr val="B7BEC5"/>
                      </a:solidFill>
                    </a:lnB>
                    <a:noFill/>
                  </a:tcPr>
                </a:tc>
                <a:tc>
                  <a:txBody>
                    <a:bodyPr/>
                    <a:lstStyle/>
                    <a:p>
                      <a:r>
                        <a:rPr lang="en-US" sz="1800" noProof="0" dirty="0">
                          <a:solidFill>
                            <a:schemeClr val="accent3">
                              <a:lumMod val="50000"/>
                            </a:schemeClr>
                          </a:solidFill>
                        </a:rPr>
                        <a:t>Right</a:t>
                      </a:r>
                    </a:p>
                  </a:txBody>
                  <a:tcPr marT="27432" marB="27432" anchor="ctr">
                    <a:lnL>
                      <a:noFill/>
                    </a:lnL>
                    <a:lnR>
                      <a:noFill/>
                    </a:lnR>
                    <a:lnT>
                      <a:noFill/>
                    </a:lnT>
                    <a:lnB w="6350">
                      <a:solidFill>
                        <a:srgbClr val="B7BEC5"/>
                      </a:solidFill>
                    </a:lnB>
                    <a:noFill/>
                  </a:tcPr>
                </a:tc>
                <a:tc>
                  <a:txBody>
                    <a:bodyPr/>
                    <a:lstStyle/>
                    <a:p>
                      <a:r>
                        <a:rPr lang="en-US" sz="1800" noProof="0" dirty="0">
                          <a:solidFill>
                            <a:schemeClr val="accent3">
                              <a:lumMod val="50000"/>
                            </a:schemeClr>
                          </a:solidFill>
                        </a:rPr>
                        <a:t>Duty</a:t>
                      </a:r>
                    </a:p>
                  </a:txBody>
                  <a:tcPr marT="27432" marB="27432" anchor="ctr">
                    <a:lnL>
                      <a:noFill/>
                    </a:lnL>
                    <a:lnR>
                      <a:noFill/>
                    </a:lnR>
                    <a:lnT>
                      <a:noFill/>
                    </a:lnT>
                    <a:lnB w="6350">
                      <a:solidFill>
                        <a:srgbClr val="B7BEC5"/>
                      </a:solidFill>
                    </a:lnB>
                    <a:noFill/>
                  </a:tcPr>
                </a:tc>
                <a:extLst>
                  <a:ext uri="{0D108BD9-81ED-4DB2-BD59-A6C34878D82A}">
                    <a16:rowId xmlns:a16="http://schemas.microsoft.com/office/drawing/2014/main" val="10002"/>
                  </a:ext>
                </a:extLst>
              </a:tr>
              <a:tr h="548640">
                <a:tc rowSpan="2">
                  <a:txBody>
                    <a:bodyPr/>
                    <a:lstStyle/>
                    <a:p>
                      <a:r>
                        <a:rPr lang="en-US" sz="1800" b="1" noProof="0" dirty="0">
                          <a:solidFill>
                            <a:srgbClr val="C00000"/>
                          </a:solidFill>
                        </a:rPr>
                        <a:t>Competence</a:t>
                      </a:r>
                    </a:p>
                    <a:p>
                      <a:r>
                        <a:rPr lang="en-US" sz="1300" i="1" noProof="0" dirty="0">
                          <a:solidFill>
                            <a:srgbClr val="C00000"/>
                          </a:solidFill>
                        </a:rPr>
                        <a:t>can create or change positions</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lang="en-US" sz="1800" noProof="0" dirty="0">
                          <a:solidFill>
                            <a:srgbClr val="C00000"/>
                          </a:solidFill>
                        </a:rPr>
                        <a:t>Power</a:t>
                      </a:r>
                    </a:p>
                  </a:txBody>
                  <a:tcPr marT="27432" marB="27432" anchor="ctr">
                    <a:lnL>
                      <a:noFill/>
                    </a:lnL>
                    <a:lnR>
                      <a:noFill/>
                    </a:lnR>
                    <a:lnT w="6350" cap="flat" cmpd="sng" algn="ctr">
                      <a:solidFill>
                        <a:srgbClr val="B7BEC5"/>
                      </a:solidFill>
                      <a:prstDash val="solid"/>
                      <a:round/>
                      <a:headEnd type="none" w="med" len="med"/>
                      <a:tailEnd type="none" w="med" len="med"/>
                    </a:lnT>
                    <a:lnB>
                      <a:noFill/>
                    </a:lnB>
                    <a:noFill/>
                  </a:tcPr>
                </a:tc>
                <a:tc>
                  <a:txBody>
                    <a:bodyPr/>
                    <a:lstStyle/>
                    <a:p>
                      <a:r>
                        <a:rPr lang="en-US" sz="1800" noProof="0" dirty="0">
                          <a:solidFill>
                            <a:srgbClr val="C00000"/>
                          </a:solidFill>
                        </a:rPr>
                        <a:t>Subjection</a:t>
                      </a:r>
                    </a:p>
                  </a:txBody>
                  <a:tcPr marT="27432" marB="27432" anchor="ctr">
                    <a:lnL>
                      <a:noFill/>
                    </a:lnL>
                    <a:lnR>
                      <a:noFill/>
                    </a:lnR>
                    <a:lnT w="6350" cap="flat" cmpd="sng" algn="ctr">
                      <a:solidFill>
                        <a:srgbClr val="B7BEC5"/>
                      </a:solidFill>
                      <a:prstDash val="solid"/>
                      <a:round/>
                      <a:headEnd type="none" w="med" len="med"/>
                      <a:tailEnd type="none" w="med" len="med"/>
                    </a:lnT>
                    <a:lnB>
                      <a:noFill/>
                    </a:lnB>
                    <a:noFill/>
                  </a:tcPr>
                </a:tc>
                <a:extLst>
                  <a:ext uri="{0D108BD9-81ED-4DB2-BD59-A6C34878D82A}">
                    <a16:rowId xmlns:a16="http://schemas.microsoft.com/office/drawing/2014/main" val="10003"/>
                  </a:ext>
                </a:extLst>
              </a:tr>
              <a:tr h="548640">
                <a:tc vMerge="1">
                  <a:txBody>
                    <a:bodyPr/>
                    <a:lstStyle/>
                    <a:p>
                      <a:endParaRPr/>
                    </a:p>
                  </a:txBody>
                  <a:tcPr marT="27432" marB="27432" anchor="ctr">
                    <a:lnL>
                      <a:noFill/>
                    </a:lnL>
                    <a:lnR>
                      <a:noFill/>
                    </a:lnR>
                    <a:lnT>
                      <a:noFill/>
                    </a:lnT>
                    <a:lnB w="19050">
                      <a:solidFill>
                        <a:srgbClr val="000000"/>
                      </a:solidFill>
                    </a:lnB>
                    <a:noFill/>
                  </a:tcPr>
                </a:tc>
                <a:tc>
                  <a:txBody>
                    <a:bodyPr/>
                    <a:lstStyle/>
                    <a:p>
                      <a:r>
                        <a:rPr lang="en-US" sz="1800" noProof="0" dirty="0">
                          <a:solidFill>
                            <a:srgbClr val="C00000"/>
                          </a:solidFill>
                        </a:rPr>
                        <a:t>Immunity</a:t>
                      </a:r>
                    </a:p>
                  </a:txBody>
                  <a:tcPr marT="27432" marB="27432" anchor="ctr">
                    <a:lnL>
                      <a:noFill/>
                    </a:lnL>
                    <a:lnR>
                      <a:noFill/>
                    </a:lnR>
                    <a:lnT>
                      <a:noFill/>
                    </a:lnT>
                    <a:lnB w="19050">
                      <a:solidFill>
                        <a:srgbClr val="000000"/>
                      </a:solidFill>
                    </a:lnB>
                    <a:noFill/>
                  </a:tcPr>
                </a:tc>
                <a:tc>
                  <a:txBody>
                    <a:bodyPr/>
                    <a:lstStyle/>
                    <a:p>
                      <a:r>
                        <a:rPr lang="en-US" sz="1800" noProof="0" dirty="0">
                          <a:solidFill>
                            <a:srgbClr val="C00000"/>
                          </a:solidFill>
                        </a:rPr>
                        <a:t>Disability</a:t>
                      </a:r>
                    </a:p>
                  </a:txBody>
                  <a:tcPr marT="27432" marB="27432" anchor="ctr">
                    <a:lnL>
                      <a:noFill/>
                    </a:lnL>
                    <a:lnR>
                      <a:noFill/>
                    </a:lnR>
                    <a:lnT>
                      <a:noFill/>
                    </a:lnT>
                    <a:lnB w="19050">
                      <a:solidFill>
                        <a:srgbClr val="000000"/>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ODRL's deontic core </a:t>
            </a:r>
            <a:r>
              <a:rPr lang="de-DE" dirty="0"/>
              <a:t>Permission</a:t>
            </a:r>
            <a:endParaRPr lang="en-US" noProof="0" dirty="0"/>
          </a:p>
        </p:txBody>
      </p:sp>
      <p:sp>
        <p:nvSpPr>
          <p:cNvPr id="3" name="Content Placeholder 2"/>
          <p:cNvSpPr>
            <a:spLocks noGrp="1"/>
          </p:cNvSpPr>
          <p:nvPr>
            <p:ph idx="1"/>
          </p:nvPr>
        </p:nvSpPr>
        <p:spPr/>
        <p:txBody>
          <a:bodyPr>
            <a:noAutofit/>
          </a:bodyPr>
          <a:lstStyle/>
          <a:p>
            <a:r>
              <a:rPr lang="de-DE" dirty="0">
                <a:latin typeface="+mj-lt"/>
              </a:rPr>
              <a:t>ODRL: Permission </a:t>
            </a:r>
            <a:r>
              <a:rPr lang="de-DE" dirty="0" err="1">
                <a:latin typeface="+mj-lt"/>
              </a:rPr>
              <a:t>Is</a:t>
            </a:r>
            <a:r>
              <a:rPr lang="de-DE" dirty="0">
                <a:latin typeface="+mj-lt"/>
              </a:rPr>
              <a:t> </a:t>
            </a:r>
            <a:r>
              <a:rPr lang="de-DE" dirty="0" err="1">
                <a:latin typeface="+mj-lt"/>
              </a:rPr>
              <a:t>Underspecified</a:t>
            </a:r>
            <a:r>
              <a:rPr lang="de-DE" dirty="0">
                <a:latin typeface="+mj-lt"/>
              </a:rPr>
              <a:t> (P1)</a:t>
            </a:r>
            <a:endParaRPr lang="de-DE" b="1" dirty="0">
              <a:latin typeface="+mj-lt"/>
            </a:endParaRPr>
          </a:p>
          <a:p>
            <a:r>
              <a:rPr lang="de-DE" b="1" dirty="0">
                <a:latin typeface="+mj-lt"/>
              </a:rPr>
              <a:t>ODRL  </a:t>
            </a:r>
            <a:r>
              <a:rPr lang="de-DE" b="1" dirty="0" err="1">
                <a:latin typeface="+mj-lt"/>
              </a:rPr>
              <a:t>Evaluator</a:t>
            </a:r>
            <a:r>
              <a:rPr lang="de-DE" b="1" dirty="0">
                <a:latin typeface="+mj-lt"/>
              </a:rPr>
              <a:t> </a:t>
            </a:r>
            <a:r>
              <a:rPr lang="de-DE" b="1" dirty="0" err="1">
                <a:latin typeface="+mj-lt"/>
              </a:rPr>
              <a:t>behaviour</a:t>
            </a:r>
            <a:endParaRPr lang="de-DE" dirty="0">
              <a:latin typeface="+mj-lt"/>
            </a:endParaRPr>
          </a:p>
          <a:p>
            <a:pPr lvl="1"/>
            <a:r>
              <a:rPr lang="de-DE" dirty="0" err="1">
                <a:latin typeface="+mj-lt"/>
              </a:rPr>
              <a:t>behaviour</a:t>
            </a:r>
            <a:r>
              <a:rPr lang="de-DE" dirty="0">
                <a:latin typeface="+mj-lt"/>
              </a:rPr>
              <a:t> = open: </a:t>
            </a:r>
            <a:r>
              <a:rPr lang="de-DE" dirty="0" err="1">
                <a:latin typeface="+mj-lt"/>
              </a:rPr>
              <a:t>anything</a:t>
            </a:r>
            <a:r>
              <a:rPr lang="de-DE" dirty="0">
                <a:latin typeface="+mj-lt"/>
              </a:rPr>
              <a:t> </a:t>
            </a:r>
            <a:r>
              <a:rPr lang="de-DE" dirty="0" err="1">
                <a:latin typeface="+mj-lt"/>
              </a:rPr>
              <a:t>that</a:t>
            </a:r>
            <a:r>
              <a:rPr lang="de-DE" dirty="0">
                <a:latin typeface="+mj-lt"/>
              </a:rPr>
              <a:t> </a:t>
            </a:r>
            <a:r>
              <a:rPr lang="de-DE" dirty="0" err="1">
                <a:latin typeface="+mj-lt"/>
              </a:rPr>
              <a:t>is</a:t>
            </a:r>
            <a:r>
              <a:rPr lang="de-DE" dirty="0">
                <a:latin typeface="+mj-lt"/>
              </a:rPr>
              <a:t> not </a:t>
            </a:r>
            <a:r>
              <a:rPr lang="de-DE" dirty="0" err="1">
                <a:latin typeface="+mj-lt"/>
              </a:rPr>
              <a:t>prohibited</a:t>
            </a:r>
            <a:r>
              <a:rPr lang="de-DE" dirty="0">
                <a:latin typeface="+mj-lt"/>
              </a:rPr>
              <a:t> </a:t>
            </a:r>
            <a:r>
              <a:rPr lang="de-DE" dirty="0" err="1">
                <a:latin typeface="+mj-lt"/>
              </a:rPr>
              <a:t>is</a:t>
            </a:r>
            <a:r>
              <a:rPr lang="de-DE" dirty="0">
                <a:latin typeface="+mj-lt"/>
              </a:rPr>
              <a:t> </a:t>
            </a:r>
            <a:r>
              <a:rPr lang="de-DE" dirty="0" err="1">
                <a:latin typeface="+mj-lt"/>
              </a:rPr>
              <a:t>permitted</a:t>
            </a:r>
            <a:r>
              <a:rPr lang="de-DE" dirty="0">
                <a:latin typeface="+mj-lt"/>
              </a:rPr>
              <a:t>.</a:t>
            </a:r>
          </a:p>
          <a:p>
            <a:pPr lvl="1"/>
            <a:r>
              <a:rPr lang="de-DE" dirty="0" err="1">
                <a:latin typeface="+mj-lt"/>
              </a:rPr>
              <a:t>behaviour</a:t>
            </a:r>
            <a:r>
              <a:rPr lang="de-DE" dirty="0">
                <a:latin typeface="+mj-lt"/>
              </a:rPr>
              <a:t> = </a:t>
            </a:r>
            <a:r>
              <a:rPr lang="de-DE" dirty="0" err="1">
                <a:latin typeface="+mj-lt"/>
              </a:rPr>
              <a:t>closed</a:t>
            </a:r>
            <a:r>
              <a:rPr lang="de-DE" dirty="0">
                <a:latin typeface="+mj-lt"/>
              </a:rPr>
              <a:t>: </a:t>
            </a:r>
            <a:r>
              <a:rPr lang="de-DE" dirty="0" err="1">
                <a:latin typeface="+mj-lt"/>
              </a:rPr>
              <a:t>anything</a:t>
            </a:r>
            <a:r>
              <a:rPr lang="de-DE" dirty="0">
                <a:latin typeface="+mj-lt"/>
              </a:rPr>
              <a:t> </a:t>
            </a:r>
            <a:r>
              <a:rPr lang="de-DE" dirty="0" err="1">
                <a:latin typeface="+mj-lt"/>
              </a:rPr>
              <a:t>that</a:t>
            </a:r>
            <a:r>
              <a:rPr lang="de-DE" dirty="0">
                <a:latin typeface="+mj-lt"/>
              </a:rPr>
              <a:t> </a:t>
            </a:r>
            <a:r>
              <a:rPr lang="de-DE" dirty="0" err="1">
                <a:latin typeface="+mj-lt"/>
              </a:rPr>
              <a:t>is</a:t>
            </a:r>
            <a:r>
              <a:rPr lang="de-DE" dirty="0">
                <a:latin typeface="+mj-lt"/>
              </a:rPr>
              <a:t> not </a:t>
            </a:r>
            <a:r>
              <a:rPr lang="de-DE" dirty="0" err="1">
                <a:latin typeface="+mj-lt"/>
              </a:rPr>
              <a:t>permitted</a:t>
            </a:r>
            <a:r>
              <a:rPr lang="de-DE" dirty="0">
                <a:latin typeface="+mj-lt"/>
              </a:rPr>
              <a:t> </a:t>
            </a:r>
            <a:r>
              <a:rPr lang="de-DE" dirty="0" err="1">
                <a:latin typeface="+mj-lt"/>
              </a:rPr>
              <a:t>is</a:t>
            </a:r>
            <a:r>
              <a:rPr lang="de-DE" dirty="0">
                <a:latin typeface="+mj-lt"/>
              </a:rPr>
              <a:t> </a:t>
            </a:r>
            <a:r>
              <a:rPr lang="de-DE" dirty="0" err="1">
                <a:latin typeface="+mj-lt"/>
              </a:rPr>
              <a:t>prohibited</a:t>
            </a:r>
            <a:r>
              <a:rPr lang="de-DE" dirty="0">
                <a:latin typeface="+mj-lt"/>
              </a:rPr>
              <a:t>.</a:t>
            </a:r>
          </a:p>
          <a:p>
            <a:pPr marL="342900" lvl="1" indent="0">
              <a:buNone/>
            </a:pPr>
            <a:endParaRPr lang="de-DE" dirty="0">
              <a:latin typeface="+mj-lt"/>
            </a:endParaRPr>
          </a:p>
          <a:p>
            <a:r>
              <a:rPr lang="de-DE" b="1" dirty="0">
                <a:latin typeface="+mj-lt"/>
              </a:rPr>
              <a:t>UFO-L Grounding: </a:t>
            </a:r>
            <a:r>
              <a:rPr lang="de-DE" b="1" dirty="0" err="1">
                <a:latin typeface="+mj-lt"/>
              </a:rPr>
              <a:t>what</a:t>
            </a:r>
            <a:r>
              <a:rPr lang="de-DE" b="1" dirty="0">
                <a:latin typeface="+mj-lt"/>
              </a:rPr>
              <a:t> </a:t>
            </a:r>
            <a:r>
              <a:rPr lang="de-DE" b="1" dirty="0" err="1">
                <a:latin typeface="+mj-lt"/>
              </a:rPr>
              <a:t>exists</a:t>
            </a:r>
            <a:endParaRPr lang="de-DE" dirty="0">
              <a:latin typeface="+mj-lt"/>
            </a:endParaRPr>
          </a:p>
          <a:p>
            <a:pPr lvl="1"/>
            <a:r>
              <a:rPr lang="de-DE" b="1" dirty="0" err="1">
                <a:latin typeface="+mj-lt"/>
              </a:rPr>
              <a:t>Ordinary</a:t>
            </a:r>
            <a:r>
              <a:rPr lang="de-DE" b="1" dirty="0">
                <a:latin typeface="+mj-lt"/>
              </a:rPr>
              <a:t> ODRL Permission (</a:t>
            </a:r>
            <a:r>
              <a:rPr lang="de-DE" b="1" dirty="0" err="1">
                <a:latin typeface="+mj-lt"/>
              </a:rPr>
              <a:t>weak</a:t>
            </a:r>
            <a:r>
              <a:rPr lang="de-DE" b="1" dirty="0">
                <a:latin typeface="+mj-lt"/>
              </a:rPr>
              <a:t>): </a:t>
            </a:r>
            <a:r>
              <a:rPr lang="de-DE" b="1" dirty="0" err="1">
                <a:latin typeface="+mj-lt"/>
              </a:rPr>
              <a:t>one</a:t>
            </a:r>
            <a:r>
              <a:rPr lang="de-DE" b="1" dirty="0">
                <a:latin typeface="+mj-lt"/>
              </a:rPr>
              <a:t> </a:t>
            </a:r>
            <a:r>
              <a:rPr lang="de-DE" b="1" dirty="0" err="1">
                <a:latin typeface="+mj-lt"/>
              </a:rPr>
              <a:t>conduct</a:t>
            </a:r>
            <a:r>
              <a:rPr lang="de-DE" b="1" dirty="0">
                <a:latin typeface="+mj-lt"/>
              </a:rPr>
              <a:t> </a:t>
            </a:r>
            <a:r>
              <a:rPr lang="de-DE" b="1" dirty="0" err="1">
                <a:latin typeface="+mj-lt"/>
              </a:rPr>
              <a:t>relator</a:t>
            </a:r>
            <a:r>
              <a:rPr lang="de-DE" b="1" dirty="0">
                <a:latin typeface="+mj-lt"/>
              </a:rPr>
              <a:t>: </a:t>
            </a:r>
            <a:r>
              <a:rPr lang="de-DE" dirty="0">
                <a:latin typeface="+mj-lt"/>
              </a:rPr>
              <a:t>Permission ↔ </a:t>
            </a:r>
            <a:r>
              <a:rPr lang="de-DE" dirty="0" err="1">
                <a:latin typeface="+mj-lt"/>
              </a:rPr>
              <a:t>NoRight</a:t>
            </a:r>
            <a:endParaRPr lang="de-DE" dirty="0">
              <a:latin typeface="+mj-lt"/>
            </a:endParaRPr>
          </a:p>
          <a:p>
            <a:pPr lvl="1"/>
            <a:r>
              <a:rPr lang="de-DE" b="1" dirty="0">
                <a:latin typeface="+mj-lt"/>
              </a:rPr>
              <a:t>Strong </a:t>
            </a:r>
            <a:r>
              <a:rPr lang="de-DE" b="1" dirty="0" err="1">
                <a:latin typeface="+mj-lt"/>
              </a:rPr>
              <a:t>permission</a:t>
            </a:r>
            <a:r>
              <a:rPr lang="de-DE" b="1" dirty="0">
                <a:latin typeface="+mj-lt"/>
              </a:rPr>
              <a:t>:</a:t>
            </a:r>
            <a:r>
              <a:rPr lang="de-DE" dirty="0">
                <a:latin typeface="+mj-lt"/>
              </a:rPr>
              <a:t> </a:t>
            </a:r>
            <a:r>
              <a:rPr lang="de-DE" dirty="0" err="1">
                <a:latin typeface="+mj-lt"/>
              </a:rPr>
              <a:t>two</a:t>
            </a:r>
            <a:r>
              <a:rPr lang="de-DE" dirty="0">
                <a:latin typeface="+mj-lt"/>
              </a:rPr>
              <a:t> UFO-L </a:t>
            </a:r>
            <a:r>
              <a:rPr lang="de-DE" dirty="0" err="1">
                <a:latin typeface="+mj-lt"/>
              </a:rPr>
              <a:t>relators</a:t>
            </a:r>
            <a:r>
              <a:rPr lang="de-DE" dirty="0">
                <a:latin typeface="+mj-lt"/>
              </a:rPr>
              <a:t> </a:t>
            </a:r>
            <a:r>
              <a:rPr lang="de-DE" dirty="0" err="1">
                <a:latin typeface="+mj-lt"/>
              </a:rPr>
              <a:t>founded</a:t>
            </a:r>
            <a:r>
              <a:rPr lang="de-DE" dirty="0">
                <a:latin typeface="+mj-lt"/>
              </a:rPr>
              <a:t> at the same </a:t>
            </a:r>
            <a:r>
              <a:rPr lang="de-DE" dirty="0" err="1">
                <a:latin typeface="+mj-lt"/>
              </a:rPr>
              <a:t>event</a:t>
            </a:r>
            <a:br>
              <a:rPr lang="de-DE" dirty="0">
                <a:latin typeface="+mj-lt"/>
              </a:rPr>
            </a:br>
            <a:r>
              <a:rPr lang="de-DE" b="1" dirty="0">
                <a:latin typeface="+mj-lt"/>
              </a:rPr>
              <a:t>Conduct:</a:t>
            </a:r>
            <a:r>
              <a:rPr lang="de-DE" dirty="0">
                <a:latin typeface="+mj-lt"/>
              </a:rPr>
              <a:t> Permission ↔ </a:t>
            </a:r>
            <a:r>
              <a:rPr lang="de-DE" dirty="0" err="1">
                <a:latin typeface="+mj-lt"/>
              </a:rPr>
              <a:t>NoRight</a:t>
            </a:r>
            <a:br>
              <a:rPr lang="de-DE" dirty="0">
                <a:latin typeface="+mj-lt"/>
              </a:rPr>
            </a:br>
            <a:r>
              <a:rPr lang="de-DE" b="1" dirty="0">
                <a:latin typeface="+mj-lt"/>
              </a:rPr>
              <a:t>Competence:</a:t>
            </a:r>
            <a:r>
              <a:rPr lang="de-DE" dirty="0">
                <a:latin typeface="+mj-lt"/>
              </a:rPr>
              <a:t> Immunity ↔ Disability</a:t>
            </a:r>
          </a:p>
          <a:p>
            <a:pPr lvl="1"/>
            <a:endParaRPr lang="de-DE" dirty="0">
              <a:latin typeface="+mj-lt"/>
            </a:endParaRPr>
          </a:p>
          <a:p>
            <a:pPr lvl="0"/>
            <a:r>
              <a:rPr lang="de-DE" dirty="0">
                <a:latin typeface="+mj-lt"/>
              </a:rPr>
              <a:t>ODRL </a:t>
            </a:r>
            <a:r>
              <a:rPr lang="de-DE" dirty="0" err="1">
                <a:latin typeface="+mj-lt"/>
              </a:rPr>
              <a:t>has</a:t>
            </a:r>
            <a:r>
              <a:rPr lang="de-DE" dirty="0">
                <a:latin typeface="+mj-lt"/>
              </a:rPr>
              <a:t> </a:t>
            </a:r>
            <a:r>
              <a:rPr lang="de-DE" dirty="0" err="1">
                <a:latin typeface="+mj-lt"/>
              </a:rPr>
              <a:t>one</a:t>
            </a:r>
            <a:r>
              <a:rPr lang="de-DE" dirty="0">
                <a:latin typeface="+mj-lt"/>
              </a:rPr>
              <a:t> Permission </a:t>
            </a:r>
            <a:r>
              <a:rPr lang="de-DE" dirty="0" err="1">
                <a:latin typeface="+mj-lt"/>
              </a:rPr>
              <a:t>class</a:t>
            </a:r>
            <a:r>
              <a:rPr lang="de-DE" dirty="0">
                <a:latin typeface="+mj-lt"/>
              </a:rPr>
              <a:t> and </a:t>
            </a:r>
            <a:r>
              <a:rPr lang="de-DE" dirty="0" err="1">
                <a:latin typeface="+mj-lt"/>
              </a:rPr>
              <a:t>does</a:t>
            </a:r>
            <a:r>
              <a:rPr lang="de-DE" dirty="0">
                <a:latin typeface="+mj-lt"/>
              </a:rPr>
              <a:t> not </a:t>
            </a:r>
            <a:r>
              <a:rPr lang="de-DE" dirty="0" err="1">
                <a:latin typeface="+mj-lt"/>
              </a:rPr>
              <a:t>specify</a:t>
            </a:r>
            <a:r>
              <a:rPr lang="de-DE" dirty="0">
                <a:latin typeface="+mj-lt"/>
              </a:rPr>
              <a:t> </a:t>
            </a:r>
            <a:r>
              <a:rPr lang="de-DE" dirty="0" err="1">
                <a:latin typeface="+mj-lt"/>
              </a:rPr>
              <a:t>persistence</a:t>
            </a:r>
            <a:r>
              <a:rPr lang="de-DE" dirty="0">
                <a:latin typeface="+mj-lt"/>
              </a:rPr>
              <a:t> </a:t>
            </a:r>
            <a:r>
              <a:rPr lang="de-DE" dirty="0" err="1">
                <a:latin typeface="+mj-lt"/>
              </a:rPr>
              <a:t>protection</a:t>
            </a:r>
            <a:r>
              <a:rPr lang="de-DE" dirty="0">
                <a:latin typeface="+mj-lt"/>
              </a:rPr>
              <a:t>.</a:t>
            </a:r>
          </a:p>
          <a:p>
            <a:pPr lvl="0"/>
            <a:r>
              <a:rPr lang="de-DE" dirty="0">
                <a:latin typeface="+mj-lt"/>
              </a:rPr>
              <a:t>Ground an </a:t>
            </a:r>
            <a:r>
              <a:rPr lang="de-DE" dirty="0" err="1">
                <a:latin typeface="+mj-lt"/>
              </a:rPr>
              <a:t>ordinary</a:t>
            </a:r>
            <a:r>
              <a:rPr lang="de-DE" dirty="0">
                <a:latin typeface="+mj-lt"/>
              </a:rPr>
              <a:t> ODRL Permission as the </a:t>
            </a:r>
            <a:r>
              <a:rPr lang="de-DE" b="1" dirty="0" err="1">
                <a:latin typeface="+mj-lt"/>
              </a:rPr>
              <a:t>weak</a:t>
            </a:r>
            <a:r>
              <a:rPr lang="de-DE" b="1" dirty="0">
                <a:latin typeface="+mj-lt"/>
              </a:rPr>
              <a:t> </a:t>
            </a:r>
            <a:r>
              <a:rPr lang="de-DE" b="1" dirty="0" err="1">
                <a:latin typeface="+mj-lt"/>
              </a:rPr>
              <a:t>case</a:t>
            </a:r>
            <a:r>
              <a:rPr lang="de-DE" dirty="0">
                <a:latin typeface="+mj-lt"/>
              </a:rPr>
              <a:t>. </a:t>
            </a:r>
            <a:r>
              <a:rPr lang="de-DE" b="1" dirty="0">
                <a:latin typeface="+mj-lt"/>
              </a:rPr>
              <a:t>Theorem 4.1</a:t>
            </a:r>
            <a:endParaRPr lang="de-DE" dirty="0">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E9A73-4F93-270D-073B-C5E74EC39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E54FCC-250A-B011-B9B2-9C57FD84D798}"/>
              </a:ext>
            </a:extLst>
          </p:cNvPr>
          <p:cNvSpPr>
            <a:spLocks noGrp="1"/>
          </p:cNvSpPr>
          <p:nvPr>
            <p:ph type="title"/>
          </p:nvPr>
        </p:nvSpPr>
        <p:spPr>
          <a:xfrm>
            <a:off x="548640" y="320040"/>
            <a:ext cx="11318682" cy="777240"/>
          </a:xfrm>
        </p:spPr>
        <p:txBody>
          <a:bodyPr/>
          <a:lstStyle/>
          <a:p>
            <a:r>
              <a:rPr lang="en-US" noProof="0" dirty="0"/>
              <a:t>ODRL's </a:t>
            </a:r>
            <a:r>
              <a:rPr lang="de-DE" dirty="0"/>
              <a:t>Permission → UFO-L Permission–</a:t>
            </a:r>
            <a:r>
              <a:rPr lang="de-DE" dirty="0" err="1"/>
              <a:t>NoRight</a:t>
            </a:r>
            <a:r>
              <a:rPr lang="de-DE" dirty="0"/>
              <a:t> legal </a:t>
            </a:r>
            <a:r>
              <a:rPr lang="de-DE" dirty="0" err="1"/>
              <a:t>relator</a:t>
            </a:r>
            <a:endParaRPr lang="en-US" noProof="0" dirty="0"/>
          </a:p>
        </p:txBody>
      </p:sp>
      <p:sp>
        <p:nvSpPr>
          <p:cNvPr id="3" name="Content Placeholder 2">
            <a:extLst>
              <a:ext uri="{FF2B5EF4-FFF2-40B4-BE49-F238E27FC236}">
                <a16:creationId xmlns:a16="http://schemas.microsoft.com/office/drawing/2014/main" id="{81B4120B-F823-13DC-35B1-423F36B7632F}"/>
              </a:ext>
            </a:extLst>
          </p:cNvPr>
          <p:cNvSpPr>
            <a:spLocks noGrp="1"/>
          </p:cNvSpPr>
          <p:nvPr>
            <p:ph idx="1"/>
          </p:nvPr>
        </p:nvSpPr>
        <p:spPr/>
        <p:txBody>
          <a:bodyPr>
            <a:noAutofit/>
          </a:bodyPr>
          <a:lstStyle/>
          <a:p>
            <a:r>
              <a:rPr lang="de-DE" dirty="0"/>
              <a:t>ODRL: Permission </a:t>
            </a:r>
            <a:r>
              <a:rPr lang="de-DE" dirty="0" err="1"/>
              <a:t>Is</a:t>
            </a:r>
            <a:r>
              <a:rPr lang="de-DE" dirty="0"/>
              <a:t> </a:t>
            </a:r>
            <a:r>
              <a:rPr lang="de-DE" dirty="0" err="1"/>
              <a:t>Underspecified</a:t>
            </a:r>
            <a:r>
              <a:rPr lang="de-DE" dirty="0"/>
              <a:t> (P1)</a:t>
            </a:r>
          </a:p>
          <a:p>
            <a:r>
              <a:rPr lang="de-DE" b="1" dirty="0"/>
              <a:t>IF</a:t>
            </a:r>
            <a:r>
              <a:rPr lang="de-DE" dirty="0"/>
              <a:t> </a:t>
            </a:r>
            <a:r>
              <a:rPr lang="de-DE" i="1" dirty="0"/>
              <a:t>(ODRL: the </a:t>
            </a:r>
            <a:r>
              <a:rPr lang="de-DE" i="1" dirty="0" err="1"/>
              <a:t>policy</a:t>
            </a:r>
            <a:r>
              <a:rPr lang="de-DE" i="1" dirty="0"/>
              <a:t>)</a:t>
            </a:r>
            <a:br>
              <a:rPr lang="de-DE" dirty="0"/>
            </a:br>
            <a:r>
              <a:rPr lang="de-DE" dirty="0"/>
              <a:t>P(p) ∧ </a:t>
            </a:r>
            <a:r>
              <a:rPr lang="de-DE" dirty="0" err="1"/>
              <a:t>aee</a:t>
            </a:r>
            <a:r>
              <a:rPr lang="de-DE" dirty="0"/>
              <a:t>(p, x) ∧ </a:t>
            </a:r>
            <a:r>
              <a:rPr lang="de-DE" dirty="0" err="1"/>
              <a:t>aer</a:t>
            </a:r>
            <a:r>
              <a:rPr lang="de-DE" dirty="0"/>
              <a:t>(p, y) ∧ </a:t>
            </a:r>
            <a:r>
              <a:rPr lang="de-DE" dirty="0" err="1"/>
              <a:t>act</a:t>
            </a:r>
            <a:r>
              <a:rPr lang="de-DE" dirty="0"/>
              <a:t>(p, a) ∧ </a:t>
            </a:r>
            <a:r>
              <a:rPr lang="de-DE" dirty="0" err="1"/>
              <a:t>tgt</a:t>
            </a:r>
            <a:r>
              <a:rPr lang="de-DE" dirty="0"/>
              <a:t>(p, t)</a:t>
            </a:r>
          </a:p>
          <a:p>
            <a:r>
              <a:rPr lang="de-DE" b="1" dirty="0"/>
              <a:t>AND</a:t>
            </a:r>
            <a:r>
              <a:rPr lang="de-DE" dirty="0"/>
              <a:t> </a:t>
            </a:r>
            <a:r>
              <a:rPr lang="de-DE" i="1" dirty="0"/>
              <a:t>(</a:t>
            </a:r>
            <a:r>
              <a:rPr lang="de-DE" i="1" dirty="0" err="1"/>
              <a:t>activation</a:t>
            </a:r>
            <a:r>
              <a:rPr lang="de-DE" i="1" dirty="0"/>
              <a:t>)</a:t>
            </a:r>
            <a:br>
              <a:rPr lang="de-DE" dirty="0"/>
            </a:br>
            <a:r>
              <a:rPr lang="de-DE" dirty="0" err="1"/>
              <a:t>activates</a:t>
            </a:r>
            <a:r>
              <a:rPr lang="de-DE" dirty="0"/>
              <a:t>(e, p)</a:t>
            </a:r>
          </a:p>
          <a:p>
            <a:r>
              <a:rPr lang="de-DE" b="1" dirty="0"/>
              <a:t>THEN</a:t>
            </a:r>
            <a:r>
              <a:rPr lang="de-DE" dirty="0"/>
              <a:t> </a:t>
            </a:r>
            <a:r>
              <a:rPr lang="de-DE" i="1" dirty="0"/>
              <a:t>(UFO-L: </a:t>
            </a:r>
            <a:r>
              <a:rPr lang="de-DE" i="1" dirty="0" err="1"/>
              <a:t>this</a:t>
            </a:r>
            <a:r>
              <a:rPr lang="de-DE" i="1" dirty="0"/>
              <a:t> </a:t>
            </a:r>
            <a:r>
              <a:rPr lang="de-DE" i="1" dirty="0" err="1"/>
              <a:t>exists</a:t>
            </a:r>
            <a:r>
              <a:rPr lang="de-DE" i="1" dirty="0"/>
              <a:t>)</a:t>
            </a:r>
            <a:br>
              <a:rPr lang="de-DE" dirty="0"/>
            </a:br>
            <a:r>
              <a:rPr lang="de-DE" dirty="0"/>
              <a:t>∃</a:t>
            </a:r>
            <a:r>
              <a:rPr lang="de-DE" dirty="0" err="1"/>
              <a:t>ρP</a:t>
            </a:r>
            <a:r>
              <a:rPr lang="de-DE" dirty="0"/>
              <a:t>, l, n. Rel(</a:t>
            </a:r>
            <a:r>
              <a:rPr lang="de-DE" dirty="0" err="1"/>
              <a:t>ρP</a:t>
            </a:r>
            <a:r>
              <a:rPr lang="de-DE" dirty="0"/>
              <a:t>) ∧ </a:t>
            </a:r>
            <a:r>
              <a:rPr lang="de-DE" dirty="0" err="1"/>
              <a:t>founds</a:t>
            </a:r>
            <a:r>
              <a:rPr lang="de-DE" dirty="0"/>
              <a:t>(e, </a:t>
            </a:r>
            <a:r>
              <a:rPr lang="de-DE" dirty="0" err="1"/>
              <a:t>ρP</a:t>
            </a:r>
            <a:r>
              <a:rPr lang="de-DE" dirty="0"/>
              <a:t>, p)</a:t>
            </a:r>
            <a:br>
              <a:rPr lang="de-DE" dirty="0"/>
            </a:br>
            <a:r>
              <a:rPr lang="de-DE" dirty="0"/>
              <a:t>∧ Permission(l) ∧ </a:t>
            </a:r>
            <a:r>
              <a:rPr lang="de-DE" dirty="0" err="1"/>
              <a:t>bearer</a:t>
            </a:r>
            <a:r>
              <a:rPr lang="de-DE" dirty="0"/>
              <a:t>(l, x) ∧ </a:t>
            </a:r>
            <a:r>
              <a:rPr lang="de-DE" dirty="0" err="1"/>
              <a:t>cnt</a:t>
            </a:r>
            <a:r>
              <a:rPr lang="de-DE" dirty="0"/>
              <a:t>(l, a, t) ∧ </a:t>
            </a:r>
            <a:r>
              <a:rPr lang="de-DE" dirty="0" err="1"/>
              <a:t>partOf</a:t>
            </a:r>
            <a:r>
              <a:rPr lang="de-DE" dirty="0"/>
              <a:t>(l, </a:t>
            </a:r>
            <a:r>
              <a:rPr lang="de-DE" dirty="0" err="1"/>
              <a:t>ρP</a:t>
            </a:r>
            <a:r>
              <a:rPr lang="de-DE" dirty="0"/>
              <a:t>)</a:t>
            </a:r>
            <a:br>
              <a:rPr lang="de-DE" dirty="0"/>
            </a:br>
            <a:r>
              <a:rPr lang="de-DE" dirty="0"/>
              <a:t>∧ </a:t>
            </a:r>
            <a:r>
              <a:rPr lang="de-DE" dirty="0" err="1"/>
              <a:t>NoRight</a:t>
            </a:r>
            <a:r>
              <a:rPr lang="de-DE" dirty="0"/>
              <a:t>(n) ∧ </a:t>
            </a:r>
            <a:r>
              <a:rPr lang="de-DE" dirty="0" err="1"/>
              <a:t>bearer</a:t>
            </a:r>
            <a:r>
              <a:rPr lang="de-DE" dirty="0"/>
              <a:t>(n, y) ∧ </a:t>
            </a:r>
            <a:r>
              <a:rPr lang="de-DE" dirty="0" err="1"/>
              <a:t>cnt</a:t>
            </a:r>
            <a:r>
              <a:rPr lang="de-DE" dirty="0"/>
              <a:t>(n, a, t) ∧ </a:t>
            </a:r>
            <a:r>
              <a:rPr lang="de-DE" dirty="0" err="1"/>
              <a:t>partOf</a:t>
            </a:r>
            <a:r>
              <a:rPr lang="de-DE" dirty="0"/>
              <a:t>(n, </a:t>
            </a:r>
            <a:r>
              <a:rPr lang="de-DE" dirty="0" err="1"/>
              <a:t>ρP</a:t>
            </a:r>
            <a:r>
              <a:rPr lang="de-DE" dirty="0"/>
              <a:t>)</a:t>
            </a:r>
          </a:p>
          <a:p>
            <a:r>
              <a:rPr lang="de-DE" dirty="0"/>
              <a:t>ODRL </a:t>
            </a:r>
            <a:r>
              <a:rPr lang="de-DE" dirty="0" err="1"/>
              <a:t>gives</a:t>
            </a:r>
            <a:r>
              <a:rPr lang="de-DE" dirty="0"/>
              <a:t> </a:t>
            </a:r>
            <a:r>
              <a:rPr lang="de-DE" dirty="0" err="1"/>
              <a:t>rule</a:t>
            </a:r>
            <a:r>
              <a:rPr lang="de-DE" dirty="0"/>
              <a:t>: who, </a:t>
            </a:r>
            <a:r>
              <a:rPr lang="de-DE" dirty="0" err="1"/>
              <a:t>action</a:t>
            </a:r>
            <a:r>
              <a:rPr lang="de-DE" dirty="0"/>
              <a:t>, </a:t>
            </a:r>
            <a:r>
              <a:rPr lang="de-DE" dirty="0" err="1"/>
              <a:t>target</a:t>
            </a:r>
            <a:r>
              <a:rPr lang="de-DE" dirty="0"/>
              <a:t>. Once </a:t>
            </a:r>
            <a:r>
              <a:rPr lang="de-DE" dirty="0" err="1"/>
              <a:t>activated</a:t>
            </a:r>
            <a:r>
              <a:rPr lang="de-DE" dirty="0"/>
              <a:t>.</a:t>
            </a:r>
          </a:p>
          <a:p>
            <a:r>
              <a:rPr lang="de-DE" b="1" dirty="0"/>
              <a:t>Grounding</a:t>
            </a:r>
            <a:r>
              <a:rPr lang="de-DE" dirty="0"/>
              <a:t> </a:t>
            </a:r>
            <a:r>
              <a:rPr lang="de-DE" dirty="0" err="1"/>
              <a:t>creates</a:t>
            </a:r>
            <a:r>
              <a:rPr lang="de-DE" dirty="0"/>
              <a:t> </a:t>
            </a:r>
            <a:r>
              <a:rPr lang="de-DE" dirty="0" err="1"/>
              <a:t>one</a:t>
            </a:r>
            <a:r>
              <a:rPr lang="de-DE" dirty="0"/>
              <a:t> UFO-L </a:t>
            </a:r>
            <a:r>
              <a:rPr lang="de-DE" dirty="0" err="1"/>
              <a:t>relator</a:t>
            </a:r>
            <a:r>
              <a:rPr lang="de-DE" dirty="0"/>
              <a:t> </a:t>
            </a:r>
            <a:r>
              <a:rPr lang="de-DE" dirty="0" err="1"/>
              <a:t>with</a:t>
            </a:r>
            <a:r>
              <a:rPr lang="de-DE" dirty="0"/>
              <a:t> Permission for the </a:t>
            </a:r>
            <a:r>
              <a:rPr lang="de-DE" dirty="0" err="1"/>
              <a:t>assignee</a:t>
            </a:r>
            <a:r>
              <a:rPr lang="de-DE" dirty="0"/>
              <a:t> and </a:t>
            </a:r>
            <a:r>
              <a:rPr lang="de-DE" dirty="0" err="1"/>
              <a:t>NoRight</a:t>
            </a:r>
            <a:r>
              <a:rPr lang="de-DE" dirty="0"/>
              <a:t> for the </a:t>
            </a:r>
            <a:r>
              <a:rPr lang="de-DE" dirty="0" err="1"/>
              <a:t>assigner</a:t>
            </a:r>
            <a:r>
              <a:rPr lang="de-DE" dirty="0"/>
              <a:t>.</a:t>
            </a:r>
          </a:p>
          <a:p>
            <a:endParaRPr lang="de-DE" b="1" dirty="0"/>
          </a:p>
        </p:txBody>
      </p:sp>
    </p:spTree>
    <p:extLst>
      <p:ext uri="{BB962C8B-B14F-4D97-AF65-F5344CB8AC3E}">
        <p14:creationId xmlns:p14="http://schemas.microsoft.com/office/powerpoint/2010/main" val="2271589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F5B1C-BB65-1807-C4C2-D8CFEFBE9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91DF33-B166-1392-DFBC-E6E69C4DA6A1}"/>
              </a:ext>
            </a:extLst>
          </p:cNvPr>
          <p:cNvSpPr>
            <a:spLocks noGrp="1"/>
          </p:cNvSpPr>
          <p:nvPr>
            <p:ph type="title"/>
          </p:nvPr>
        </p:nvSpPr>
        <p:spPr/>
        <p:txBody>
          <a:bodyPr/>
          <a:lstStyle/>
          <a:p>
            <a:r>
              <a:rPr dirty="0"/>
              <a:t>ODRL's deontic </a:t>
            </a:r>
            <a:r>
              <a:rPr lang="de-DE" dirty="0"/>
              <a:t>Prohibition </a:t>
            </a:r>
            <a:endParaRPr dirty="0"/>
          </a:p>
        </p:txBody>
      </p:sp>
      <p:sp>
        <p:nvSpPr>
          <p:cNvPr id="3" name="Content Placeholder 2">
            <a:extLst>
              <a:ext uri="{FF2B5EF4-FFF2-40B4-BE49-F238E27FC236}">
                <a16:creationId xmlns:a16="http://schemas.microsoft.com/office/drawing/2014/main" id="{875069D0-BAB5-AA44-7076-EE4E0A177B9C}"/>
              </a:ext>
            </a:extLst>
          </p:cNvPr>
          <p:cNvSpPr>
            <a:spLocks noGrp="1"/>
          </p:cNvSpPr>
          <p:nvPr>
            <p:ph idx="1"/>
          </p:nvPr>
        </p:nvSpPr>
        <p:spPr/>
        <p:txBody>
          <a:bodyPr>
            <a:noAutofit/>
          </a:bodyPr>
          <a:lstStyle/>
          <a:p>
            <a:r>
              <a:rPr lang="de-DE" sz="1800" dirty="0">
                <a:latin typeface="+mj-lt"/>
              </a:rPr>
              <a:t>ODRL: Prohibition </a:t>
            </a:r>
            <a:r>
              <a:rPr lang="de-DE" sz="1800" dirty="0" err="1">
                <a:latin typeface="+mj-lt"/>
              </a:rPr>
              <a:t>Is</a:t>
            </a:r>
            <a:r>
              <a:rPr lang="de-DE" sz="1800" dirty="0">
                <a:latin typeface="+mj-lt"/>
              </a:rPr>
              <a:t> </a:t>
            </a:r>
            <a:r>
              <a:rPr lang="de-DE" sz="1800" dirty="0" err="1">
                <a:latin typeface="+mj-lt"/>
              </a:rPr>
              <a:t>Sanctioned</a:t>
            </a:r>
            <a:r>
              <a:rPr lang="de-DE" sz="1800" dirty="0">
                <a:latin typeface="+mj-lt"/>
              </a:rPr>
              <a:t> (P2)</a:t>
            </a:r>
          </a:p>
          <a:p>
            <a:r>
              <a:rPr lang="de-DE" sz="1600" b="1" dirty="0">
                <a:latin typeface="+mj-lt"/>
              </a:rPr>
              <a:t>ODRL  </a:t>
            </a:r>
            <a:r>
              <a:rPr lang="de-DE" sz="1600" b="1" dirty="0" err="1">
                <a:latin typeface="+mj-lt"/>
              </a:rPr>
              <a:t>Evaluator</a:t>
            </a:r>
            <a:r>
              <a:rPr lang="de-DE" sz="1600" b="1" dirty="0">
                <a:latin typeface="+mj-lt"/>
              </a:rPr>
              <a:t> </a:t>
            </a:r>
            <a:r>
              <a:rPr lang="de-DE" sz="1600" b="1" dirty="0" err="1">
                <a:latin typeface="+mj-lt"/>
              </a:rPr>
              <a:t>behaviour</a:t>
            </a:r>
            <a:endParaRPr lang="de-DE" sz="1600" dirty="0">
              <a:latin typeface="+mj-lt"/>
            </a:endParaRPr>
          </a:p>
          <a:p>
            <a:pPr lvl="1"/>
            <a:r>
              <a:rPr lang="de-DE" dirty="0">
                <a:latin typeface="+mj-lt"/>
              </a:rPr>
              <a:t>An </a:t>
            </a:r>
            <a:r>
              <a:rPr lang="de-DE" dirty="0" err="1">
                <a:latin typeface="+mj-lt"/>
              </a:rPr>
              <a:t>active</a:t>
            </a:r>
            <a:r>
              <a:rPr lang="de-DE" dirty="0">
                <a:latin typeface="+mj-lt"/>
              </a:rPr>
              <a:t> </a:t>
            </a:r>
            <a:r>
              <a:rPr lang="de-DE" dirty="0" err="1">
                <a:latin typeface="+mj-lt"/>
              </a:rPr>
              <a:t>prohibition</a:t>
            </a:r>
            <a:r>
              <a:rPr lang="de-DE" dirty="0">
                <a:latin typeface="+mj-lt"/>
              </a:rPr>
              <a:t> </a:t>
            </a:r>
            <a:r>
              <a:rPr lang="de-DE" dirty="0" err="1">
                <a:latin typeface="+mj-lt"/>
              </a:rPr>
              <a:t>can</a:t>
            </a:r>
            <a:r>
              <a:rPr lang="de-DE" dirty="0">
                <a:latin typeface="+mj-lt"/>
              </a:rPr>
              <a:t> </a:t>
            </a:r>
            <a:r>
              <a:rPr lang="de-DE" dirty="0" err="1">
                <a:latin typeface="+mj-lt"/>
              </a:rPr>
              <a:t>be</a:t>
            </a:r>
            <a:r>
              <a:rPr lang="de-DE" dirty="0">
                <a:latin typeface="+mj-lt"/>
              </a:rPr>
              <a:t> </a:t>
            </a:r>
            <a:r>
              <a:rPr lang="de-DE" b="1" dirty="0" err="1">
                <a:latin typeface="+mj-lt"/>
              </a:rPr>
              <a:t>violated</a:t>
            </a:r>
            <a:r>
              <a:rPr lang="de-DE" dirty="0">
                <a:latin typeface="+mj-lt"/>
              </a:rPr>
              <a:t> by </a:t>
            </a:r>
            <a:r>
              <a:rPr lang="de-DE" dirty="0" err="1">
                <a:latin typeface="+mj-lt"/>
              </a:rPr>
              <a:t>performing</a:t>
            </a:r>
            <a:r>
              <a:rPr lang="de-DE" dirty="0">
                <a:latin typeface="+mj-lt"/>
              </a:rPr>
              <a:t> the </a:t>
            </a:r>
            <a:r>
              <a:rPr lang="de-DE" dirty="0" err="1">
                <a:latin typeface="+mj-lt"/>
              </a:rPr>
              <a:t>prohibited</a:t>
            </a:r>
            <a:r>
              <a:rPr lang="de-DE" dirty="0">
                <a:latin typeface="+mj-lt"/>
              </a:rPr>
              <a:t> </a:t>
            </a:r>
            <a:r>
              <a:rPr lang="de-DE" dirty="0" err="1">
                <a:latin typeface="+mj-lt"/>
              </a:rPr>
              <a:t>action</a:t>
            </a:r>
            <a:r>
              <a:rPr lang="de-DE" dirty="0">
                <a:latin typeface="+mj-lt"/>
              </a:rPr>
              <a:t>.</a:t>
            </a:r>
          </a:p>
          <a:p>
            <a:pPr lvl="1"/>
            <a:r>
              <a:rPr lang="de-DE" dirty="0">
                <a:latin typeface="+mj-lt"/>
              </a:rPr>
              <a:t>A </a:t>
            </a:r>
            <a:r>
              <a:rPr lang="de-DE" dirty="0" err="1">
                <a:latin typeface="+mj-lt"/>
              </a:rPr>
              <a:t>prohibition</a:t>
            </a:r>
            <a:r>
              <a:rPr lang="de-DE" dirty="0">
                <a:latin typeface="+mj-lt"/>
              </a:rPr>
              <a:t> </a:t>
            </a:r>
            <a:r>
              <a:rPr lang="de-DE" dirty="0" err="1">
                <a:latin typeface="+mj-lt"/>
              </a:rPr>
              <a:t>may</a:t>
            </a:r>
            <a:r>
              <a:rPr lang="de-DE" dirty="0">
                <a:latin typeface="+mj-lt"/>
              </a:rPr>
              <a:t> </a:t>
            </a:r>
            <a:r>
              <a:rPr lang="de-DE" dirty="0" err="1">
                <a:latin typeface="+mj-lt"/>
              </a:rPr>
              <a:t>specify</a:t>
            </a:r>
            <a:r>
              <a:rPr lang="de-DE" dirty="0">
                <a:latin typeface="+mj-lt"/>
              </a:rPr>
              <a:t> a </a:t>
            </a:r>
            <a:r>
              <a:rPr lang="de-DE" b="1" dirty="0" err="1">
                <a:latin typeface="+mj-lt"/>
              </a:rPr>
              <a:t>remedy</a:t>
            </a:r>
            <a:r>
              <a:rPr lang="de-DE" dirty="0">
                <a:latin typeface="+mj-lt"/>
              </a:rPr>
              <a:t> for the </a:t>
            </a:r>
            <a:r>
              <a:rPr lang="de-DE" dirty="0" err="1">
                <a:latin typeface="+mj-lt"/>
              </a:rPr>
              <a:t>violation</a:t>
            </a:r>
            <a:r>
              <a:rPr lang="de-DE" dirty="0">
                <a:latin typeface="+mj-lt"/>
              </a:rPr>
              <a:t>. </a:t>
            </a:r>
          </a:p>
          <a:p>
            <a:pPr lvl="0"/>
            <a:r>
              <a:rPr lang="de-DE" sz="1600" b="1" dirty="0" err="1">
                <a:latin typeface="+mj-lt"/>
              </a:rPr>
              <a:t>Ordinary</a:t>
            </a:r>
            <a:r>
              <a:rPr lang="de-DE" sz="1600" b="1" dirty="0">
                <a:latin typeface="+mj-lt"/>
              </a:rPr>
              <a:t> ODRL Prohibition:</a:t>
            </a:r>
            <a:r>
              <a:rPr lang="de-DE" sz="1600" dirty="0">
                <a:latin typeface="+mj-lt"/>
              </a:rPr>
              <a:t> </a:t>
            </a:r>
            <a:r>
              <a:rPr lang="de-DE" sz="1600" dirty="0" err="1">
                <a:latin typeface="+mj-lt"/>
              </a:rPr>
              <a:t>one</a:t>
            </a:r>
            <a:r>
              <a:rPr lang="de-DE" sz="1600" dirty="0">
                <a:latin typeface="+mj-lt"/>
              </a:rPr>
              <a:t> </a:t>
            </a:r>
            <a:r>
              <a:rPr lang="de-DE" sz="1600" dirty="0" err="1">
                <a:latin typeface="+mj-lt"/>
              </a:rPr>
              <a:t>conduct</a:t>
            </a:r>
            <a:r>
              <a:rPr lang="de-DE" sz="1600" dirty="0">
                <a:latin typeface="+mj-lt"/>
              </a:rPr>
              <a:t> </a:t>
            </a:r>
            <a:r>
              <a:rPr lang="de-DE" sz="1600" dirty="0" err="1">
                <a:latin typeface="+mj-lt"/>
              </a:rPr>
              <a:t>relator</a:t>
            </a:r>
            <a:endParaRPr lang="de-DE" sz="1600" dirty="0">
              <a:latin typeface="+mj-lt"/>
            </a:endParaRPr>
          </a:p>
          <a:p>
            <a:pPr lvl="1"/>
            <a:r>
              <a:rPr lang="de-DE" b="1" dirty="0">
                <a:latin typeface="+mj-lt"/>
              </a:rPr>
              <a:t>Duty to </a:t>
            </a:r>
            <a:r>
              <a:rPr lang="de-DE" b="1" dirty="0" err="1">
                <a:latin typeface="+mj-lt"/>
              </a:rPr>
              <a:t>Omit</a:t>
            </a:r>
            <a:r>
              <a:rPr lang="de-DE" b="1" dirty="0">
                <a:latin typeface="+mj-lt"/>
              </a:rPr>
              <a:t> ↔ Right to Omission</a:t>
            </a:r>
            <a:endParaRPr lang="de-DE" dirty="0">
              <a:latin typeface="+mj-lt"/>
            </a:endParaRPr>
          </a:p>
          <a:p>
            <a:pPr lvl="0"/>
            <a:r>
              <a:rPr lang="de-DE" sz="1600" b="1" dirty="0" err="1">
                <a:latin typeface="+mj-lt"/>
              </a:rPr>
              <a:t>Sanctioned</a:t>
            </a:r>
            <a:r>
              <a:rPr lang="de-DE" sz="1600" b="1" dirty="0">
                <a:latin typeface="+mj-lt"/>
              </a:rPr>
              <a:t> </a:t>
            </a:r>
            <a:r>
              <a:rPr lang="de-DE" sz="1600" b="1" dirty="0" err="1">
                <a:latin typeface="+mj-lt"/>
              </a:rPr>
              <a:t>prohibition</a:t>
            </a:r>
            <a:r>
              <a:rPr lang="de-DE" sz="1600" b="1" dirty="0">
                <a:latin typeface="+mj-lt"/>
              </a:rPr>
              <a:t>:</a:t>
            </a:r>
            <a:r>
              <a:rPr lang="de-DE" sz="1600" dirty="0">
                <a:latin typeface="+mj-lt"/>
              </a:rPr>
              <a:t> </a:t>
            </a:r>
            <a:r>
              <a:rPr lang="de-DE" sz="1600" dirty="0" err="1">
                <a:latin typeface="+mj-lt"/>
              </a:rPr>
              <a:t>two</a:t>
            </a:r>
            <a:r>
              <a:rPr lang="de-DE" sz="1600" dirty="0">
                <a:latin typeface="+mj-lt"/>
              </a:rPr>
              <a:t> UFO-L </a:t>
            </a:r>
            <a:r>
              <a:rPr lang="de-DE" sz="1600" dirty="0" err="1">
                <a:latin typeface="+mj-lt"/>
              </a:rPr>
              <a:t>relators</a:t>
            </a:r>
            <a:r>
              <a:rPr lang="de-DE" sz="1600" dirty="0">
                <a:latin typeface="+mj-lt"/>
              </a:rPr>
              <a:t> </a:t>
            </a:r>
            <a:r>
              <a:rPr lang="de-DE" sz="1600" dirty="0" err="1">
                <a:latin typeface="+mj-lt"/>
              </a:rPr>
              <a:t>founded</a:t>
            </a:r>
            <a:r>
              <a:rPr lang="de-DE" sz="1600" dirty="0">
                <a:latin typeface="+mj-lt"/>
              </a:rPr>
              <a:t> at the same </a:t>
            </a:r>
            <a:r>
              <a:rPr lang="de-DE" sz="1600" dirty="0" err="1">
                <a:latin typeface="+mj-lt"/>
              </a:rPr>
              <a:t>event</a:t>
            </a:r>
            <a:endParaRPr lang="de-DE" sz="1600" dirty="0">
              <a:latin typeface="+mj-lt"/>
            </a:endParaRPr>
          </a:p>
          <a:p>
            <a:pPr lvl="1"/>
            <a:r>
              <a:rPr lang="de-DE" b="1" dirty="0">
                <a:latin typeface="+mj-lt"/>
              </a:rPr>
              <a:t>Conduct:</a:t>
            </a:r>
            <a:r>
              <a:rPr lang="de-DE" dirty="0">
                <a:latin typeface="+mj-lt"/>
              </a:rPr>
              <a:t> Duty to </a:t>
            </a:r>
            <a:r>
              <a:rPr lang="de-DE" dirty="0" err="1">
                <a:latin typeface="+mj-lt"/>
              </a:rPr>
              <a:t>Omit</a:t>
            </a:r>
            <a:r>
              <a:rPr lang="de-DE" dirty="0">
                <a:latin typeface="+mj-lt"/>
              </a:rPr>
              <a:t> ↔ Right to Omission</a:t>
            </a:r>
          </a:p>
          <a:p>
            <a:pPr lvl="1"/>
            <a:r>
              <a:rPr lang="de-DE" b="1" dirty="0">
                <a:latin typeface="+mj-lt"/>
              </a:rPr>
              <a:t>Competence:</a:t>
            </a:r>
            <a:r>
              <a:rPr lang="de-DE" dirty="0">
                <a:latin typeface="+mj-lt"/>
              </a:rPr>
              <a:t> Power ↔ </a:t>
            </a:r>
            <a:r>
              <a:rPr lang="de-DE" dirty="0" err="1">
                <a:latin typeface="+mj-lt"/>
              </a:rPr>
              <a:t>Subjection</a:t>
            </a:r>
            <a:endParaRPr lang="de-DE" sz="1400" dirty="0">
              <a:latin typeface="+mj-lt"/>
            </a:endParaRPr>
          </a:p>
          <a:p>
            <a:r>
              <a:rPr lang="de-DE" sz="1800" b="1" dirty="0" err="1">
                <a:latin typeface="+mj-lt"/>
              </a:rPr>
              <a:t>Example</a:t>
            </a:r>
            <a:endParaRPr lang="de-DE" sz="1800" dirty="0">
              <a:latin typeface="+mj-lt"/>
            </a:endParaRPr>
          </a:p>
          <a:p>
            <a:pPr lvl="1"/>
            <a:r>
              <a:rPr lang="de-DE" sz="1600" dirty="0" err="1">
                <a:latin typeface="+mj-lt"/>
              </a:rPr>
              <a:t>KulturPortal</a:t>
            </a:r>
            <a:r>
              <a:rPr lang="de-DE" sz="1600" dirty="0">
                <a:latin typeface="+mj-lt"/>
              </a:rPr>
              <a:t> </a:t>
            </a:r>
            <a:r>
              <a:rPr lang="de-DE" sz="1600" dirty="0" err="1">
                <a:latin typeface="+mj-lt"/>
              </a:rPr>
              <a:t>must</a:t>
            </a:r>
            <a:r>
              <a:rPr lang="de-DE" sz="1600" dirty="0">
                <a:latin typeface="+mj-lt"/>
              </a:rPr>
              <a:t> not </a:t>
            </a:r>
            <a:r>
              <a:rPr lang="de-DE" sz="1600" dirty="0" err="1">
                <a:latin typeface="+mj-lt"/>
              </a:rPr>
              <a:t>distribute</a:t>
            </a:r>
            <a:r>
              <a:rPr lang="de-DE" sz="1600" dirty="0">
                <a:latin typeface="+mj-lt"/>
              </a:rPr>
              <a:t> BE </a:t>
            </a:r>
            <a:r>
              <a:rPr lang="de-DE" sz="1600" dirty="0" err="1">
                <a:latin typeface="+mj-lt"/>
              </a:rPr>
              <a:t>showtimes</a:t>
            </a:r>
            <a:r>
              <a:rPr lang="de-DE" sz="1600" dirty="0">
                <a:latin typeface="+mj-lt"/>
              </a:rPr>
              <a:t>.</a:t>
            </a:r>
            <a:br>
              <a:rPr lang="de-DE" sz="1600" dirty="0">
                <a:latin typeface="+mj-lt"/>
              </a:rPr>
            </a:br>
            <a:r>
              <a:rPr lang="de-DE" sz="1600" dirty="0">
                <a:latin typeface="+mj-lt"/>
              </a:rPr>
              <a:t>BE </a:t>
            </a:r>
            <a:r>
              <a:rPr lang="de-DE" sz="1600" dirty="0" err="1">
                <a:latin typeface="+mj-lt"/>
              </a:rPr>
              <a:t>has</a:t>
            </a:r>
            <a:r>
              <a:rPr lang="de-DE" sz="1600" dirty="0">
                <a:latin typeface="+mj-lt"/>
              </a:rPr>
              <a:t> the </a:t>
            </a:r>
            <a:r>
              <a:rPr lang="de-DE" sz="1600" dirty="0" err="1">
                <a:latin typeface="+mj-lt"/>
              </a:rPr>
              <a:t>corresponding</a:t>
            </a:r>
            <a:r>
              <a:rPr lang="de-DE" sz="1600" dirty="0">
                <a:latin typeface="+mj-lt"/>
              </a:rPr>
              <a:t> </a:t>
            </a:r>
            <a:r>
              <a:rPr lang="de-DE" sz="1600" dirty="0" err="1">
                <a:latin typeface="+mj-lt"/>
              </a:rPr>
              <a:t>right</a:t>
            </a:r>
            <a:r>
              <a:rPr lang="de-DE" sz="1600" dirty="0">
                <a:latin typeface="+mj-lt"/>
              </a:rPr>
              <a:t> </a:t>
            </a:r>
            <a:r>
              <a:rPr lang="de-DE" sz="1600" dirty="0" err="1">
                <a:latin typeface="+mj-lt"/>
              </a:rPr>
              <a:t>that</a:t>
            </a:r>
            <a:r>
              <a:rPr lang="de-DE" sz="1600" dirty="0">
                <a:latin typeface="+mj-lt"/>
              </a:rPr>
              <a:t> it </a:t>
            </a:r>
            <a:r>
              <a:rPr lang="de-DE" sz="1600" dirty="0" err="1">
                <a:latin typeface="+mj-lt"/>
              </a:rPr>
              <a:t>does</a:t>
            </a:r>
            <a:r>
              <a:rPr lang="de-DE" sz="1600" dirty="0">
                <a:latin typeface="+mj-lt"/>
              </a:rPr>
              <a:t> not.</a:t>
            </a:r>
            <a:br>
              <a:rPr lang="de-DE" sz="1600" dirty="0">
                <a:latin typeface="+mj-lt"/>
              </a:rPr>
            </a:br>
            <a:r>
              <a:rPr lang="de-DE" sz="1600" dirty="0" err="1">
                <a:latin typeface="+mj-lt"/>
              </a:rPr>
              <a:t>If</a:t>
            </a:r>
            <a:r>
              <a:rPr lang="de-DE" sz="1600" dirty="0">
                <a:latin typeface="+mj-lt"/>
              </a:rPr>
              <a:t> </a:t>
            </a:r>
            <a:r>
              <a:rPr lang="de-DE" sz="1600" dirty="0" err="1">
                <a:latin typeface="+mj-lt"/>
              </a:rPr>
              <a:t>KulturPortal</a:t>
            </a:r>
            <a:r>
              <a:rPr lang="de-DE" sz="1600" dirty="0">
                <a:latin typeface="+mj-lt"/>
              </a:rPr>
              <a:t> </a:t>
            </a:r>
            <a:r>
              <a:rPr lang="de-DE" sz="1600" dirty="0" err="1">
                <a:latin typeface="+mj-lt"/>
              </a:rPr>
              <a:t>distributes</a:t>
            </a:r>
            <a:r>
              <a:rPr lang="de-DE" sz="1600" dirty="0">
                <a:latin typeface="+mj-lt"/>
              </a:rPr>
              <a:t> </a:t>
            </a:r>
            <a:r>
              <a:rPr lang="de-DE" sz="1600" dirty="0" err="1">
                <a:latin typeface="+mj-lt"/>
              </a:rPr>
              <a:t>them</a:t>
            </a:r>
            <a:r>
              <a:rPr lang="de-DE" sz="1600" dirty="0">
                <a:latin typeface="+mj-lt"/>
              </a:rPr>
              <a:t>, BE </a:t>
            </a:r>
            <a:r>
              <a:rPr lang="de-DE" sz="1600" dirty="0" err="1">
                <a:latin typeface="+mj-lt"/>
              </a:rPr>
              <a:t>has</a:t>
            </a:r>
            <a:r>
              <a:rPr lang="de-DE" sz="1600" dirty="0">
                <a:latin typeface="+mj-lt"/>
              </a:rPr>
              <a:t> the </a:t>
            </a:r>
            <a:r>
              <a:rPr lang="de-DE" sz="1600" b="1" dirty="0">
                <a:latin typeface="+mj-lt"/>
              </a:rPr>
              <a:t>Power to </a:t>
            </a:r>
            <a:r>
              <a:rPr lang="de-DE" sz="1600" b="1" dirty="0" err="1">
                <a:latin typeface="+mj-lt"/>
              </a:rPr>
              <a:t>declare</a:t>
            </a:r>
            <a:r>
              <a:rPr lang="de-DE" sz="1600" b="1" dirty="0">
                <a:latin typeface="+mj-lt"/>
              </a:rPr>
              <a:t> the </a:t>
            </a:r>
            <a:r>
              <a:rPr lang="de-DE" sz="1600" b="1" dirty="0" err="1">
                <a:latin typeface="+mj-lt"/>
              </a:rPr>
              <a:t>violation</a:t>
            </a:r>
            <a:r>
              <a:rPr lang="de-DE" sz="1600" dirty="0">
                <a:latin typeface="+mj-lt"/>
              </a:rPr>
              <a:t>.</a:t>
            </a:r>
          </a:p>
          <a:p>
            <a:r>
              <a:rPr lang="de-DE" sz="1800" b="1" dirty="0">
                <a:latin typeface="+mj-lt"/>
              </a:rPr>
              <a:t>Theorem 4.2:</a:t>
            </a:r>
            <a:r>
              <a:rPr lang="de-DE" sz="1800" dirty="0">
                <a:latin typeface="+mj-lt"/>
              </a:rPr>
              <a:t> A </a:t>
            </a:r>
            <a:r>
              <a:rPr lang="de-DE" sz="1800" dirty="0" err="1">
                <a:latin typeface="+mj-lt"/>
              </a:rPr>
              <a:t>sanctioned</a:t>
            </a:r>
            <a:r>
              <a:rPr lang="de-DE" sz="1800" dirty="0">
                <a:latin typeface="+mj-lt"/>
              </a:rPr>
              <a:t> </a:t>
            </a:r>
            <a:r>
              <a:rPr lang="de-DE" sz="1800" dirty="0" err="1">
                <a:latin typeface="+mj-lt"/>
              </a:rPr>
              <a:t>prohibition</a:t>
            </a:r>
            <a:r>
              <a:rPr lang="de-DE" sz="1800" dirty="0">
                <a:latin typeface="+mj-lt"/>
              </a:rPr>
              <a:t> </a:t>
            </a:r>
            <a:r>
              <a:rPr lang="de-DE" sz="1800" dirty="0" err="1">
                <a:latin typeface="+mj-lt"/>
              </a:rPr>
              <a:t>is</a:t>
            </a:r>
            <a:r>
              <a:rPr lang="de-DE" sz="1800" dirty="0">
                <a:latin typeface="+mj-lt"/>
              </a:rPr>
              <a:t> </a:t>
            </a:r>
            <a:r>
              <a:rPr lang="de-DE" sz="1800" b="1" dirty="0" err="1">
                <a:latin typeface="+mj-lt"/>
              </a:rPr>
              <a:t>cross</a:t>
            </a:r>
            <a:r>
              <a:rPr lang="de-DE" sz="1800" b="1" dirty="0">
                <a:latin typeface="+mj-lt"/>
              </a:rPr>
              <a:t>-level</a:t>
            </a:r>
            <a:r>
              <a:rPr lang="de-DE" sz="1800" dirty="0">
                <a:latin typeface="+mj-lt"/>
              </a:rPr>
              <a:t>. </a:t>
            </a:r>
            <a:r>
              <a:rPr lang="de-DE" sz="1800" dirty="0" err="1">
                <a:latin typeface="+mj-lt"/>
              </a:rPr>
              <a:t>regimented</a:t>
            </a:r>
            <a:endParaRPr lang="de-DE" sz="1800" dirty="0">
              <a:latin typeface="+mj-lt"/>
            </a:endParaRPr>
          </a:p>
        </p:txBody>
      </p:sp>
    </p:spTree>
    <p:extLst>
      <p:ext uri="{BB962C8B-B14F-4D97-AF65-F5344CB8AC3E}">
        <p14:creationId xmlns:p14="http://schemas.microsoft.com/office/powerpoint/2010/main" val="213782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E8CD8-65D4-CDEB-ACD0-35CFD74308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4B56A-FC30-CD95-400B-D8D85F8BA7E3}"/>
              </a:ext>
            </a:extLst>
          </p:cNvPr>
          <p:cNvSpPr>
            <a:spLocks noGrp="1"/>
          </p:cNvSpPr>
          <p:nvPr>
            <p:ph type="title"/>
          </p:nvPr>
        </p:nvSpPr>
        <p:spPr/>
        <p:txBody>
          <a:bodyPr/>
          <a:lstStyle/>
          <a:p>
            <a:r>
              <a:rPr dirty="0"/>
              <a:t>ODRL's deontic</a:t>
            </a:r>
            <a:r>
              <a:rPr lang="en-US" dirty="0"/>
              <a:t> </a:t>
            </a:r>
            <a:r>
              <a:rPr lang="de-DE" dirty="0"/>
              <a:t>Duty Covers Achievement </a:t>
            </a:r>
            <a:r>
              <a:rPr lang="de-DE" dirty="0" err="1"/>
              <a:t>Obligations</a:t>
            </a:r>
            <a:r>
              <a:rPr lang="de-DE" dirty="0"/>
              <a:t> Only (P3)</a:t>
            </a:r>
            <a:endParaRPr dirty="0"/>
          </a:p>
        </p:txBody>
      </p:sp>
      <p:sp>
        <p:nvSpPr>
          <p:cNvPr id="3" name="Content Placeholder 2">
            <a:extLst>
              <a:ext uri="{FF2B5EF4-FFF2-40B4-BE49-F238E27FC236}">
                <a16:creationId xmlns:a16="http://schemas.microsoft.com/office/drawing/2014/main" id="{585F03DF-ED40-E7CD-2E56-4AF8EB2F97A3}"/>
              </a:ext>
            </a:extLst>
          </p:cNvPr>
          <p:cNvSpPr>
            <a:spLocks noGrp="1"/>
          </p:cNvSpPr>
          <p:nvPr>
            <p:ph idx="1"/>
          </p:nvPr>
        </p:nvSpPr>
        <p:spPr/>
        <p:txBody>
          <a:bodyPr>
            <a:noAutofit/>
          </a:bodyPr>
          <a:lstStyle/>
          <a:p>
            <a:r>
              <a:rPr lang="de-DE" sz="1800" b="1" dirty="0">
                <a:latin typeface="+mj-lt"/>
              </a:rPr>
              <a:t>ODRL  Formal </a:t>
            </a:r>
            <a:r>
              <a:rPr lang="de-DE" sz="1800" b="1" dirty="0" err="1">
                <a:latin typeface="+mj-lt"/>
              </a:rPr>
              <a:t>Semantics</a:t>
            </a:r>
            <a:endParaRPr lang="de-DE" sz="1800" dirty="0">
              <a:latin typeface="+mj-lt"/>
            </a:endParaRPr>
          </a:p>
          <a:p>
            <a:pPr lvl="1"/>
            <a:r>
              <a:rPr lang="de-DE" sz="1600" b="1" dirty="0">
                <a:latin typeface="+mj-lt"/>
              </a:rPr>
              <a:t>Achievement:</a:t>
            </a:r>
            <a:r>
              <a:rPr lang="de-DE" sz="1600" dirty="0">
                <a:latin typeface="+mj-lt"/>
              </a:rPr>
              <a:t> </a:t>
            </a:r>
            <a:r>
              <a:rPr lang="de-DE" sz="1600" dirty="0" err="1">
                <a:latin typeface="+mj-lt"/>
              </a:rPr>
              <a:t>one</a:t>
            </a:r>
            <a:r>
              <a:rPr lang="de-DE" sz="1600" dirty="0">
                <a:latin typeface="+mj-lt"/>
              </a:rPr>
              <a:t> </a:t>
            </a:r>
            <a:r>
              <a:rPr lang="de-DE" sz="1600" dirty="0" err="1">
                <a:latin typeface="+mj-lt"/>
              </a:rPr>
              <a:t>performance</a:t>
            </a:r>
            <a:r>
              <a:rPr lang="de-DE" sz="1600" dirty="0">
                <a:latin typeface="+mj-lt"/>
              </a:rPr>
              <a:t> </a:t>
            </a:r>
            <a:r>
              <a:rPr lang="de-DE" sz="1600" dirty="0" err="1">
                <a:latin typeface="+mj-lt"/>
              </a:rPr>
              <a:t>event</a:t>
            </a:r>
            <a:r>
              <a:rPr lang="de-DE" sz="1600" dirty="0">
                <a:latin typeface="+mj-lt"/>
              </a:rPr>
              <a:t> → </a:t>
            </a:r>
            <a:r>
              <a:rPr lang="de-DE" sz="1600" dirty="0" err="1">
                <a:latin typeface="+mj-lt"/>
              </a:rPr>
              <a:t>fulfilled</a:t>
            </a:r>
            <a:r>
              <a:rPr lang="de-DE" sz="1600" dirty="0">
                <a:latin typeface="+mj-lt"/>
              </a:rPr>
              <a:t>; </a:t>
            </a:r>
            <a:r>
              <a:rPr lang="de-DE" sz="1600" dirty="0" err="1">
                <a:latin typeface="+mj-lt"/>
              </a:rPr>
              <a:t>later</a:t>
            </a:r>
            <a:r>
              <a:rPr lang="de-DE" sz="1600" dirty="0">
                <a:latin typeface="+mj-lt"/>
              </a:rPr>
              <a:t> impossible → </a:t>
            </a:r>
            <a:r>
              <a:rPr lang="de-DE" sz="1600" dirty="0" err="1">
                <a:latin typeface="+mj-lt"/>
              </a:rPr>
              <a:t>violated</a:t>
            </a:r>
            <a:r>
              <a:rPr lang="de-DE" sz="1600" dirty="0">
                <a:latin typeface="+mj-lt"/>
              </a:rPr>
              <a:t>.</a:t>
            </a:r>
          </a:p>
          <a:p>
            <a:pPr lvl="1"/>
            <a:r>
              <a:rPr lang="de-DE" sz="1600" b="1" dirty="0">
                <a:latin typeface="+mj-lt"/>
              </a:rPr>
              <a:t>Maintenance:</a:t>
            </a:r>
            <a:r>
              <a:rPr lang="de-DE" sz="1600" dirty="0">
                <a:latin typeface="+mj-lt"/>
              </a:rPr>
              <a:t> </a:t>
            </a:r>
            <a:r>
              <a:rPr lang="de-DE" sz="1600" dirty="0" err="1">
                <a:latin typeface="+mj-lt"/>
              </a:rPr>
              <a:t>ongoing</a:t>
            </a:r>
            <a:r>
              <a:rPr lang="de-DE" sz="1600" dirty="0">
                <a:latin typeface="+mj-lt"/>
              </a:rPr>
              <a:t> </a:t>
            </a:r>
            <a:r>
              <a:rPr lang="de-DE" sz="1600" dirty="0" err="1">
                <a:latin typeface="+mj-lt"/>
              </a:rPr>
              <a:t>state</a:t>
            </a:r>
            <a:r>
              <a:rPr lang="de-DE" sz="1600" dirty="0">
                <a:latin typeface="+mj-lt"/>
              </a:rPr>
              <a:t> → </a:t>
            </a:r>
            <a:r>
              <a:rPr lang="de-DE" sz="1600" dirty="0" err="1">
                <a:latin typeface="+mj-lt"/>
              </a:rPr>
              <a:t>no</a:t>
            </a:r>
            <a:r>
              <a:rPr lang="de-DE" sz="1600" dirty="0">
                <a:latin typeface="+mj-lt"/>
              </a:rPr>
              <a:t> </a:t>
            </a:r>
            <a:r>
              <a:rPr lang="de-DE" sz="1600" dirty="0" err="1">
                <a:latin typeface="+mj-lt"/>
              </a:rPr>
              <a:t>evaluation</a:t>
            </a:r>
            <a:r>
              <a:rPr lang="de-DE" sz="1600" dirty="0">
                <a:latin typeface="+mj-lt"/>
              </a:rPr>
              <a:t> </a:t>
            </a:r>
            <a:r>
              <a:rPr lang="de-DE" sz="1600" dirty="0" err="1">
                <a:latin typeface="+mj-lt"/>
              </a:rPr>
              <a:t>semantics</a:t>
            </a:r>
            <a:r>
              <a:rPr lang="de-DE" sz="1600" dirty="0">
                <a:latin typeface="+mj-lt"/>
              </a:rPr>
              <a:t>.</a:t>
            </a:r>
          </a:p>
          <a:p>
            <a:pPr lvl="1"/>
            <a:r>
              <a:rPr lang="de-DE" sz="1600" b="1" dirty="0" err="1">
                <a:latin typeface="+mj-lt"/>
              </a:rPr>
              <a:t>Process</a:t>
            </a:r>
            <a:r>
              <a:rPr lang="de-DE" sz="1600" b="1" dirty="0">
                <a:latin typeface="+mj-lt"/>
              </a:rPr>
              <a:t>:</a:t>
            </a:r>
            <a:r>
              <a:rPr lang="de-DE" sz="1600" dirty="0">
                <a:latin typeface="+mj-lt"/>
              </a:rPr>
              <a:t> </a:t>
            </a:r>
            <a:r>
              <a:rPr lang="de-DE" sz="1600" dirty="0" err="1">
                <a:latin typeface="+mj-lt"/>
              </a:rPr>
              <a:t>continuous</a:t>
            </a:r>
            <a:r>
              <a:rPr lang="de-DE" sz="1600" dirty="0">
                <a:latin typeface="+mj-lt"/>
              </a:rPr>
              <a:t> </a:t>
            </a:r>
            <a:r>
              <a:rPr lang="de-DE" sz="1600" dirty="0" err="1">
                <a:latin typeface="+mj-lt"/>
              </a:rPr>
              <a:t>activity</a:t>
            </a:r>
            <a:r>
              <a:rPr lang="de-DE" sz="1600" dirty="0">
                <a:latin typeface="+mj-lt"/>
              </a:rPr>
              <a:t> → </a:t>
            </a:r>
            <a:r>
              <a:rPr lang="de-DE" sz="1600" dirty="0" err="1">
                <a:latin typeface="+mj-lt"/>
              </a:rPr>
              <a:t>no</a:t>
            </a:r>
            <a:r>
              <a:rPr lang="de-DE" sz="1600" dirty="0">
                <a:latin typeface="+mj-lt"/>
              </a:rPr>
              <a:t> </a:t>
            </a:r>
            <a:r>
              <a:rPr lang="de-DE" sz="1600" dirty="0" err="1">
                <a:latin typeface="+mj-lt"/>
              </a:rPr>
              <a:t>evaluation</a:t>
            </a:r>
            <a:r>
              <a:rPr lang="de-DE" sz="1600" dirty="0">
                <a:latin typeface="+mj-lt"/>
              </a:rPr>
              <a:t> </a:t>
            </a:r>
            <a:r>
              <a:rPr lang="de-DE" sz="1600" dirty="0" err="1">
                <a:latin typeface="+mj-lt"/>
              </a:rPr>
              <a:t>semantics</a:t>
            </a:r>
            <a:r>
              <a:rPr lang="de-DE" sz="1600" dirty="0">
                <a:latin typeface="+mj-lt"/>
              </a:rPr>
              <a:t>.</a:t>
            </a:r>
          </a:p>
          <a:p>
            <a:r>
              <a:rPr lang="de-DE" sz="1800" b="1" dirty="0">
                <a:latin typeface="+mj-lt"/>
              </a:rPr>
              <a:t>UFO-L — Grounding</a:t>
            </a:r>
            <a:endParaRPr lang="de-DE" sz="1800" dirty="0">
              <a:latin typeface="+mj-lt"/>
            </a:endParaRPr>
          </a:p>
          <a:p>
            <a:pPr lvl="1"/>
            <a:r>
              <a:rPr lang="de-DE" sz="1600" dirty="0">
                <a:latin typeface="+mj-lt"/>
              </a:rPr>
              <a:t>Any ODRL Duty → </a:t>
            </a:r>
            <a:r>
              <a:rPr lang="de-DE" sz="1600" b="1" dirty="0" err="1">
                <a:latin typeface="+mj-lt"/>
              </a:rPr>
              <a:t>one</a:t>
            </a:r>
            <a:r>
              <a:rPr lang="de-DE" sz="1600" b="1" dirty="0">
                <a:latin typeface="+mj-lt"/>
              </a:rPr>
              <a:t> </a:t>
            </a:r>
            <a:r>
              <a:rPr lang="de-DE" sz="1600" b="1" dirty="0" err="1">
                <a:latin typeface="+mj-lt"/>
              </a:rPr>
              <a:t>conduct</a:t>
            </a:r>
            <a:r>
              <a:rPr lang="de-DE" sz="1600" b="1" dirty="0">
                <a:latin typeface="+mj-lt"/>
              </a:rPr>
              <a:t> </a:t>
            </a:r>
            <a:r>
              <a:rPr lang="de-DE" sz="1600" b="1" dirty="0" err="1">
                <a:latin typeface="+mj-lt"/>
              </a:rPr>
              <a:t>relator</a:t>
            </a:r>
            <a:r>
              <a:rPr lang="de-DE" sz="1600" b="1" dirty="0">
                <a:latin typeface="+mj-lt"/>
              </a:rPr>
              <a:t> Duty to Act ↔ Right to Action</a:t>
            </a:r>
            <a:endParaRPr lang="de-DE" sz="1600" dirty="0">
              <a:latin typeface="+mj-lt"/>
            </a:endParaRPr>
          </a:p>
          <a:p>
            <a:r>
              <a:rPr lang="de-DE" sz="1800" b="1" dirty="0" err="1">
                <a:latin typeface="+mj-lt"/>
              </a:rPr>
              <a:t>Example</a:t>
            </a:r>
            <a:endParaRPr lang="de-DE" sz="1800" dirty="0">
              <a:latin typeface="+mj-lt"/>
            </a:endParaRPr>
          </a:p>
          <a:p>
            <a:pPr lvl="1"/>
            <a:r>
              <a:rPr lang="de-DE" sz="1600" b="1" dirty="0">
                <a:latin typeface="+mj-lt"/>
              </a:rPr>
              <a:t>“Delete the </a:t>
            </a:r>
            <a:r>
              <a:rPr lang="de-DE" sz="1600" b="1" dirty="0" err="1">
                <a:latin typeface="+mj-lt"/>
              </a:rPr>
              <a:t>copy</a:t>
            </a:r>
            <a:r>
              <a:rPr lang="de-DE" sz="1600" b="1" dirty="0">
                <a:latin typeface="+mj-lt"/>
              </a:rPr>
              <a:t> </a:t>
            </a:r>
            <a:r>
              <a:rPr lang="de-DE" sz="1600" b="1" dirty="0" err="1">
                <a:latin typeface="+mj-lt"/>
              </a:rPr>
              <a:t>within</a:t>
            </a:r>
            <a:r>
              <a:rPr lang="de-DE" sz="1600" b="1" dirty="0">
                <a:latin typeface="+mj-lt"/>
              </a:rPr>
              <a:t> 30 </a:t>
            </a:r>
            <a:r>
              <a:rPr lang="de-DE" sz="1600" b="1" dirty="0" err="1">
                <a:latin typeface="+mj-lt"/>
              </a:rPr>
              <a:t>days</a:t>
            </a:r>
            <a:r>
              <a:rPr lang="de-DE" sz="1600" b="1" dirty="0">
                <a:latin typeface="+mj-lt"/>
              </a:rPr>
              <a:t>“</a:t>
            </a:r>
            <a:r>
              <a:rPr lang="de-DE" sz="1600" dirty="0">
                <a:latin typeface="+mj-lt"/>
              </a:rPr>
              <a:t>  </a:t>
            </a:r>
            <a:r>
              <a:rPr lang="de-DE" sz="1600" dirty="0" err="1">
                <a:latin typeface="+mj-lt"/>
              </a:rPr>
              <a:t>achievement</a:t>
            </a:r>
            <a:endParaRPr lang="de-DE" sz="1600" dirty="0">
              <a:latin typeface="+mj-lt"/>
            </a:endParaRPr>
          </a:p>
          <a:p>
            <a:pPr lvl="1"/>
            <a:r>
              <a:rPr lang="de-DE" sz="1600" b="1" dirty="0">
                <a:latin typeface="+mj-lt"/>
              </a:rPr>
              <a:t>“Keep the </a:t>
            </a:r>
            <a:r>
              <a:rPr lang="de-DE" sz="1600" b="1" dirty="0" err="1">
                <a:latin typeface="+mj-lt"/>
              </a:rPr>
              <a:t>data</a:t>
            </a:r>
            <a:r>
              <a:rPr lang="de-DE" sz="1600" b="1" dirty="0">
                <a:latin typeface="+mj-lt"/>
              </a:rPr>
              <a:t> </a:t>
            </a:r>
            <a:r>
              <a:rPr lang="de-DE" sz="1600" b="1" dirty="0" err="1">
                <a:latin typeface="+mj-lt"/>
              </a:rPr>
              <a:t>encrypted</a:t>
            </a:r>
            <a:r>
              <a:rPr lang="de-DE" sz="1600" b="1" dirty="0">
                <a:latin typeface="+mj-lt"/>
              </a:rPr>
              <a:t>”</a:t>
            </a:r>
            <a:r>
              <a:rPr lang="de-DE" sz="1600" dirty="0">
                <a:latin typeface="+mj-lt"/>
              </a:rPr>
              <a:t>  </a:t>
            </a:r>
            <a:r>
              <a:rPr lang="de-DE" sz="1600" dirty="0" err="1">
                <a:latin typeface="+mj-lt"/>
              </a:rPr>
              <a:t>maintenance</a:t>
            </a:r>
            <a:endParaRPr lang="de-DE" sz="1600" dirty="0">
              <a:latin typeface="+mj-lt"/>
            </a:endParaRPr>
          </a:p>
          <a:p>
            <a:pPr lvl="1"/>
            <a:r>
              <a:rPr lang="de-DE" sz="1600" b="1" dirty="0">
                <a:latin typeface="+mj-lt"/>
              </a:rPr>
              <a:t>“Log </a:t>
            </a:r>
            <a:r>
              <a:rPr lang="de-DE" sz="1600" b="1" dirty="0" err="1">
                <a:latin typeface="+mj-lt"/>
              </a:rPr>
              <a:t>every</a:t>
            </a:r>
            <a:r>
              <a:rPr lang="de-DE" sz="1600" b="1" dirty="0">
                <a:latin typeface="+mj-lt"/>
              </a:rPr>
              <a:t> </a:t>
            </a:r>
            <a:r>
              <a:rPr lang="de-DE" sz="1600" b="1" dirty="0" err="1">
                <a:latin typeface="+mj-lt"/>
              </a:rPr>
              <a:t>access</a:t>
            </a:r>
            <a:r>
              <a:rPr lang="de-DE" sz="1600" b="1" dirty="0">
                <a:latin typeface="+mj-lt"/>
              </a:rPr>
              <a:t>”</a:t>
            </a:r>
            <a:r>
              <a:rPr lang="de-DE" sz="1600" dirty="0">
                <a:latin typeface="+mj-lt"/>
              </a:rPr>
              <a:t>  </a:t>
            </a:r>
            <a:r>
              <a:rPr lang="de-DE" sz="1600" dirty="0" err="1">
                <a:latin typeface="+mj-lt"/>
              </a:rPr>
              <a:t>process</a:t>
            </a:r>
            <a:endParaRPr lang="de-DE" sz="1600" dirty="0">
              <a:latin typeface="+mj-lt"/>
            </a:endParaRPr>
          </a:p>
          <a:p>
            <a:pPr marL="342900" lvl="1" indent="0">
              <a:buNone/>
            </a:pPr>
            <a:endParaRPr lang="de-DE" sz="1600" dirty="0">
              <a:latin typeface="+mj-lt"/>
            </a:endParaRPr>
          </a:p>
          <a:p>
            <a:pPr marL="0" indent="0">
              <a:buNone/>
            </a:pPr>
            <a:r>
              <a:rPr lang="de-DE" sz="1800" dirty="0" err="1">
                <a:latin typeface="+mj-lt"/>
              </a:rPr>
              <a:t>One</a:t>
            </a:r>
            <a:r>
              <a:rPr lang="de-DE" sz="1800" dirty="0">
                <a:latin typeface="+mj-lt"/>
              </a:rPr>
              <a:t> </a:t>
            </a:r>
            <a:r>
              <a:rPr lang="de-DE" sz="1800" dirty="0" err="1">
                <a:latin typeface="+mj-lt"/>
              </a:rPr>
              <a:t>party</a:t>
            </a:r>
            <a:r>
              <a:rPr lang="de-DE" sz="1800" dirty="0">
                <a:latin typeface="+mj-lt"/>
              </a:rPr>
              <a:t> </a:t>
            </a:r>
            <a:r>
              <a:rPr lang="de-DE" sz="1800" dirty="0" err="1">
                <a:latin typeface="+mj-lt"/>
              </a:rPr>
              <a:t>must</a:t>
            </a:r>
            <a:r>
              <a:rPr lang="de-DE" sz="1800" dirty="0">
                <a:latin typeface="+mj-lt"/>
              </a:rPr>
              <a:t> </a:t>
            </a:r>
            <a:r>
              <a:rPr lang="de-DE" sz="1800" dirty="0" err="1">
                <a:latin typeface="+mj-lt"/>
              </a:rPr>
              <a:t>act</a:t>
            </a:r>
            <a:r>
              <a:rPr lang="de-DE" sz="1800" dirty="0">
                <a:latin typeface="+mj-lt"/>
              </a:rPr>
              <a:t>; the </a:t>
            </a:r>
            <a:r>
              <a:rPr lang="de-DE" sz="1800" dirty="0" err="1">
                <a:latin typeface="+mj-lt"/>
              </a:rPr>
              <a:t>other</a:t>
            </a:r>
            <a:r>
              <a:rPr lang="de-DE" sz="1800" dirty="0">
                <a:latin typeface="+mj-lt"/>
              </a:rPr>
              <a:t> </a:t>
            </a:r>
            <a:r>
              <a:rPr lang="de-DE" sz="1800" dirty="0" err="1">
                <a:latin typeface="+mj-lt"/>
              </a:rPr>
              <a:t>has</a:t>
            </a:r>
            <a:r>
              <a:rPr lang="de-DE" sz="1800" dirty="0">
                <a:latin typeface="+mj-lt"/>
              </a:rPr>
              <a:t> the </a:t>
            </a:r>
            <a:r>
              <a:rPr lang="de-DE" sz="1800" dirty="0" err="1">
                <a:latin typeface="+mj-lt"/>
              </a:rPr>
              <a:t>corresponding</a:t>
            </a:r>
            <a:r>
              <a:rPr lang="de-DE" sz="1800" dirty="0">
                <a:latin typeface="+mj-lt"/>
              </a:rPr>
              <a:t> </a:t>
            </a:r>
            <a:r>
              <a:rPr lang="de-DE" sz="1800" dirty="0" err="1">
                <a:latin typeface="+mj-lt"/>
              </a:rPr>
              <a:t>right</a:t>
            </a:r>
            <a:r>
              <a:rPr lang="de-DE" sz="1800" dirty="0">
                <a:latin typeface="+mj-lt"/>
              </a:rPr>
              <a:t>. </a:t>
            </a:r>
          </a:p>
          <a:p>
            <a:pPr marL="0" indent="0">
              <a:buNone/>
            </a:pPr>
            <a:r>
              <a:rPr lang="de-DE" sz="1800" dirty="0" err="1">
                <a:latin typeface="+mj-lt"/>
              </a:rPr>
              <a:t>KulturPortal</a:t>
            </a:r>
            <a:r>
              <a:rPr lang="de-DE" sz="1800" dirty="0">
                <a:latin typeface="+mj-lt"/>
              </a:rPr>
              <a:t> </a:t>
            </a:r>
            <a:r>
              <a:rPr lang="de-DE" sz="1800" dirty="0" err="1">
                <a:latin typeface="+mj-lt"/>
              </a:rPr>
              <a:t>must</a:t>
            </a:r>
            <a:r>
              <a:rPr lang="de-DE" sz="1800" dirty="0">
                <a:latin typeface="+mj-lt"/>
              </a:rPr>
              <a:t> </a:t>
            </a:r>
            <a:r>
              <a:rPr lang="de-DE" sz="1800" dirty="0" err="1">
                <a:latin typeface="+mj-lt"/>
              </a:rPr>
              <a:t>delete</a:t>
            </a:r>
            <a:r>
              <a:rPr lang="de-DE" sz="1800" dirty="0">
                <a:latin typeface="+mj-lt"/>
              </a:rPr>
              <a:t> the </a:t>
            </a:r>
            <a:r>
              <a:rPr lang="de-DE" sz="1800" dirty="0" err="1">
                <a:latin typeface="+mj-lt"/>
              </a:rPr>
              <a:t>copy</a:t>
            </a:r>
            <a:r>
              <a:rPr lang="de-DE" sz="1800" dirty="0">
                <a:latin typeface="+mj-lt"/>
              </a:rPr>
              <a:t>; Berliner Ensemble </a:t>
            </a:r>
            <a:r>
              <a:rPr lang="de-DE" sz="1800" dirty="0" err="1">
                <a:latin typeface="+mj-lt"/>
              </a:rPr>
              <a:t>has</a:t>
            </a:r>
            <a:r>
              <a:rPr lang="de-DE" sz="1800" dirty="0">
                <a:latin typeface="+mj-lt"/>
              </a:rPr>
              <a:t> the </a:t>
            </a:r>
            <a:r>
              <a:rPr lang="de-DE" sz="1800" dirty="0" err="1">
                <a:latin typeface="+mj-lt"/>
              </a:rPr>
              <a:t>corresponding</a:t>
            </a:r>
            <a:r>
              <a:rPr lang="de-DE" sz="1800" dirty="0">
                <a:latin typeface="+mj-lt"/>
              </a:rPr>
              <a:t> </a:t>
            </a:r>
            <a:r>
              <a:rPr lang="de-DE" sz="1800" dirty="0" err="1">
                <a:latin typeface="+mj-lt"/>
              </a:rPr>
              <a:t>right</a:t>
            </a:r>
            <a:r>
              <a:rPr lang="de-DE" sz="1800" dirty="0">
                <a:latin typeface="+mj-lt"/>
              </a:rPr>
              <a:t> to </a:t>
            </a:r>
            <a:r>
              <a:rPr lang="de-DE" sz="1800" dirty="0" err="1">
                <a:latin typeface="+mj-lt"/>
              </a:rPr>
              <a:t>have</a:t>
            </a:r>
            <a:r>
              <a:rPr lang="de-DE" sz="1800" dirty="0">
                <a:latin typeface="+mj-lt"/>
              </a:rPr>
              <a:t> it </a:t>
            </a:r>
            <a:r>
              <a:rPr lang="de-DE" sz="1800" dirty="0" err="1">
                <a:latin typeface="+mj-lt"/>
              </a:rPr>
              <a:t>deleted</a:t>
            </a:r>
            <a:r>
              <a:rPr lang="de-DE" sz="1800" dirty="0">
                <a:latin typeface="+mj-lt"/>
              </a:rPr>
              <a:t>.</a:t>
            </a:r>
          </a:p>
        </p:txBody>
      </p:sp>
    </p:spTree>
    <p:extLst>
      <p:ext uri="{BB962C8B-B14F-4D97-AF65-F5344CB8AC3E}">
        <p14:creationId xmlns:p14="http://schemas.microsoft.com/office/powerpoint/2010/main" val="1161695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Why Some Norms Need Both Levels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48640" y="1325880"/>
                <a:ext cx="11094415" cy="3429000"/>
              </a:xfrm>
            </p:spPr>
            <p:txBody>
              <a:bodyPr>
                <a:noAutofit/>
              </a:bodyPr>
              <a:lstStyle/>
              <a:p>
                <a:r>
                  <a:rPr lang="en-US" sz="1800" b="1" noProof="0" dirty="0">
                    <a:latin typeface="+mj-lt"/>
                  </a:rPr>
                  <a:t>UFO-L assumptions</a:t>
                </a:r>
                <a:endParaRPr lang="en-US" sz="1800" noProof="0" dirty="0">
                  <a:latin typeface="+mj-lt"/>
                </a:endParaRPr>
              </a:p>
              <a:p>
                <a:pPr lvl="1"/>
                <a:r>
                  <a:rPr lang="en-US" sz="1900" b="1" noProof="0" dirty="0">
                    <a:latin typeface="+mj-lt"/>
                  </a:rPr>
                  <a:t>A1:</a:t>
                </a:r>
                <a:r>
                  <a:rPr lang="en-US" sz="1900" noProof="0" dirty="0">
                    <a:latin typeface="+mj-lt"/>
                  </a:rPr>
                  <a:t> A normative change needs a triggering institutional event. </a:t>
                </a:r>
                <a:r>
                  <a:rPr lang="en-US" sz="1900" b="1" noProof="0" dirty="0">
                    <a:latin typeface="+mj-lt"/>
                  </a:rPr>
                  <a:t>event </a:t>
                </a:r>
                <a14:m>
                  <m:oMath xmlns:m="http://schemas.openxmlformats.org/officeDocument/2006/math">
                    <m:r>
                      <a:rPr lang="en-US" sz="1900" i="1" noProof="0" smtClean="0">
                        <a:latin typeface="Cambria Math" panose="02040503050406030204" pitchFamily="18" charset="0"/>
                      </a:rPr>
                      <m:t>𝑒</m:t>
                    </m:r>
                  </m:oMath>
                </a14:m>
                <a:r>
                  <a:rPr lang="en-US" sz="1900" b="1" noProof="0" dirty="0">
                    <a:latin typeface="+mj-lt"/>
                  </a:rPr>
                  <a:t>founds the new legal relator </a:t>
                </a:r>
                <a14:m>
                  <m:oMath xmlns:m="http://schemas.openxmlformats.org/officeDocument/2006/math">
                    <m:sSub>
                      <m:sSubPr>
                        <m:ctrlPr>
                          <a:rPr lang="en-US" sz="1900" i="1" noProof="0" smtClean="0">
                            <a:latin typeface="Cambria Math" panose="02040503050406030204" pitchFamily="18" charset="0"/>
                          </a:rPr>
                        </m:ctrlPr>
                      </m:sSubPr>
                      <m:e>
                        <m:r>
                          <a:rPr lang="en-US" sz="1900" i="1" noProof="0" smtClean="0">
                            <a:latin typeface="Cambria Math" panose="02040503050406030204" pitchFamily="18" charset="0"/>
                          </a:rPr>
                          <m:t>𝜌</m:t>
                        </m:r>
                      </m:e>
                      <m:sub>
                        <m:r>
                          <a:rPr lang="en-US" sz="1900" i="1" noProof="0" smtClean="0">
                            <a:latin typeface="Cambria Math" panose="02040503050406030204" pitchFamily="18" charset="0"/>
                          </a:rPr>
                          <m:t>𝑃</m:t>
                        </m:r>
                      </m:sub>
                    </m:sSub>
                  </m:oMath>
                </a14:m>
                <a:r>
                  <a:rPr lang="en-US" sz="1900" noProof="0" dirty="0">
                    <a:latin typeface="+mj-lt"/>
                  </a:rPr>
                  <a:t>.</a:t>
                </a:r>
              </a:p>
              <a:p>
                <a:pPr lvl="1"/>
                <a:r>
                  <a:rPr lang="en-US" sz="1900" b="1" noProof="0" dirty="0">
                    <a:latin typeface="+mj-lt"/>
                  </a:rPr>
                  <a:t>A2:</a:t>
                </a:r>
                <a:r>
                  <a:rPr lang="en-US" sz="1900" noProof="0" dirty="0">
                    <a:latin typeface="+mj-lt"/>
                  </a:rPr>
                  <a:t> when a norm involves a legal change, someone must have the competence to make that change.</a:t>
                </a:r>
              </a:p>
              <a:p>
                <a:pPr lvl="1"/>
                <a:r>
                  <a:rPr lang="en-US" sz="1900" b="1" noProof="0" dirty="0">
                    <a:latin typeface="+mj-lt"/>
                  </a:rPr>
                  <a:t>A3:</a:t>
                </a:r>
                <a:r>
                  <a:rPr lang="en-US" sz="1900" noProof="0" dirty="0">
                    <a:latin typeface="+mj-lt"/>
                  </a:rPr>
                  <a:t> Competence is represented by </a:t>
                </a:r>
                <a:r>
                  <a:rPr lang="en-US" sz="1900" b="1" noProof="0" dirty="0">
                    <a:latin typeface="+mj-lt"/>
                  </a:rPr>
                  <a:t>Power ↔ Subjection</a:t>
                </a:r>
                <a:r>
                  <a:rPr lang="en-US" sz="1900" noProof="0" dirty="0">
                    <a:latin typeface="+mj-lt"/>
                  </a:rPr>
                  <a:t>.</a:t>
                </a:r>
              </a:p>
              <a:p>
                <a:r>
                  <a:rPr lang="en-US" sz="1800" b="1" noProof="0" dirty="0">
                    <a:latin typeface="+mj-lt"/>
                  </a:rPr>
                  <a:t>What follows</a:t>
                </a:r>
                <a:endParaRPr lang="en-US" sz="1800" noProof="0" dirty="0">
                  <a:latin typeface="+mj-lt"/>
                </a:endParaRPr>
              </a:p>
              <a:p>
                <a:pPr lvl="1"/>
                <a:r>
                  <a:rPr lang="en-US" sz="1900" b="1" noProof="0" dirty="0">
                    <a:latin typeface="+mj-lt"/>
                  </a:rPr>
                  <a:t>Weak permission:</a:t>
                </a:r>
                <a:r>
                  <a:rPr lang="en-US" sz="1900" noProof="0" dirty="0">
                    <a:latin typeface="+mj-lt"/>
                  </a:rPr>
                  <a:t> conduct level only  </a:t>
                </a:r>
                <a:r>
                  <a:rPr lang="en-US" sz="1900" b="1" noProof="0" dirty="0">
                    <a:latin typeface="+mj-lt"/>
                  </a:rPr>
                  <a:t>Permission ↔ </a:t>
                </a:r>
                <a:r>
                  <a:rPr lang="en-US" sz="1900" b="1" noProof="0" dirty="0" err="1">
                    <a:latin typeface="+mj-lt"/>
                  </a:rPr>
                  <a:t>NoRight</a:t>
                </a:r>
                <a:r>
                  <a:rPr lang="en-US" sz="1900" noProof="0" dirty="0">
                    <a:latin typeface="+mj-lt"/>
                  </a:rPr>
                  <a:t> (Prop. 4.1).</a:t>
                </a:r>
              </a:p>
              <a:p>
                <a:pPr lvl="1"/>
                <a:r>
                  <a:rPr lang="en-US" sz="1900" b="1" noProof="0" dirty="0">
                    <a:latin typeface="+mj-lt"/>
                  </a:rPr>
                  <a:t>Strong permission:</a:t>
                </a:r>
                <a:r>
                  <a:rPr lang="en-US" sz="1900" noProof="0" dirty="0">
                    <a:latin typeface="+mj-lt"/>
                  </a:rPr>
                  <a:t> conduct + competence (</a:t>
                </a:r>
                <a:r>
                  <a:rPr lang="en-US" sz="1900" noProof="0" dirty="0" err="1">
                    <a:latin typeface="+mj-lt"/>
                  </a:rPr>
                  <a:t>Thm</a:t>
                </a:r>
                <a:r>
                  <a:rPr lang="en-US" sz="1900" noProof="0" dirty="0">
                    <a:latin typeface="+mj-lt"/>
                  </a:rPr>
                  <a:t>. 4.1).</a:t>
                </a:r>
              </a:p>
              <a:p>
                <a:pPr lvl="1"/>
                <a:r>
                  <a:rPr lang="en-US" sz="1900" b="1" noProof="0" dirty="0">
                    <a:latin typeface="+mj-lt"/>
                  </a:rPr>
                  <a:t>Sanctioned prohibition:</a:t>
                </a:r>
                <a:r>
                  <a:rPr lang="en-US" sz="1900" noProof="0" dirty="0">
                    <a:latin typeface="+mj-lt"/>
                  </a:rPr>
                  <a:t> conduct + competence (</a:t>
                </a:r>
                <a:r>
                  <a:rPr lang="en-US" sz="1900" noProof="0" dirty="0" err="1">
                    <a:latin typeface="+mj-lt"/>
                  </a:rPr>
                  <a:t>Thm</a:t>
                </a:r>
                <a:r>
                  <a:rPr lang="en-US" sz="1900" noProof="0" dirty="0">
                    <a:latin typeface="+mj-lt"/>
                  </a:rPr>
                  <a:t>. 4.2).</a:t>
                </a:r>
              </a:p>
              <a:p>
                <a:r>
                  <a:rPr lang="en-US" sz="1800" noProof="0" dirty="0">
                    <a:latin typeface="+mj-lt"/>
                  </a:rPr>
                  <a:t>Every </a:t>
                </a:r>
                <a:r>
                  <a:rPr lang="en-US" sz="1800" b="1" noProof="0" dirty="0">
                    <a:latin typeface="+mj-lt"/>
                  </a:rPr>
                  <a:t>violable, consequential</a:t>
                </a:r>
                <a:r>
                  <a:rPr lang="en-US" sz="1800" noProof="0" dirty="0">
                    <a:latin typeface="+mj-lt"/>
                  </a:rPr>
                  <a:t> norm needs competence-level positions.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48640" y="1325880"/>
                <a:ext cx="11094415" cy="3429000"/>
              </a:xfrm>
              <a:blipFill>
                <a:blip r:embed="rId3"/>
                <a:stretch>
                  <a:fillRect l="-330" t="-1779" b="-13345"/>
                </a:stretch>
              </a:blipFill>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3DD72-1190-8890-E31A-7FC4B0961A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48FB9-BFD0-2FE4-4C94-204FDCC9E6EB}"/>
              </a:ext>
            </a:extLst>
          </p:cNvPr>
          <p:cNvSpPr>
            <a:spLocks noGrp="1"/>
          </p:cNvSpPr>
          <p:nvPr>
            <p:ph type="title"/>
          </p:nvPr>
        </p:nvSpPr>
        <p:spPr/>
        <p:txBody>
          <a:bodyPr/>
          <a:lstStyle/>
          <a:p>
            <a:r>
              <a:rPr lang="de-DE" dirty="0"/>
              <a:t>ODRL-to-UFO-L Grounding Matrix</a:t>
            </a:r>
            <a:endParaRPr dirty="0"/>
          </a:p>
        </p:txBody>
      </p:sp>
      <p:graphicFrame>
        <p:nvGraphicFramePr>
          <p:cNvPr id="3" name="Table 2">
            <a:extLst>
              <a:ext uri="{FF2B5EF4-FFF2-40B4-BE49-F238E27FC236}">
                <a16:creationId xmlns:a16="http://schemas.microsoft.com/office/drawing/2014/main" id="{D86D9C24-C3A9-AEE1-CB4A-F3343AA2FC1D}"/>
              </a:ext>
            </a:extLst>
          </p:cNvPr>
          <p:cNvGraphicFramePr>
            <a:graphicFrameLocks noGrp="1"/>
          </p:cNvGraphicFramePr>
          <p:nvPr>
            <p:extLst>
              <p:ext uri="{D42A27DB-BD31-4B8C-83A1-F6EECF244321}">
                <p14:modId xmlns:p14="http://schemas.microsoft.com/office/powerpoint/2010/main" val="4215437425"/>
              </p:ext>
            </p:extLst>
          </p:nvPr>
        </p:nvGraphicFramePr>
        <p:xfrm>
          <a:off x="548640" y="1371600"/>
          <a:ext cx="11094415" cy="3182112"/>
        </p:xfrm>
        <a:graphic>
          <a:graphicData uri="http://schemas.openxmlformats.org/drawingml/2006/table">
            <a:tbl>
              <a:tblPr>
                <a:tableStyleId>{2D5ABB26-0587-4C30-8999-92F81FD0307C}</a:tableStyleId>
              </a:tblPr>
              <a:tblGrid>
                <a:gridCol w="31089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785055">
                  <a:extLst>
                    <a:ext uri="{9D8B030D-6E8A-4147-A177-3AD203B41FA5}">
                      <a16:colId xmlns:a16="http://schemas.microsoft.com/office/drawing/2014/main" val="20002"/>
                    </a:ext>
                  </a:extLst>
                </a:gridCol>
              </a:tblGrid>
              <a:tr h="530352">
                <a:tc>
                  <a:txBody>
                    <a:bodyPr/>
                    <a:lstStyle/>
                    <a:p>
                      <a:r>
                        <a:rPr sz="1700" b="1">
                          <a:solidFill>
                            <a:srgbClr val="000000"/>
                          </a:solidFill>
                        </a:rPr>
                        <a:t>ODRL rule</a:t>
                      </a:r>
                    </a:p>
                  </a:txBody>
                  <a:tcPr marT="27432" marB="27432" anchor="ctr">
                    <a:lnL>
                      <a:noFill/>
                    </a:lnL>
                    <a:lnR>
                      <a:noFill/>
                    </a:lnR>
                    <a:lnT w="19050">
                      <a:solidFill>
                        <a:srgbClr val="000000"/>
                      </a:solidFill>
                    </a:lnT>
                    <a:lnB w="9525">
                      <a:solidFill>
                        <a:srgbClr val="000000"/>
                      </a:solidFill>
                    </a:lnB>
                    <a:noFill/>
                  </a:tcPr>
                </a:tc>
                <a:tc>
                  <a:txBody>
                    <a:bodyPr/>
                    <a:lstStyle/>
                    <a:p>
                      <a:r>
                        <a:rPr lang="de-DE" sz="1700" b="1" dirty="0" err="1">
                          <a:solidFill>
                            <a:srgbClr val="000000"/>
                          </a:solidFill>
                        </a:rPr>
                        <a:t>Evaluator</a:t>
                      </a:r>
                      <a:r>
                        <a:rPr lang="de-DE" sz="1700" b="1" dirty="0">
                          <a:solidFill>
                            <a:srgbClr val="000000"/>
                          </a:solidFill>
                        </a:rPr>
                        <a:t> </a:t>
                      </a:r>
                      <a:r>
                        <a:rPr lang="de-DE" sz="1700" b="1" dirty="0" err="1">
                          <a:solidFill>
                            <a:srgbClr val="000000"/>
                          </a:solidFill>
                        </a:rPr>
                        <a:t>reports</a:t>
                      </a:r>
                      <a:endParaRPr sz="1700" b="1" dirty="0">
                        <a:solidFill>
                          <a:srgbClr val="000000"/>
                        </a:solidFill>
                      </a:endParaRPr>
                    </a:p>
                  </a:txBody>
                  <a:tcPr marT="27432" marB="27432" anchor="ctr">
                    <a:lnL>
                      <a:noFill/>
                    </a:lnL>
                    <a:lnR>
                      <a:noFill/>
                    </a:lnR>
                    <a:lnT w="19050">
                      <a:solidFill>
                        <a:srgbClr val="000000"/>
                      </a:solidFill>
                    </a:lnT>
                    <a:lnB w="9525">
                      <a:solidFill>
                        <a:srgbClr val="000000"/>
                      </a:solidFill>
                    </a:lnB>
                    <a:noFill/>
                  </a:tcPr>
                </a:tc>
                <a:tc>
                  <a:txBody>
                    <a:bodyPr/>
                    <a:lstStyle/>
                    <a:p>
                      <a:r>
                        <a:rPr sz="1700" b="1" dirty="0">
                          <a:solidFill>
                            <a:srgbClr val="000000"/>
                          </a:solidFill>
                        </a:rPr>
                        <a:t>Grounding adds</a:t>
                      </a:r>
                    </a:p>
                  </a:txBody>
                  <a:tcPr marT="27432" marB="27432" anchor="ctr">
                    <a:lnL>
                      <a:noFill/>
                    </a:lnL>
                    <a:lnR>
                      <a:noFill/>
                    </a:lnR>
                    <a:lnT w="19050">
                      <a:solidFill>
                        <a:srgbClr val="000000"/>
                      </a:solidFill>
                    </a:lnT>
                    <a:lnB w="9525">
                      <a:solidFill>
                        <a:srgbClr val="000000"/>
                      </a:solidFill>
                    </a:lnB>
                    <a:noFill/>
                  </a:tcPr>
                </a:tc>
                <a:extLst>
                  <a:ext uri="{0D108BD9-81ED-4DB2-BD59-A6C34878D82A}">
                    <a16:rowId xmlns:a16="http://schemas.microsoft.com/office/drawing/2014/main" val="10000"/>
                  </a:ext>
                </a:extLst>
              </a:tr>
              <a:tr h="530352">
                <a:tc>
                  <a:txBody>
                    <a:bodyPr/>
                    <a:lstStyle/>
                    <a:p>
                      <a:r>
                        <a:rPr sz="1700" b="1">
                          <a:solidFill>
                            <a:srgbClr val="000000"/>
                          </a:solidFill>
                        </a:rPr>
                        <a:t>odrl:Permission</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700">
                          <a:solidFill>
                            <a:srgbClr val="000000"/>
                          </a:solidFill>
                        </a:rPr>
                        <a:t>Permission</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700" b="1">
                          <a:solidFill>
                            <a:srgbClr val="137A62"/>
                          </a:solidFill>
                        </a:rPr>
                        <a:t>No Right</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1"/>
                  </a:ext>
                </a:extLst>
              </a:tr>
              <a:tr h="530352">
                <a:tc>
                  <a:txBody>
                    <a:bodyPr/>
                    <a:lstStyle/>
                    <a:p>
                      <a:r>
                        <a:rPr sz="1700" b="1">
                          <a:solidFill>
                            <a:srgbClr val="000000"/>
                          </a:solidFill>
                        </a:rPr>
                        <a:t>odrl:Prohibition</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a:solidFill>
                            <a:srgbClr val="000000"/>
                          </a:solidFill>
                        </a:rPr>
                        <a:t>Duty to Omit</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1">
                          <a:solidFill>
                            <a:srgbClr val="137A62"/>
                          </a:solidFill>
                        </a:rPr>
                        <a:t>Right to Omission</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2"/>
                  </a:ext>
                </a:extLst>
              </a:tr>
              <a:tr h="530352">
                <a:tc>
                  <a:txBody>
                    <a:bodyPr/>
                    <a:lstStyle/>
                    <a:p>
                      <a:r>
                        <a:rPr sz="1700" b="1">
                          <a:solidFill>
                            <a:srgbClr val="000000"/>
                          </a:solidFill>
                        </a:rPr>
                        <a:t>odrl:Duty</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a:solidFill>
                            <a:srgbClr val="000000"/>
                          </a:solidFill>
                        </a:rPr>
                        <a:t>Duty to Act</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1">
                          <a:solidFill>
                            <a:srgbClr val="137A62"/>
                          </a:solidFill>
                        </a:rPr>
                        <a:t>Right to Action</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3"/>
                  </a:ext>
                </a:extLst>
              </a:tr>
              <a:tr h="530352">
                <a:tc>
                  <a:txBody>
                    <a:bodyPr/>
                    <a:lstStyle/>
                    <a:p>
                      <a:r>
                        <a:rPr sz="1700" b="1">
                          <a:solidFill>
                            <a:srgbClr val="000000"/>
                          </a:solidFill>
                        </a:rPr>
                        <a:t>odrl:Prohibition with remedy</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a:solidFill>
                            <a:srgbClr val="000000"/>
                          </a:solidFill>
                        </a:rPr>
                        <a:t>Duty to Omit, </a:t>
                      </a:r>
                      <a:r>
                        <a:rPr sz="1700" b="1" i="1">
                          <a:solidFill>
                            <a:srgbClr val="B9501A"/>
                          </a:solidFill>
                        </a:rPr>
                        <a:t>violated?</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1">
                          <a:solidFill>
                            <a:srgbClr val="137A62"/>
                          </a:solidFill>
                        </a:rPr>
                        <a:t>Right to Omission</a:t>
                      </a:r>
                      <a:r>
                        <a:rPr sz="1700">
                          <a:solidFill>
                            <a:srgbClr val="000000"/>
                          </a:solidFill>
                        </a:rPr>
                        <a:t>,  </a:t>
                      </a:r>
                      <a:r>
                        <a:rPr sz="1700" b="1">
                          <a:solidFill>
                            <a:srgbClr val="00549F"/>
                          </a:solidFill>
                        </a:rPr>
                        <a:t>Power</a:t>
                      </a:r>
                      <a:r>
                        <a:rPr sz="1700">
                          <a:solidFill>
                            <a:srgbClr val="000000"/>
                          </a:solidFill>
                        </a:rPr>
                        <a:t>,  </a:t>
                      </a:r>
                      <a:r>
                        <a:rPr sz="1700" b="1">
                          <a:solidFill>
                            <a:srgbClr val="00549F"/>
                          </a:solidFill>
                        </a:rPr>
                        <a:t>Subjection</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4"/>
                  </a:ext>
                </a:extLst>
              </a:tr>
              <a:tr h="530352">
                <a:tc>
                  <a:txBody>
                    <a:bodyPr/>
                    <a:lstStyle/>
                    <a:p>
                      <a:r>
                        <a:rPr sz="1700" b="1">
                          <a:solidFill>
                            <a:srgbClr val="000000"/>
                          </a:solidFill>
                        </a:rPr>
                        <a:t>odrl:Permission (strong)</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sz="1700">
                          <a:solidFill>
                            <a:srgbClr val="000000"/>
                          </a:solidFill>
                        </a:rPr>
                        <a:t>Permission, </a:t>
                      </a:r>
                      <a:r>
                        <a:rPr sz="1700" b="1" i="1">
                          <a:solidFill>
                            <a:srgbClr val="B9501A"/>
                          </a:solidFill>
                        </a:rPr>
                        <a:t>unprotected?</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sz="1700" b="1" dirty="0">
                          <a:solidFill>
                            <a:srgbClr val="137A62"/>
                          </a:solidFill>
                        </a:rPr>
                        <a:t>No Right</a:t>
                      </a:r>
                      <a:r>
                        <a:rPr sz="1700" dirty="0">
                          <a:solidFill>
                            <a:srgbClr val="000000"/>
                          </a:solidFill>
                        </a:rPr>
                        <a:t>,  </a:t>
                      </a:r>
                      <a:r>
                        <a:rPr sz="1700" b="1" dirty="0">
                          <a:solidFill>
                            <a:srgbClr val="00549F"/>
                          </a:solidFill>
                        </a:rPr>
                        <a:t>Immunity</a:t>
                      </a:r>
                      <a:r>
                        <a:rPr sz="1700" dirty="0">
                          <a:solidFill>
                            <a:srgbClr val="000000"/>
                          </a:solidFill>
                        </a:rPr>
                        <a:t>,  </a:t>
                      </a:r>
                      <a:r>
                        <a:rPr sz="1700" b="1" dirty="0">
                          <a:solidFill>
                            <a:srgbClr val="00549F"/>
                          </a:solidFill>
                        </a:rPr>
                        <a:t>Disability</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extLst>
                  <a:ext uri="{0D108BD9-81ED-4DB2-BD59-A6C34878D82A}">
                    <a16:rowId xmlns:a16="http://schemas.microsoft.com/office/drawing/2014/main" val="10005"/>
                  </a:ext>
                </a:extLst>
              </a:tr>
            </a:tbl>
          </a:graphicData>
        </a:graphic>
      </p:graphicFrame>
      <p:sp>
        <p:nvSpPr>
          <p:cNvPr id="4" name="TextBox 3">
            <a:extLst>
              <a:ext uri="{FF2B5EF4-FFF2-40B4-BE49-F238E27FC236}">
                <a16:creationId xmlns:a16="http://schemas.microsoft.com/office/drawing/2014/main" id="{D09B781A-049A-1F0E-1A76-F34E3B29B3D4}"/>
              </a:ext>
            </a:extLst>
          </p:cNvPr>
          <p:cNvSpPr txBox="1"/>
          <p:nvPr/>
        </p:nvSpPr>
        <p:spPr>
          <a:xfrm>
            <a:off x="548640" y="4663440"/>
            <a:ext cx="11091672" cy="320040"/>
          </a:xfrm>
          <a:prstGeom prst="rect">
            <a:avLst/>
          </a:prstGeom>
          <a:noFill/>
        </p:spPr>
        <p:txBody>
          <a:bodyPr wrap="square" lIns="0" tIns="0" rIns="0" bIns="0" anchor="t">
            <a:noAutofit/>
          </a:bodyPr>
          <a:lstStyle/>
          <a:p>
            <a:pPr marL="0" indent="0">
              <a:buNone/>
            </a:pPr>
            <a:r>
              <a:rPr sz="1900" dirty="0">
                <a:solidFill>
                  <a:srgbClr val="137A62"/>
                </a:solidFill>
                <a:latin typeface="+mj-lt"/>
              </a:rPr>
              <a:t>green</a:t>
            </a:r>
            <a:r>
              <a:rPr sz="1900" dirty="0">
                <a:solidFill>
                  <a:srgbClr val="5F6B76"/>
                </a:solidFill>
                <a:latin typeface="+mj-lt"/>
              </a:rPr>
              <a:t> </a:t>
            </a:r>
            <a:r>
              <a:rPr sz="1900" dirty="0">
                <a:latin typeface="+mj-lt"/>
              </a:rPr>
              <a:t>conduct</a:t>
            </a:r>
            <a:r>
              <a:rPr sz="1900" dirty="0">
                <a:solidFill>
                  <a:srgbClr val="5F6B76"/>
                </a:solidFill>
                <a:latin typeface="+mj-lt"/>
              </a:rPr>
              <a:t> </a:t>
            </a:r>
            <a:r>
              <a:rPr sz="1900" dirty="0">
                <a:latin typeface="+mj-lt"/>
              </a:rPr>
              <a:t>level</a:t>
            </a:r>
            <a:r>
              <a:rPr sz="1900" dirty="0">
                <a:solidFill>
                  <a:srgbClr val="5F6B76"/>
                </a:solidFill>
                <a:latin typeface="+mj-lt"/>
              </a:rPr>
              <a:t>,  </a:t>
            </a:r>
            <a:r>
              <a:rPr sz="1900" dirty="0">
                <a:solidFill>
                  <a:srgbClr val="00549F"/>
                </a:solidFill>
                <a:latin typeface="+mj-lt"/>
              </a:rPr>
              <a:t>blue</a:t>
            </a:r>
            <a:r>
              <a:rPr sz="1900" dirty="0">
                <a:solidFill>
                  <a:srgbClr val="5F6B76"/>
                </a:solidFill>
                <a:latin typeface="+mj-lt"/>
              </a:rPr>
              <a:t> </a:t>
            </a:r>
            <a:r>
              <a:rPr sz="1900" dirty="0">
                <a:latin typeface="+mj-lt"/>
              </a:rPr>
              <a:t>competence level,  </a:t>
            </a:r>
            <a:r>
              <a:rPr sz="1900" dirty="0">
                <a:solidFill>
                  <a:srgbClr val="B9501A"/>
                </a:solidFill>
                <a:latin typeface="+mj-lt"/>
              </a:rPr>
              <a:t>?</a:t>
            </a:r>
            <a:r>
              <a:rPr sz="1900" dirty="0">
                <a:solidFill>
                  <a:srgbClr val="5F6B76"/>
                </a:solidFill>
                <a:latin typeface="+mj-lt"/>
              </a:rPr>
              <a:t> </a:t>
            </a:r>
            <a:r>
              <a:rPr sz="1900" dirty="0">
                <a:latin typeface="+mj-lt"/>
              </a:rPr>
              <a:t>where the evaluator stops</a:t>
            </a:r>
          </a:p>
        </p:txBody>
      </p:sp>
    </p:spTree>
    <p:extLst>
      <p:ext uri="{BB962C8B-B14F-4D97-AF65-F5344CB8AC3E}">
        <p14:creationId xmlns:p14="http://schemas.microsoft.com/office/powerpoint/2010/main" val="2233808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ODRL-to-UFO-L Grounding Matrix</a:t>
            </a:r>
            <a:endParaRPr dirty="0"/>
          </a:p>
        </p:txBody>
      </p:sp>
      <p:sp>
        <p:nvSpPr>
          <p:cNvPr id="3" name="TextBox 2"/>
          <p:cNvSpPr txBox="1"/>
          <p:nvPr/>
        </p:nvSpPr>
        <p:spPr>
          <a:xfrm>
            <a:off x="548640" y="1143000"/>
            <a:ext cx="11463688" cy="731520"/>
          </a:xfrm>
          <a:prstGeom prst="rect">
            <a:avLst/>
          </a:prstGeom>
          <a:noFill/>
        </p:spPr>
        <p:txBody>
          <a:bodyPr wrap="square" lIns="0" tIns="0" rIns="0" bIns="0" anchor="t">
            <a:noAutofit/>
          </a:bodyPr>
          <a:lstStyle/>
          <a:p>
            <a:r>
              <a:rPr lang="de-DE" sz="2000" dirty="0" err="1"/>
              <a:t>Each</a:t>
            </a:r>
            <a:r>
              <a:rPr lang="de-DE" sz="2000" dirty="0"/>
              <a:t> ODRL </a:t>
            </a:r>
            <a:r>
              <a:rPr lang="de-DE" sz="2000" dirty="0" err="1"/>
              <a:t>rule</a:t>
            </a:r>
            <a:r>
              <a:rPr lang="de-DE" sz="2000" dirty="0"/>
              <a:t> </a:t>
            </a:r>
            <a:r>
              <a:rPr lang="de-DE" sz="2000" dirty="0" err="1"/>
              <a:t>is</a:t>
            </a:r>
            <a:r>
              <a:rPr lang="de-DE" sz="2000" dirty="0"/>
              <a:t> </a:t>
            </a:r>
            <a:r>
              <a:rPr lang="de-DE" sz="2000" dirty="0" err="1"/>
              <a:t>grounded</a:t>
            </a:r>
            <a:r>
              <a:rPr lang="de-DE" sz="2000" dirty="0"/>
              <a:t> as a UFO-L </a:t>
            </a:r>
            <a:r>
              <a:rPr lang="de-DE" sz="2000" dirty="0" err="1"/>
              <a:t>relator</a:t>
            </a:r>
            <a:r>
              <a:rPr lang="de-DE" sz="2000" dirty="0"/>
              <a:t> </a:t>
            </a:r>
            <a:r>
              <a:rPr lang="de-DE" sz="2000" dirty="0" err="1"/>
              <a:t>carrying</a:t>
            </a:r>
            <a:r>
              <a:rPr lang="de-DE" sz="2000" dirty="0"/>
              <a:t> </a:t>
            </a:r>
            <a:r>
              <a:rPr lang="de-DE" sz="2000" dirty="0" err="1"/>
              <a:t>one</a:t>
            </a:r>
            <a:r>
              <a:rPr lang="de-DE" sz="2000" dirty="0"/>
              <a:t> </a:t>
            </a:r>
            <a:r>
              <a:rPr lang="de-DE" sz="2000" dirty="0" err="1"/>
              <a:t>correlative</a:t>
            </a:r>
            <a:r>
              <a:rPr lang="de-DE" sz="2000" dirty="0"/>
              <a:t> pair of legal </a:t>
            </a:r>
            <a:r>
              <a:rPr lang="de-DE" sz="2000" dirty="0" err="1"/>
              <a:t>positions</a:t>
            </a:r>
            <a:r>
              <a:rPr lang="de-DE" sz="2000" dirty="0"/>
              <a:t>.</a:t>
            </a:r>
          </a:p>
          <a:p>
            <a:r>
              <a:rPr sz="1900" dirty="0"/>
              <a:t>Notation: policy </a:t>
            </a:r>
            <a:r>
              <a:rPr sz="1900" b="0" i="1" dirty="0">
                <a:latin typeface="Cambria Math"/>
              </a:rPr>
              <a:t>π</a:t>
            </a:r>
            <a:r>
              <a:rPr sz="1900" b="0" i="0" dirty="0">
                <a:latin typeface="Cambria Math"/>
              </a:rPr>
              <a:t> = ⟨</a:t>
            </a:r>
            <a:r>
              <a:rPr sz="1900" b="0" i="1" dirty="0">
                <a:latin typeface="Cambria Math"/>
              </a:rPr>
              <a:t>P</a:t>
            </a:r>
            <a:r>
              <a:rPr sz="1900" b="0" i="0" dirty="0">
                <a:latin typeface="Cambria Math"/>
              </a:rPr>
              <a:t>, </a:t>
            </a:r>
            <a:r>
              <a:rPr sz="1900" b="0" i="1" dirty="0">
                <a:latin typeface="Cambria Math"/>
              </a:rPr>
              <a:t>F</a:t>
            </a:r>
            <a:r>
              <a:rPr sz="1900" b="0" i="0" dirty="0">
                <a:latin typeface="Cambria Math"/>
              </a:rPr>
              <a:t>, </a:t>
            </a:r>
            <a:r>
              <a:rPr sz="1900" b="0" i="1" dirty="0">
                <a:latin typeface="Cambria Math"/>
              </a:rPr>
              <a:t>D</a:t>
            </a:r>
            <a:r>
              <a:rPr sz="1900" b="0" i="0" dirty="0">
                <a:latin typeface="Cambria Math"/>
              </a:rPr>
              <a:t>⟩</a:t>
            </a:r>
            <a:r>
              <a:rPr sz="1900" dirty="0"/>
              <a:t>; rule </a:t>
            </a:r>
            <a:r>
              <a:rPr sz="1900" b="0" i="1" dirty="0">
                <a:latin typeface="Cambria Math"/>
              </a:rPr>
              <a:t>r</a:t>
            </a:r>
            <a:r>
              <a:rPr sz="1900" b="0" i="0" dirty="0">
                <a:latin typeface="Cambria Math"/>
              </a:rPr>
              <a:t> = ⟨</a:t>
            </a:r>
            <a:r>
              <a:rPr sz="1900" b="0" i="1" dirty="0">
                <a:latin typeface="Cambria Math"/>
              </a:rPr>
              <a:t>a</a:t>
            </a:r>
            <a:r>
              <a:rPr sz="1900" b="0" i="0" dirty="0">
                <a:latin typeface="Cambria Math"/>
              </a:rPr>
              <a:t>, </a:t>
            </a:r>
            <a:r>
              <a:rPr sz="1900" b="0" i="1" dirty="0">
                <a:latin typeface="Cambria Math"/>
              </a:rPr>
              <a:t>x</a:t>
            </a:r>
            <a:r>
              <a:rPr sz="1900" b="0" i="0" dirty="0">
                <a:latin typeface="Cambria Math"/>
              </a:rPr>
              <a:t>, </a:t>
            </a:r>
            <a:r>
              <a:rPr sz="1900" b="0" i="1" dirty="0">
                <a:latin typeface="Cambria Math"/>
              </a:rPr>
              <a:t>y</a:t>
            </a:r>
            <a:r>
              <a:rPr sz="1900" b="0" i="0" dirty="0">
                <a:latin typeface="Cambria Math"/>
              </a:rPr>
              <a:t>, </a:t>
            </a:r>
            <a:r>
              <a:rPr sz="1900" b="0" i="1" dirty="0">
                <a:latin typeface="Cambria Math"/>
              </a:rPr>
              <a:t>t</a:t>
            </a:r>
            <a:r>
              <a:rPr sz="1900" b="0" i="0" dirty="0">
                <a:latin typeface="Cambria Math"/>
              </a:rPr>
              <a:t>, </a:t>
            </a:r>
            <a:r>
              <a:rPr sz="1900" b="0" i="1" dirty="0">
                <a:latin typeface="Cambria Math"/>
              </a:rPr>
              <a:t>C</a:t>
            </a:r>
            <a:r>
              <a:rPr sz="1900" b="0" i="0" dirty="0">
                <a:latin typeface="Cambria Math"/>
              </a:rPr>
              <a:t>⟩</a:t>
            </a:r>
            <a:r>
              <a:rPr sz="1900" dirty="0"/>
              <a:t> with action type </a:t>
            </a:r>
            <a:r>
              <a:rPr sz="1900" b="0" i="1" dirty="0">
                <a:latin typeface="Cambria Math"/>
              </a:rPr>
              <a:t>a</a:t>
            </a:r>
            <a:r>
              <a:rPr sz="1900" dirty="0"/>
              <a:t>, assignee </a:t>
            </a:r>
            <a:r>
              <a:rPr sz="1900" b="0" i="1" dirty="0">
                <a:latin typeface="Cambria Math"/>
              </a:rPr>
              <a:t>x</a:t>
            </a:r>
            <a:r>
              <a:rPr sz="1900" dirty="0"/>
              <a:t>, assigner </a:t>
            </a:r>
            <a:r>
              <a:rPr sz="1900" b="0" i="1" dirty="0">
                <a:latin typeface="Cambria Math"/>
              </a:rPr>
              <a:t>y</a:t>
            </a:r>
            <a:r>
              <a:rPr sz="1900" dirty="0"/>
              <a:t>, target </a:t>
            </a:r>
            <a:r>
              <a:rPr sz="1900" b="0" i="1" dirty="0">
                <a:latin typeface="Cambria Math"/>
              </a:rPr>
              <a:t>t</a:t>
            </a:r>
            <a:r>
              <a:rPr sz="1900" dirty="0"/>
              <a:t>, constraints </a:t>
            </a:r>
            <a:r>
              <a:rPr sz="1900" b="0" i="1" dirty="0">
                <a:latin typeface="Cambria Math"/>
              </a:rPr>
              <a:t>C</a:t>
            </a:r>
            <a:r>
              <a:rPr sz="1900" dirty="0"/>
              <a:t>.</a:t>
            </a:r>
          </a:p>
        </p:txBody>
      </p:sp>
      <p:graphicFrame>
        <p:nvGraphicFramePr>
          <p:cNvPr id="4" name="Table 3"/>
          <p:cNvGraphicFramePr>
            <a:graphicFrameLocks noGrp="1"/>
          </p:cNvGraphicFramePr>
          <p:nvPr/>
        </p:nvGraphicFramePr>
        <p:xfrm>
          <a:off x="548640" y="2011680"/>
          <a:ext cx="11094415" cy="2962656"/>
        </p:xfrm>
        <a:graphic>
          <a:graphicData uri="http://schemas.openxmlformats.org/drawingml/2006/table">
            <a:tbl>
              <a:tblPr>
                <a:tableStyleId>{2D5ABB26-0587-4C30-8999-92F81FD0307C}</a:tableStyleId>
              </a:tblPr>
              <a:tblGrid>
                <a:gridCol w="2514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gridCol w="1538935">
                  <a:extLst>
                    <a:ext uri="{9D8B030D-6E8A-4147-A177-3AD203B41FA5}">
                      <a16:colId xmlns:a16="http://schemas.microsoft.com/office/drawing/2014/main" val="20004"/>
                    </a:ext>
                  </a:extLst>
                </a:gridCol>
              </a:tblGrid>
              <a:tr h="493776">
                <a:tc>
                  <a:txBody>
                    <a:bodyPr/>
                    <a:lstStyle/>
                    <a:p>
                      <a:r>
                        <a:rPr sz="1600" b="1">
                          <a:solidFill>
                            <a:srgbClr val="000000"/>
                          </a:solidFill>
                        </a:rPr>
                        <a:t>ODRL rule</a:t>
                      </a:r>
                    </a:p>
                  </a:txBody>
                  <a:tcPr marT="27432" marB="27432" anchor="ctr">
                    <a:lnL>
                      <a:noFill/>
                    </a:lnL>
                    <a:lnR>
                      <a:noFill/>
                    </a:lnR>
                    <a:lnT w="19050">
                      <a:solidFill>
                        <a:srgbClr val="000000"/>
                      </a:solidFill>
                    </a:lnT>
                    <a:lnB w="9525">
                      <a:solidFill>
                        <a:srgbClr val="000000"/>
                      </a:solidFill>
                    </a:lnB>
                    <a:noFill/>
                  </a:tcPr>
                </a:tc>
                <a:tc>
                  <a:txBody>
                    <a:bodyPr/>
                    <a:lstStyle/>
                    <a:p>
                      <a:r>
                        <a:rPr sz="1600" b="1">
                          <a:solidFill>
                            <a:srgbClr val="000000"/>
                          </a:solidFill>
                        </a:rPr>
                        <a:t>Relator</a:t>
                      </a:r>
                    </a:p>
                  </a:txBody>
                  <a:tcPr marT="27432" marB="27432" anchor="ctr">
                    <a:lnL>
                      <a:noFill/>
                    </a:lnL>
                    <a:lnR>
                      <a:noFill/>
                    </a:lnR>
                    <a:lnT w="19050">
                      <a:solidFill>
                        <a:srgbClr val="000000"/>
                      </a:solidFill>
                    </a:lnT>
                    <a:lnB w="9525">
                      <a:solidFill>
                        <a:srgbClr val="000000"/>
                      </a:solidFill>
                    </a:lnB>
                    <a:noFill/>
                  </a:tcPr>
                </a:tc>
                <a:tc>
                  <a:txBody>
                    <a:bodyPr/>
                    <a:lstStyle/>
                    <a:p>
                      <a:r>
                        <a:rPr sz="1600" b="1">
                          <a:solidFill>
                            <a:srgbClr val="000000"/>
                          </a:solidFill>
                        </a:rPr>
                        <a:t>Assignee </a:t>
                      </a:r>
                      <a:r>
                        <a:rPr sz="1600" b="1" i="1">
                          <a:solidFill>
                            <a:srgbClr val="000000"/>
                          </a:solidFill>
                          <a:latin typeface="Cambria Math"/>
                        </a:rPr>
                        <a:t>x</a:t>
                      </a:r>
                      <a:r>
                        <a:rPr sz="1600" b="1">
                          <a:solidFill>
                            <a:srgbClr val="000000"/>
                          </a:solidFill>
                        </a:rPr>
                        <a:t> bears</a:t>
                      </a:r>
                    </a:p>
                  </a:txBody>
                  <a:tcPr marT="27432" marB="27432" anchor="ctr">
                    <a:lnL>
                      <a:noFill/>
                    </a:lnL>
                    <a:lnR>
                      <a:noFill/>
                    </a:lnR>
                    <a:lnT w="19050">
                      <a:solidFill>
                        <a:srgbClr val="000000"/>
                      </a:solidFill>
                    </a:lnT>
                    <a:lnB w="9525">
                      <a:solidFill>
                        <a:srgbClr val="000000"/>
                      </a:solidFill>
                    </a:lnB>
                    <a:noFill/>
                  </a:tcPr>
                </a:tc>
                <a:tc>
                  <a:txBody>
                    <a:bodyPr/>
                    <a:lstStyle/>
                    <a:p>
                      <a:r>
                        <a:rPr sz="1600" b="1">
                          <a:solidFill>
                            <a:srgbClr val="000000"/>
                          </a:solidFill>
                        </a:rPr>
                        <a:t>Assigner </a:t>
                      </a:r>
                      <a:r>
                        <a:rPr sz="1600" b="1" i="1">
                          <a:solidFill>
                            <a:srgbClr val="000000"/>
                          </a:solidFill>
                          <a:latin typeface="Cambria Math"/>
                        </a:rPr>
                        <a:t>y</a:t>
                      </a:r>
                      <a:r>
                        <a:rPr sz="1600" b="1">
                          <a:solidFill>
                            <a:srgbClr val="000000"/>
                          </a:solidFill>
                        </a:rPr>
                        <a:t> bears</a:t>
                      </a:r>
                    </a:p>
                  </a:txBody>
                  <a:tcPr marT="27432" marB="27432" anchor="ctr">
                    <a:lnL>
                      <a:noFill/>
                    </a:lnL>
                    <a:lnR>
                      <a:noFill/>
                    </a:lnR>
                    <a:lnT w="19050">
                      <a:solidFill>
                        <a:srgbClr val="000000"/>
                      </a:solidFill>
                    </a:lnT>
                    <a:lnB w="9525">
                      <a:solidFill>
                        <a:srgbClr val="000000"/>
                      </a:solidFill>
                    </a:lnB>
                    <a:noFill/>
                  </a:tcPr>
                </a:tc>
                <a:tc>
                  <a:txBody>
                    <a:bodyPr/>
                    <a:lstStyle/>
                    <a:p>
                      <a:r>
                        <a:rPr sz="1600" b="1">
                          <a:solidFill>
                            <a:srgbClr val="000000"/>
                          </a:solidFill>
                        </a:rPr>
                        <a:t>Level</a:t>
                      </a:r>
                    </a:p>
                  </a:txBody>
                  <a:tcPr marT="27432" marB="27432" anchor="ctr">
                    <a:lnL>
                      <a:noFill/>
                    </a:lnL>
                    <a:lnR>
                      <a:noFill/>
                    </a:lnR>
                    <a:lnT w="19050">
                      <a:solidFill>
                        <a:srgbClr val="000000"/>
                      </a:solidFill>
                    </a:lnT>
                    <a:lnB w="9525">
                      <a:solidFill>
                        <a:srgbClr val="000000"/>
                      </a:solidFill>
                    </a:lnB>
                    <a:noFill/>
                  </a:tcPr>
                </a:tc>
                <a:extLst>
                  <a:ext uri="{0D108BD9-81ED-4DB2-BD59-A6C34878D82A}">
                    <a16:rowId xmlns:a16="http://schemas.microsoft.com/office/drawing/2014/main" val="10000"/>
                  </a:ext>
                </a:extLst>
              </a:tr>
              <a:tr h="493776">
                <a:tc>
                  <a:txBody>
                    <a:bodyPr/>
                    <a:lstStyle/>
                    <a:p>
                      <a:r>
                        <a:rPr sz="1600" b="1">
                          <a:solidFill>
                            <a:srgbClr val="000000"/>
                          </a:solidFill>
                        </a:rPr>
                        <a:t>odrl:Permission</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700" b="0" i="1">
                          <a:solidFill>
                            <a:srgbClr val="000000"/>
                          </a:solidFill>
                          <a:latin typeface="Cambria Math"/>
                        </a:rPr>
                        <a:t>ρ</a:t>
                      </a:r>
                      <a:r>
                        <a:rPr sz="1700" b="0" i="0" baseline="-25000">
                          <a:solidFill>
                            <a:srgbClr val="000000"/>
                          </a:solidFill>
                          <a:latin typeface="Cambria Math"/>
                        </a:rPr>
                        <a:t>P</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700" b="0" i="0">
                          <a:solidFill>
                            <a:srgbClr val="137A62"/>
                          </a:solidFill>
                          <a:latin typeface="Cambria Math"/>
                        </a:rPr>
                        <a:t>Permission</a:t>
                      </a:r>
                      <a:r>
                        <a:rPr sz="1700" b="0" i="0">
                          <a:solidFill>
                            <a:srgbClr val="000000"/>
                          </a:solidFill>
                          <a:latin typeface="Cambria Math"/>
                        </a:rPr>
                        <a:t>(</a:t>
                      </a:r>
                      <a:r>
                        <a:rPr sz="1700" b="0" i="1">
                          <a:solidFill>
                            <a:srgbClr val="000000"/>
                          </a:solidFill>
                          <a:latin typeface="Cambria Math"/>
                        </a:rPr>
                        <a:t>x</a:t>
                      </a:r>
                      <a:r>
                        <a:rPr sz="1700" b="0" i="0">
                          <a:solidFill>
                            <a:srgbClr val="000000"/>
                          </a:solidFill>
                          <a:latin typeface="Cambria Math"/>
                        </a:rPr>
                        <a:t>, </a:t>
                      </a:r>
                      <a:r>
                        <a:rPr sz="1700" b="0" i="1">
                          <a:solidFill>
                            <a:srgbClr val="000000"/>
                          </a:solidFill>
                          <a:latin typeface="Cambria Math"/>
                        </a:rPr>
                        <a:t>a</a:t>
                      </a:r>
                      <a:r>
                        <a:rPr sz="1700" b="0" i="0">
                          <a:solidFill>
                            <a:srgbClr val="000000"/>
                          </a:solidFill>
                          <a:latin typeface="Cambria Math"/>
                        </a:rPr>
                        <a:t>, </a:t>
                      </a:r>
                      <a:r>
                        <a:rPr sz="1700" b="0" i="1">
                          <a:solidFill>
                            <a:srgbClr val="000000"/>
                          </a:solidFill>
                          <a:latin typeface="Cambria Math"/>
                        </a:rPr>
                        <a:t>t</a:t>
                      </a:r>
                      <a:r>
                        <a:rPr sz="1700" b="0" i="0">
                          <a:solidFill>
                            <a:srgbClr val="000000"/>
                          </a:solidFill>
                          <a:latin typeface="Cambria Math"/>
                        </a:rPr>
                        <a:t>)</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700" b="0" i="0">
                          <a:solidFill>
                            <a:srgbClr val="137A62"/>
                          </a:solidFill>
                          <a:latin typeface="Cambria Math"/>
                        </a:rPr>
                        <a:t>NoRight</a:t>
                      </a:r>
                      <a:r>
                        <a:rPr sz="1700" b="0" i="0">
                          <a:solidFill>
                            <a:srgbClr val="000000"/>
                          </a:solidFill>
                          <a:latin typeface="Cambria Math"/>
                        </a:rPr>
                        <a:t>(</a:t>
                      </a:r>
                      <a:r>
                        <a:rPr sz="1700" b="0" i="1">
                          <a:solidFill>
                            <a:srgbClr val="000000"/>
                          </a:solidFill>
                          <a:latin typeface="Cambria Math"/>
                        </a:rPr>
                        <a:t>y</a:t>
                      </a:r>
                      <a:r>
                        <a:rPr sz="1700" b="0" i="0">
                          <a:solidFill>
                            <a:srgbClr val="000000"/>
                          </a:solidFill>
                          <a:latin typeface="Cambria Math"/>
                        </a:rPr>
                        <a:t>, </a:t>
                      </a:r>
                      <a:r>
                        <a:rPr sz="1700" b="0" i="1">
                          <a:solidFill>
                            <a:srgbClr val="000000"/>
                          </a:solidFill>
                          <a:latin typeface="Cambria Math"/>
                        </a:rPr>
                        <a:t>a</a:t>
                      </a:r>
                      <a:r>
                        <a:rPr sz="1700" b="0" i="0">
                          <a:solidFill>
                            <a:srgbClr val="000000"/>
                          </a:solidFill>
                          <a:latin typeface="Cambria Math"/>
                        </a:rPr>
                        <a:t>, </a:t>
                      </a:r>
                      <a:r>
                        <a:rPr sz="1700" b="0" i="1">
                          <a:solidFill>
                            <a:srgbClr val="000000"/>
                          </a:solidFill>
                          <a:latin typeface="Cambria Math"/>
                        </a:rPr>
                        <a:t>t</a:t>
                      </a:r>
                      <a:r>
                        <a:rPr sz="1700" b="0" i="0">
                          <a:solidFill>
                            <a:srgbClr val="000000"/>
                          </a:solidFill>
                          <a:latin typeface="Cambria Math"/>
                        </a:rPr>
                        <a:t>)</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600" b="1">
                          <a:solidFill>
                            <a:srgbClr val="137A62"/>
                          </a:solidFill>
                        </a:rPr>
                        <a:t>conduct</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1"/>
                  </a:ext>
                </a:extLst>
              </a:tr>
              <a:tr h="493776">
                <a:tc>
                  <a:txBody>
                    <a:bodyPr/>
                    <a:lstStyle/>
                    <a:p>
                      <a:r>
                        <a:rPr sz="1600" b="1">
                          <a:solidFill>
                            <a:srgbClr val="00549F"/>
                          </a:solidFill>
                        </a:rPr>
                        <a:t>+ strongly permitted</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0" i="1">
                          <a:solidFill>
                            <a:srgbClr val="000000"/>
                          </a:solidFill>
                          <a:latin typeface="Cambria Math"/>
                        </a:rPr>
                        <a:t>ρ</a:t>
                      </a:r>
                      <a:r>
                        <a:rPr sz="1700" b="0" i="0" baseline="-25000">
                          <a:solidFill>
                            <a:srgbClr val="000000"/>
                          </a:solidFill>
                          <a:latin typeface="Cambria Math"/>
                        </a:rPr>
                        <a:t>I</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0" i="0">
                          <a:solidFill>
                            <a:srgbClr val="00549F"/>
                          </a:solidFill>
                          <a:latin typeface="Cambria Math"/>
                        </a:rPr>
                        <a:t>Immunity</a:t>
                      </a:r>
                      <a:r>
                        <a:rPr sz="1700" b="0" i="0">
                          <a:solidFill>
                            <a:srgbClr val="000000"/>
                          </a:solidFill>
                          <a:latin typeface="Cambria Math"/>
                        </a:rPr>
                        <a:t>(</a:t>
                      </a:r>
                      <a:r>
                        <a:rPr sz="1700" b="0" i="1">
                          <a:solidFill>
                            <a:srgbClr val="000000"/>
                          </a:solidFill>
                          <a:latin typeface="Cambria Math"/>
                        </a:rPr>
                        <a:t>x</a:t>
                      </a:r>
                      <a:r>
                        <a:rPr sz="1700" b="0" i="0">
                          <a:solidFill>
                            <a:srgbClr val="000000"/>
                          </a:solidFill>
                          <a:latin typeface="Cambria Math"/>
                        </a:rPr>
                        <a:t>, </a:t>
                      </a:r>
                      <a:r>
                        <a:rPr sz="1700" b="0" i="1">
                          <a:solidFill>
                            <a:srgbClr val="000000"/>
                          </a:solidFill>
                          <a:latin typeface="Cambria Math"/>
                        </a:rPr>
                        <a:t>a</a:t>
                      </a:r>
                      <a:r>
                        <a:rPr sz="1700" b="0" i="0">
                          <a:solidFill>
                            <a:srgbClr val="000000"/>
                          </a:solidFill>
                          <a:latin typeface="Cambria Math"/>
                        </a:rPr>
                        <a:t>, </a:t>
                      </a:r>
                      <a:r>
                        <a:rPr sz="1700" b="0" i="1">
                          <a:solidFill>
                            <a:srgbClr val="000000"/>
                          </a:solidFill>
                          <a:latin typeface="Cambria Math"/>
                        </a:rPr>
                        <a:t>t</a:t>
                      </a:r>
                      <a:r>
                        <a:rPr sz="1700" b="0" i="0">
                          <a:solidFill>
                            <a:srgbClr val="000000"/>
                          </a:solidFill>
                          <a:latin typeface="Cambria Math"/>
                        </a:rPr>
                        <a:t>)</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0" i="0">
                          <a:solidFill>
                            <a:srgbClr val="00549F"/>
                          </a:solidFill>
                          <a:latin typeface="Cambria Math"/>
                        </a:rPr>
                        <a:t>Disability</a:t>
                      </a:r>
                      <a:r>
                        <a:rPr sz="1700" b="0" i="0">
                          <a:solidFill>
                            <a:srgbClr val="000000"/>
                          </a:solidFill>
                          <a:latin typeface="Cambria Math"/>
                        </a:rPr>
                        <a:t>(</a:t>
                      </a:r>
                      <a:r>
                        <a:rPr sz="1700" b="0" i="1">
                          <a:solidFill>
                            <a:srgbClr val="000000"/>
                          </a:solidFill>
                          <a:latin typeface="Cambria Math"/>
                        </a:rPr>
                        <a:t>y</a:t>
                      </a:r>
                      <a:r>
                        <a:rPr sz="1700" b="0" i="0">
                          <a:solidFill>
                            <a:srgbClr val="000000"/>
                          </a:solidFill>
                          <a:latin typeface="Cambria Math"/>
                        </a:rPr>
                        <a:t>, </a:t>
                      </a:r>
                      <a:r>
                        <a:rPr sz="1700" b="0" i="1">
                          <a:solidFill>
                            <a:srgbClr val="000000"/>
                          </a:solidFill>
                          <a:latin typeface="Cambria Math"/>
                        </a:rPr>
                        <a:t>a</a:t>
                      </a:r>
                      <a:r>
                        <a:rPr sz="1700" b="0" i="0">
                          <a:solidFill>
                            <a:srgbClr val="000000"/>
                          </a:solidFill>
                          <a:latin typeface="Cambria Math"/>
                        </a:rPr>
                        <a:t>, </a:t>
                      </a:r>
                      <a:r>
                        <a:rPr sz="1700" b="0" i="1">
                          <a:solidFill>
                            <a:srgbClr val="000000"/>
                          </a:solidFill>
                          <a:latin typeface="Cambria Math"/>
                        </a:rPr>
                        <a:t>t</a:t>
                      </a:r>
                      <a:r>
                        <a:rPr sz="1700" b="0" i="0">
                          <a:solidFill>
                            <a:srgbClr val="000000"/>
                          </a:solidFill>
                          <a:latin typeface="Cambria Math"/>
                        </a:rPr>
                        <a:t>)</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600" b="1">
                          <a:solidFill>
                            <a:srgbClr val="00549F"/>
                          </a:solidFill>
                        </a:rPr>
                        <a:t>competence</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2"/>
                  </a:ext>
                </a:extLst>
              </a:tr>
              <a:tr h="493776">
                <a:tc>
                  <a:txBody>
                    <a:bodyPr/>
                    <a:lstStyle/>
                    <a:p>
                      <a:r>
                        <a:rPr sz="1600" b="1" dirty="0" err="1">
                          <a:solidFill>
                            <a:srgbClr val="000000"/>
                          </a:solidFill>
                        </a:rPr>
                        <a:t>odrl:Prohibition</a:t>
                      </a:r>
                      <a:endParaRPr sz="1600" b="1" dirty="0">
                        <a:solidFill>
                          <a:srgbClr val="000000"/>
                        </a:solidFill>
                      </a:endParaRP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0" i="1">
                          <a:solidFill>
                            <a:srgbClr val="000000"/>
                          </a:solidFill>
                          <a:latin typeface="Cambria Math"/>
                        </a:rPr>
                        <a:t>ρ</a:t>
                      </a:r>
                      <a:r>
                        <a:rPr sz="1700" b="0" i="0" baseline="-25000">
                          <a:solidFill>
                            <a:srgbClr val="000000"/>
                          </a:solidFill>
                          <a:latin typeface="Cambria Math"/>
                        </a:rPr>
                        <a:t>F</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0" i="0" dirty="0">
                          <a:solidFill>
                            <a:srgbClr val="137A62"/>
                          </a:solidFill>
                          <a:latin typeface="Cambria Math"/>
                        </a:rPr>
                        <a:t>Duty</a:t>
                      </a:r>
                      <a:r>
                        <a:rPr sz="1700" b="0" i="0" dirty="0">
                          <a:solidFill>
                            <a:srgbClr val="000000"/>
                          </a:solidFill>
                          <a:latin typeface="Cambria Math"/>
                        </a:rPr>
                        <a:t>(</a:t>
                      </a:r>
                      <a:r>
                        <a:rPr sz="1700" b="0" i="1" dirty="0">
                          <a:solidFill>
                            <a:srgbClr val="000000"/>
                          </a:solidFill>
                          <a:latin typeface="Cambria Math"/>
                        </a:rPr>
                        <a:t>x</a:t>
                      </a:r>
                      <a:r>
                        <a:rPr sz="1700" b="0" i="0" dirty="0">
                          <a:solidFill>
                            <a:srgbClr val="000000"/>
                          </a:solidFill>
                          <a:latin typeface="Cambria Math"/>
                        </a:rPr>
                        <a:t>, </a:t>
                      </a:r>
                      <a:r>
                        <a:rPr sz="1700" b="0" i="0" dirty="0" err="1">
                          <a:solidFill>
                            <a:srgbClr val="000000"/>
                          </a:solidFill>
                          <a:latin typeface="Cambria Math"/>
                        </a:rPr>
                        <a:t>rfr</a:t>
                      </a:r>
                      <a:r>
                        <a:rPr sz="1700" b="0" i="0" dirty="0">
                          <a:solidFill>
                            <a:srgbClr val="000000"/>
                          </a:solidFill>
                          <a:latin typeface="Cambria Math"/>
                        </a:rPr>
                        <a:t>(</a:t>
                      </a:r>
                      <a:r>
                        <a:rPr sz="1700" b="0" i="1" dirty="0">
                          <a:solidFill>
                            <a:srgbClr val="000000"/>
                          </a:solidFill>
                          <a:latin typeface="Cambria Math"/>
                        </a:rPr>
                        <a:t>a</a:t>
                      </a:r>
                      <a:r>
                        <a:rPr sz="1700" b="0" i="0" dirty="0">
                          <a:solidFill>
                            <a:srgbClr val="000000"/>
                          </a:solidFill>
                          <a:latin typeface="Cambria Math"/>
                        </a:rPr>
                        <a:t>), </a:t>
                      </a:r>
                      <a:r>
                        <a:rPr sz="1700" b="0" i="1" dirty="0">
                          <a:solidFill>
                            <a:srgbClr val="000000"/>
                          </a:solidFill>
                          <a:latin typeface="Cambria Math"/>
                        </a:rPr>
                        <a:t>t</a:t>
                      </a:r>
                      <a:r>
                        <a:rPr sz="1700" b="0" i="0" dirty="0">
                          <a:solidFill>
                            <a:srgbClr val="000000"/>
                          </a:solidFill>
                          <a:latin typeface="Cambria Math"/>
                        </a:rPr>
                        <a:t>)</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0" i="0" dirty="0">
                          <a:solidFill>
                            <a:srgbClr val="137A62"/>
                          </a:solidFill>
                          <a:latin typeface="Cambria Math"/>
                        </a:rPr>
                        <a:t>Right</a:t>
                      </a:r>
                      <a:r>
                        <a:rPr sz="1700" b="0" i="0" dirty="0">
                          <a:solidFill>
                            <a:srgbClr val="000000"/>
                          </a:solidFill>
                          <a:latin typeface="Cambria Math"/>
                        </a:rPr>
                        <a:t>(</a:t>
                      </a:r>
                      <a:r>
                        <a:rPr sz="1700" b="0" i="1" dirty="0">
                          <a:solidFill>
                            <a:srgbClr val="000000"/>
                          </a:solidFill>
                          <a:latin typeface="Cambria Math"/>
                        </a:rPr>
                        <a:t>y</a:t>
                      </a:r>
                      <a:r>
                        <a:rPr sz="1700" b="0" i="0" dirty="0">
                          <a:solidFill>
                            <a:srgbClr val="000000"/>
                          </a:solidFill>
                          <a:latin typeface="Cambria Math"/>
                        </a:rPr>
                        <a:t>, </a:t>
                      </a:r>
                      <a:r>
                        <a:rPr sz="1700" b="0" i="0" dirty="0" err="1">
                          <a:solidFill>
                            <a:srgbClr val="000000"/>
                          </a:solidFill>
                          <a:latin typeface="Cambria Math"/>
                        </a:rPr>
                        <a:t>rfr</a:t>
                      </a:r>
                      <a:r>
                        <a:rPr sz="1700" b="0" i="0" dirty="0">
                          <a:solidFill>
                            <a:srgbClr val="000000"/>
                          </a:solidFill>
                          <a:latin typeface="Cambria Math"/>
                        </a:rPr>
                        <a:t>(</a:t>
                      </a:r>
                      <a:r>
                        <a:rPr sz="1700" b="0" i="1" dirty="0">
                          <a:solidFill>
                            <a:srgbClr val="000000"/>
                          </a:solidFill>
                          <a:latin typeface="Cambria Math"/>
                        </a:rPr>
                        <a:t>a</a:t>
                      </a:r>
                      <a:r>
                        <a:rPr sz="1700" b="0" i="0" dirty="0">
                          <a:solidFill>
                            <a:srgbClr val="000000"/>
                          </a:solidFill>
                          <a:latin typeface="Cambria Math"/>
                        </a:rPr>
                        <a:t>), </a:t>
                      </a:r>
                      <a:r>
                        <a:rPr sz="1700" b="0" i="1" dirty="0">
                          <a:solidFill>
                            <a:srgbClr val="000000"/>
                          </a:solidFill>
                          <a:latin typeface="Cambria Math"/>
                        </a:rPr>
                        <a:t>t</a:t>
                      </a:r>
                      <a:r>
                        <a:rPr sz="1700" b="0" i="0" dirty="0">
                          <a:solidFill>
                            <a:srgbClr val="000000"/>
                          </a:solidFill>
                          <a:latin typeface="Cambria Math"/>
                        </a:rPr>
                        <a:t>)</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600" b="1">
                          <a:solidFill>
                            <a:srgbClr val="137A62"/>
                          </a:solidFill>
                        </a:rPr>
                        <a:t>conduct</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3"/>
                  </a:ext>
                </a:extLst>
              </a:tr>
              <a:tr h="493776">
                <a:tc>
                  <a:txBody>
                    <a:bodyPr/>
                    <a:lstStyle/>
                    <a:p>
                      <a:r>
                        <a:rPr sz="1600" b="1" dirty="0">
                          <a:solidFill>
                            <a:srgbClr val="00549F"/>
                          </a:solidFill>
                        </a:rPr>
                        <a:t>+ remedy</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0" i="1">
                          <a:solidFill>
                            <a:srgbClr val="000000"/>
                          </a:solidFill>
                          <a:latin typeface="Cambria Math"/>
                        </a:rPr>
                        <a:t>ρ</a:t>
                      </a:r>
                      <a:r>
                        <a:rPr sz="1700" b="0" i="0" baseline="-25000">
                          <a:solidFill>
                            <a:srgbClr val="000000"/>
                          </a:solidFill>
                          <a:latin typeface="Cambria Math"/>
                        </a:rPr>
                        <a:t>R</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0" i="0" dirty="0">
                          <a:solidFill>
                            <a:srgbClr val="00549F"/>
                          </a:solidFill>
                          <a:latin typeface="Cambria Math"/>
                        </a:rPr>
                        <a:t>Subj</a:t>
                      </a:r>
                      <a:r>
                        <a:rPr sz="1700" b="0" i="0" dirty="0">
                          <a:solidFill>
                            <a:srgbClr val="000000"/>
                          </a:solidFill>
                          <a:latin typeface="Cambria Math"/>
                        </a:rPr>
                        <a:t>(</a:t>
                      </a:r>
                      <a:r>
                        <a:rPr sz="1700" b="0" i="1" dirty="0">
                          <a:solidFill>
                            <a:srgbClr val="000000"/>
                          </a:solidFill>
                          <a:latin typeface="Cambria Math"/>
                        </a:rPr>
                        <a:t>x</a:t>
                      </a:r>
                      <a:r>
                        <a:rPr sz="1700" b="0" i="0" dirty="0">
                          <a:solidFill>
                            <a:srgbClr val="000000"/>
                          </a:solidFill>
                          <a:latin typeface="Cambria Math"/>
                        </a:rPr>
                        <a:t>, </a:t>
                      </a:r>
                      <a:r>
                        <a:rPr sz="1700" b="0" i="0" dirty="0" err="1">
                          <a:solidFill>
                            <a:srgbClr val="000000"/>
                          </a:solidFill>
                          <a:latin typeface="Cambria Math"/>
                        </a:rPr>
                        <a:t>decl</a:t>
                      </a:r>
                      <a:r>
                        <a:rPr sz="1700" b="0" i="0" dirty="0">
                          <a:solidFill>
                            <a:srgbClr val="000000"/>
                          </a:solidFill>
                          <a:latin typeface="Cambria Math"/>
                        </a:rPr>
                        <a:t>(</a:t>
                      </a:r>
                      <a:r>
                        <a:rPr sz="1700" b="0" i="1" dirty="0">
                          <a:solidFill>
                            <a:srgbClr val="000000"/>
                          </a:solidFill>
                          <a:latin typeface="Cambria Math"/>
                        </a:rPr>
                        <a:t>a</a:t>
                      </a:r>
                      <a:r>
                        <a:rPr sz="1700" b="0" i="0" dirty="0">
                          <a:solidFill>
                            <a:srgbClr val="000000"/>
                          </a:solidFill>
                          <a:latin typeface="Cambria Math"/>
                        </a:rPr>
                        <a:t>), </a:t>
                      </a:r>
                      <a:r>
                        <a:rPr sz="1700" b="0" i="1" dirty="0">
                          <a:solidFill>
                            <a:srgbClr val="000000"/>
                          </a:solidFill>
                          <a:latin typeface="Cambria Math"/>
                        </a:rPr>
                        <a:t>t</a:t>
                      </a:r>
                      <a:r>
                        <a:rPr sz="1700" b="0" i="0" dirty="0">
                          <a:solidFill>
                            <a:srgbClr val="000000"/>
                          </a:solidFill>
                          <a:latin typeface="Cambria Math"/>
                        </a:rPr>
                        <a:t>)</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0" i="0" dirty="0">
                          <a:solidFill>
                            <a:srgbClr val="00549F"/>
                          </a:solidFill>
                          <a:latin typeface="Cambria Math"/>
                        </a:rPr>
                        <a:t>Power</a:t>
                      </a:r>
                      <a:r>
                        <a:rPr sz="1700" b="0" i="0" dirty="0">
                          <a:solidFill>
                            <a:srgbClr val="000000"/>
                          </a:solidFill>
                          <a:latin typeface="Cambria Math"/>
                        </a:rPr>
                        <a:t>(</a:t>
                      </a:r>
                      <a:r>
                        <a:rPr sz="1700" b="0" i="1" dirty="0">
                          <a:solidFill>
                            <a:srgbClr val="000000"/>
                          </a:solidFill>
                          <a:latin typeface="Cambria Math"/>
                        </a:rPr>
                        <a:t>y</a:t>
                      </a:r>
                      <a:r>
                        <a:rPr sz="1700" b="0" i="0" dirty="0">
                          <a:solidFill>
                            <a:srgbClr val="000000"/>
                          </a:solidFill>
                          <a:latin typeface="Cambria Math"/>
                        </a:rPr>
                        <a:t>, </a:t>
                      </a:r>
                      <a:r>
                        <a:rPr sz="1700" b="0" i="0" dirty="0" err="1">
                          <a:solidFill>
                            <a:srgbClr val="000000"/>
                          </a:solidFill>
                          <a:latin typeface="Cambria Math"/>
                        </a:rPr>
                        <a:t>decl</a:t>
                      </a:r>
                      <a:r>
                        <a:rPr sz="1700" b="0" i="0" dirty="0">
                          <a:solidFill>
                            <a:srgbClr val="000000"/>
                          </a:solidFill>
                          <a:latin typeface="Cambria Math"/>
                        </a:rPr>
                        <a:t>(</a:t>
                      </a:r>
                      <a:r>
                        <a:rPr sz="1700" b="0" i="1" dirty="0">
                          <a:solidFill>
                            <a:srgbClr val="000000"/>
                          </a:solidFill>
                          <a:latin typeface="Cambria Math"/>
                        </a:rPr>
                        <a:t>a</a:t>
                      </a:r>
                      <a:r>
                        <a:rPr sz="1700" b="0" i="0" dirty="0">
                          <a:solidFill>
                            <a:srgbClr val="000000"/>
                          </a:solidFill>
                          <a:latin typeface="Cambria Math"/>
                        </a:rPr>
                        <a:t>), </a:t>
                      </a:r>
                      <a:r>
                        <a:rPr sz="1700" b="0" i="1" dirty="0">
                          <a:solidFill>
                            <a:srgbClr val="000000"/>
                          </a:solidFill>
                          <a:latin typeface="Cambria Math"/>
                        </a:rPr>
                        <a:t>t</a:t>
                      </a:r>
                      <a:r>
                        <a:rPr sz="1700" b="0" i="0" dirty="0">
                          <a:solidFill>
                            <a:srgbClr val="000000"/>
                          </a:solidFill>
                          <a:latin typeface="Cambria Math"/>
                        </a:rPr>
                        <a:t>)</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600" b="1">
                          <a:solidFill>
                            <a:srgbClr val="00549F"/>
                          </a:solidFill>
                        </a:rPr>
                        <a:t>competence</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4"/>
                  </a:ext>
                </a:extLst>
              </a:tr>
              <a:tr h="493776">
                <a:tc>
                  <a:txBody>
                    <a:bodyPr/>
                    <a:lstStyle/>
                    <a:p>
                      <a:r>
                        <a:rPr sz="1600" b="1">
                          <a:solidFill>
                            <a:srgbClr val="000000"/>
                          </a:solidFill>
                        </a:rPr>
                        <a:t>odrl:Duty</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sz="1700" b="0" i="1">
                          <a:solidFill>
                            <a:srgbClr val="000000"/>
                          </a:solidFill>
                          <a:latin typeface="Cambria Math"/>
                        </a:rPr>
                        <a:t>ρ</a:t>
                      </a:r>
                      <a:r>
                        <a:rPr sz="1700" b="0" i="0" baseline="-25000">
                          <a:solidFill>
                            <a:srgbClr val="000000"/>
                          </a:solidFill>
                          <a:latin typeface="Cambria Math"/>
                        </a:rPr>
                        <a:t>D</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sz="1700" b="0" i="0" dirty="0">
                          <a:solidFill>
                            <a:srgbClr val="137A62"/>
                          </a:solidFill>
                          <a:latin typeface="Cambria Math"/>
                        </a:rPr>
                        <a:t>Duty</a:t>
                      </a:r>
                      <a:r>
                        <a:rPr sz="1700" b="0" i="0" dirty="0">
                          <a:solidFill>
                            <a:srgbClr val="000000"/>
                          </a:solidFill>
                          <a:latin typeface="Cambria Math"/>
                        </a:rPr>
                        <a:t>(</a:t>
                      </a:r>
                      <a:r>
                        <a:rPr sz="1700" b="0" i="1" dirty="0">
                          <a:solidFill>
                            <a:srgbClr val="000000"/>
                          </a:solidFill>
                          <a:latin typeface="Cambria Math"/>
                        </a:rPr>
                        <a:t>x</a:t>
                      </a:r>
                      <a:r>
                        <a:rPr sz="1700" b="0" i="0" dirty="0">
                          <a:solidFill>
                            <a:srgbClr val="000000"/>
                          </a:solidFill>
                          <a:latin typeface="Cambria Math"/>
                        </a:rPr>
                        <a:t>, </a:t>
                      </a:r>
                      <a:r>
                        <a:rPr sz="1700" b="0" i="1" dirty="0">
                          <a:solidFill>
                            <a:srgbClr val="000000"/>
                          </a:solidFill>
                          <a:latin typeface="Cambria Math"/>
                        </a:rPr>
                        <a:t>a</a:t>
                      </a:r>
                      <a:r>
                        <a:rPr sz="1700" b="0" i="0" dirty="0">
                          <a:solidFill>
                            <a:srgbClr val="000000"/>
                          </a:solidFill>
                          <a:latin typeface="Cambria Math"/>
                        </a:rPr>
                        <a:t>, </a:t>
                      </a:r>
                      <a:r>
                        <a:rPr sz="1700" b="0" i="1" dirty="0">
                          <a:solidFill>
                            <a:srgbClr val="000000"/>
                          </a:solidFill>
                          <a:latin typeface="Cambria Math"/>
                        </a:rPr>
                        <a:t>t</a:t>
                      </a:r>
                      <a:r>
                        <a:rPr sz="1700" b="0" i="0" dirty="0">
                          <a:solidFill>
                            <a:srgbClr val="000000"/>
                          </a:solidFill>
                          <a:latin typeface="Cambria Math"/>
                        </a:rPr>
                        <a:t>)</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sz="1700" b="0" i="0">
                          <a:solidFill>
                            <a:srgbClr val="137A62"/>
                          </a:solidFill>
                          <a:latin typeface="Cambria Math"/>
                        </a:rPr>
                        <a:t>Right</a:t>
                      </a:r>
                      <a:r>
                        <a:rPr sz="1700" b="0" i="0">
                          <a:solidFill>
                            <a:srgbClr val="000000"/>
                          </a:solidFill>
                          <a:latin typeface="Cambria Math"/>
                        </a:rPr>
                        <a:t>(</a:t>
                      </a:r>
                      <a:r>
                        <a:rPr sz="1700" b="0" i="1">
                          <a:solidFill>
                            <a:srgbClr val="000000"/>
                          </a:solidFill>
                          <a:latin typeface="Cambria Math"/>
                        </a:rPr>
                        <a:t>y</a:t>
                      </a:r>
                      <a:r>
                        <a:rPr sz="1700" b="0" i="0">
                          <a:solidFill>
                            <a:srgbClr val="000000"/>
                          </a:solidFill>
                          <a:latin typeface="Cambria Math"/>
                        </a:rPr>
                        <a:t>, </a:t>
                      </a:r>
                      <a:r>
                        <a:rPr sz="1700" b="0" i="1">
                          <a:solidFill>
                            <a:srgbClr val="000000"/>
                          </a:solidFill>
                          <a:latin typeface="Cambria Math"/>
                        </a:rPr>
                        <a:t>a</a:t>
                      </a:r>
                      <a:r>
                        <a:rPr sz="1700" b="0" i="0">
                          <a:solidFill>
                            <a:srgbClr val="000000"/>
                          </a:solidFill>
                          <a:latin typeface="Cambria Math"/>
                        </a:rPr>
                        <a:t>, </a:t>
                      </a:r>
                      <a:r>
                        <a:rPr sz="1700" b="0" i="1">
                          <a:solidFill>
                            <a:srgbClr val="000000"/>
                          </a:solidFill>
                          <a:latin typeface="Cambria Math"/>
                        </a:rPr>
                        <a:t>t</a:t>
                      </a:r>
                      <a:r>
                        <a:rPr sz="1700" b="0" i="0">
                          <a:solidFill>
                            <a:srgbClr val="000000"/>
                          </a:solidFill>
                          <a:latin typeface="Cambria Math"/>
                        </a:rPr>
                        <a:t>)</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sz="1600" b="1" dirty="0">
                          <a:solidFill>
                            <a:srgbClr val="137A62"/>
                          </a:solidFill>
                        </a:rPr>
                        <a:t>conduct</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extLst>
                  <a:ext uri="{0D108BD9-81ED-4DB2-BD59-A6C34878D82A}">
                    <a16:rowId xmlns:a16="http://schemas.microsoft.com/office/drawing/2014/main" val="10005"/>
                  </a:ext>
                </a:extLst>
              </a:tr>
            </a:tbl>
          </a:graphicData>
        </a:graphic>
      </p:graphicFrame>
      <p:sp>
        <p:nvSpPr>
          <p:cNvPr id="5" name="TextBox 4"/>
          <p:cNvSpPr txBox="1"/>
          <p:nvPr/>
        </p:nvSpPr>
        <p:spPr>
          <a:xfrm>
            <a:off x="548640" y="5138928"/>
            <a:ext cx="11091672" cy="1097280"/>
          </a:xfrm>
          <a:prstGeom prst="rect">
            <a:avLst/>
          </a:prstGeom>
          <a:noFill/>
        </p:spPr>
        <p:txBody>
          <a:bodyPr wrap="square" lIns="0" tIns="0" rIns="0" bIns="0" anchor="t">
            <a:noAutofit/>
          </a:bodyPr>
          <a:lstStyle/>
          <a:p>
            <a:r>
              <a:rPr sz="1900" b="0" i="0" dirty="0" err="1">
                <a:latin typeface="Cambria Math"/>
              </a:rPr>
              <a:t>rfr</a:t>
            </a:r>
            <a:r>
              <a:rPr sz="1900" b="0" i="0" dirty="0">
                <a:latin typeface="Cambria Math"/>
              </a:rPr>
              <a:t>(</a:t>
            </a:r>
            <a:r>
              <a:rPr sz="1900" b="0" i="1" dirty="0">
                <a:latin typeface="Cambria Math"/>
              </a:rPr>
              <a:t>a</a:t>
            </a:r>
            <a:r>
              <a:rPr sz="1900" b="0" i="0" dirty="0">
                <a:latin typeface="Cambria Math"/>
              </a:rPr>
              <a:t>)</a:t>
            </a:r>
            <a:r>
              <a:rPr sz="1900" dirty="0"/>
              <a:t>: the omission of </a:t>
            </a:r>
            <a:r>
              <a:rPr sz="1900" b="0" i="1" dirty="0">
                <a:latin typeface="Cambria Math"/>
              </a:rPr>
              <a:t>a</a:t>
            </a:r>
            <a:r>
              <a:rPr sz="1900" dirty="0"/>
              <a:t> (a forbearance)</a:t>
            </a:r>
            <a:r>
              <a:rPr lang="en-US" sz="1900" dirty="0"/>
              <a:t> </a:t>
            </a:r>
            <a:r>
              <a:rPr lang="de-DE" sz="2000" b="1" dirty="0"/>
              <a:t>non-performance</a:t>
            </a:r>
            <a:r>
              <a:rPr lang="de-DE" sz="2000" dirty="0"/>
              <a:t> of the </a:t>
            </a:r>
            <a:r>
              <a:rPr lang="de-DE" sz="2000" dirty="0" err="1"/>
              <a:t>prohibited</a:t>
            </a:r>
            <a:r>
              <a:rPr lang="de-DE" sz="2000" dirty="0"/>
              <a:t> </a:t>
            </a:r>
            <a:r>
              <a:rPr lang="de-DE" sz="2000" dirty="0" err="1"/>
              <a:t>action</a:t>
            </a:r>
            <a:r>
              <a:rPr sz="1900" dirty="0"/>
              <a:t>.  </a:t>
            </a:r>
            <a:endParaRPr lang="en-US" sz="1900" dirty="0"/>
          </a:p>
          <a:p>
            <a:r>
              <a:rPr sz="1900" dirty="0"/>
              <a:t> </a:t>
            </a:r>
            <a:r>
              <a:rPr sz="1900" b="0" i="0" dirty="0" err="1">
                <a:latin typeface="Cambria Math"/>
              </a:rPr>
              <a:t>decl</a:t>
            </a:r>
            <a:r>
              <a:rPr sz="1900" b="0" i="0" dirty="0">
                <a:latin typeface="Cambria Math"/>
              </a:rPr>
              <a:t>(</a:t>
            </a:r>
            <a:r>
              <a:rPr sz="1900" b="0" i="1" dirty="0">
                <a:latin typeface="Cambria Math"/>
              </a:rPr>
              <a:t>a</a:t>
            </a:r>
            <a:r>
              <a:rPr sz="1900" b="0" i="0" dirty="0">
                <a:latin typeface="Cambria Math"/>
              </a:rPr>
              <a:t>)</a:t>
            </a:r>
            <a:r>
              <a:rPr sz="1900" dirty="0"/>
              <a:t>: the institutional act of declaring a violation of </a:t>
            </a:r>
            <a:r>
              <a:rPr sz="1900" b="0" i="1" dirty="0">
                <a:latin typeface="Cambria Math"/>
              </a:rPr>
              <a:t>a</a:t>
            </a:r>
            <a:r>
              <a:rPr lang="en-US" sz="1900" b="0" i="1" dirty="0">
                <a:latin typeface="Cambria Math"/>
              </a:rPr>
              <a:t> </a:t>
            </a:r>
            <a:r>
              <a:rPr lang="de-DE" sz="2000" dirty="0" err="1"/>
              <a:t>prohibited</a:t>
            </a:r>
            <a:r>
              <a:rPr lang="de-DE" sz="2000" dirty="0"/>
              <a:t> </a:t>
            </a:r>
            <a:r>
              <a:rPr lang="de-DE" sz="2000" dirty="0" err="1"/>
              <a:t>action</a:t>
            </a:r>
            <a:r>
              <a:rPr lang="de-DE" sz="2000" dirty="0"/>
              <a:t> </a:t>
            </a:r>
            <a:r>
              <a:rPr lang="de-DE" sz="2000" dirty="0" err="1"/>
              <a:t>has</a:t>
            </a:r>
            <a:r>
              <a:rPr lang="de-DE" sz="2000" dirty="0"/>
              <a:t> </a:t>
            </a:r>
            <a:r>
              <a:rPr lang="de-DE" sz="2000" dirty="0" err="1"/>
              <a:t>occurred</a:t>
            </a:r>
            <a:r>
              <a:rPr lang="de-DE" sz="2000" dirty="0"/>
              <a:t>.</a:t>
            </a:r>
            <a:endParaRPr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8874A-A13C-0EBB-16D4-687470C4E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392478-66B7-1C86-F038-201C670B7D74}"/>
              </a:ext>
            </a:extLst>
          </p:cNvPr>
          <p:cNvSpPr>
            <a:spLocks noGrp="1"/>
          </p:cNvSpPr>
          <p:nvPr>
            <p:ph type="title"/>
          </p:nvPr>
        </p:nvSpPr>
        <p:spPr/>
        <p:txBody>
          <a:bodyPr/>
          <a:lstStyle/>
          <a:p>
            <a:r>
              <a:t>Backup: founding axioms 5.1 to 5.5</a:t>
            </a:r>
          </a:p>
        </p:txBody>
      </p:sp>
      <p:sp>
        <p:nvSpPr>
          <p:cNvPr id="3" name="TextBox 2">
            <a:extLst>
              <a:ext uri="{FF2B5EF4-FFF2-40B4-BE49-F238E27FC236}">
                <a16:creationId xmlns:a16="http://schemas.microsoft.com/office/drawing/2014/main" id="{834A6E94-558C-37BC-C87B-4426E87BF9FA}"/>
              </a:ext>
            </a:extLst>
          </p:cNvPr>
          <p:cNvSpPr txBox="1"/>
          <p:nvPr/>
        </p:nvSpPr>
        <p:spPr>
          <a:xfrm>
            <a:off x="548640" y="1325880"/>
            <a:ext cx="5364327" cy="4892040"/>
          </a:xfrm>
          <a:prstGeom prst="rect">
            <a:avLst/>
          </a:prstGeom>
          <a:noFill/>
        </p:spPr>
        <p:txBody>
          <a:bodyPr wrap="square" lIns="0" tIns="0" rIns="0" bIns="0" anchor="t">
            <a:noAutofit/>
          </a:bodyPr>
          <a:lstStyle/>
          <a:p>
            <a:pPr marL="0" indent="0">
              <a:spcBef>
                <a:spcPts val="0"/>
              </a:spcBef>
              <a:buNone/>
            </a:pPr>
            <a:r>
              <a:rPr sz="1300" b="1">
                <a:solidFill>
                  <a:srgbClr val="000000"/>
                </a:solidFill>
              </a:rPr>
              <a:t>Ax. 5.1  Permission relator (weak)</a:t>
            </a:r>
          </a:p>
          <a:p>
            <a:pPr marL="0" indent="0">
              <a:spcBef>
                <a:spcPts val="300"/>
              </a:spcBef>
              <a:buNone/>
            </a:pPr>
            <a:r>
              <a:rPr sz="1250" b="0" i="0">
                <a:solidFill>
                  <a:srgbClr val="000000"/>
                </a:solidFill>
                <a:latin typeface="Cambria Math"/>
              </a:rPr>
              <a:t>∀</a:t>
            </a:r>
            <a:r>
              <a:rPr sz="1250" b="0" i="1">
                <a:solidFill>
                  <a:srgbClr val="000000"/>
                </a:solidFill>
                <a:latin typeface="Cambria Math"/>
              </a:rPr>
              <a:t>p</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P</a:t>
            </a:r>
            <a:r>
              <a:rPr sz="1250" b="0" i="0">
                <a:solidFill>
                  <a:srgbClr val="000000"/>
                </a:solidFill>
                <a:latin typeface="Cambria Math"/>
              </a:rPr>
              <a:t>(</a:t>
            </a:r>
            <a:r>
              <a:rPr sz="1250" b="0" i="1">
                <a:solidFill>
                  <a:srgbClr val="000000"/>
                </a:solidFill>
                <a:latin typeface="Cambria Math"/>
              </a:rPr>
              <a:t>p</a:t>
            </a:r>
            <a:r>
              <a:rPr sz="1250" b="0" i="0">
                <a:solidFill>
                  <a:srgbClr val="000000"/>
                </a:solidFill>
                <a:latin typeface="Cambria Math"/>
              </a:rPr>
              <a:t>) ∧ aee(</a:t>
            </a:r>
            <a:r>
              <a:rPr sz="1250" b="0" i="1">
                <a:solidFill>
                  <a:srgbClr val="000000"/>
                </a:solidFill>
                <a:latin typeface="Cambria Math"/>
              </a:rPr>
              <a:t>p</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 aer(</a:t>
            </a:r>
            <a:r>
              <a:rPr sz="1250" b="0" i="1">
                <a:solidFill>
                  <a:srgbClr val="000000"/>
                </a:solidFill>
                <a:latin typeface="Cambria Math"/>
              </a:rPr>
              <a:t>p</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 act(</a:t>
            </a:r>
            <a:r>
              <a:rPr sz="1250" b="0" i="1">
                <a:solidFill>
                  <a:srgbClr val="000000"/>
                </a:solidFill>
                <a:latin typeface="Cambria Math"/>
              </a:rPr>
              <a:t>p</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a:t>
            </a:r>
          </a:p>
          <a:p>
            <a:pPr marL="0" indent="0">
              <a:spcBef>
                <a:spcPts val="100"/>
              </a:spcBef>
              <a:buNone/>
            </a:pPr>
            <a:r>
              <a:rPr sz="1250" b="0" i="0">
                <a:solidFill>
                  <a:srgbClr val="000000"/>
                </a:solidFill>
                <a:latin typeface="Cambria Math"/>
              </a:rPr>
              <a:t>   ∧ tgt(</a:t>
            </a:r>
            <a:r>
              <a:rPr sz="1250" b="0" i="1">
                <a:solidFill>
                  <a:srgbClr val="000000"/>
                </a:solidFill>
                <a:latin typeface="Cambria Math"/>
              </a:rPr>
              <a:t>p</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activates(</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p</a:t>
            </a:r>
            <a:r>
              <a:rPr sz="1250" b="0" i="0">
                <a:solidFill>
                  <a:srgbClr val="000000"/>
                </a:solidFill>
                <a:latin typeface="Cambria Math"/>
              </a:rPr>
              <a:t>) → ∃</a:t>
            </a:r>
            <a:r>
              <a:rPr sz="1250" b="0" i="1">
                <a:solidFill>
                  <a:srgbClr val="000000"/>
                </a:solidFill>
                <a:latin typeface="Cambria Math"/>
              </a:rPr>
              <a:t>ρ</a:t>
            </a:r>
            <a:r>
              <a:rPr sz="1250" b="0" i="0" baseline="-25000">
                <a:solidFill>
                  <a:srgbClr val="000000"/>
                </a:solidFill>
                <a:latin typeface="Cambria Math"/>
              </a:rPr>
              <a:t>P</a:t>
            </a:r>
            <a:r>
              <a:rPr sz="1250" b="0" i="0">
                <a:solidFill>
                  <a:srgbClr val="000000"/>
                </a:solidFill>
                <a:latin typeface="Cambria Math"/>
              </a:rPr>
              <a:t>, </a:t>
            </a:r>
            <a:r>
              <a:rPr sz="1250" b="0" i="1">
                <a:solidFill>
                  <a:srgbClr val="000000"/>
                </a:solidFill>
                <a:latin typeface="Cambria Math"/>
              </a:rPr>
              <a:t>l</a:t>
            </a:r>
            <a:r>
              <a:rPr sz="1250" b="0" i="0">
                <a:solidFill>
                  <a:srgbClr val="000000"/>
                </a:solidFill>
                <a:latin typeface="Cambria Math"/>
              </a:rPr>
              <a:t>, </a:t>
            </a:r>
            <a:r>
              <a:rPr sz="1250" b="0" i="1">
                <a:solidFill>
                  <a:srgbClr val="000000"/>
                </a:solidFill>
                <a:latin typeface="Cambria Math"/>
              </a:rPr>
              <a:t>n</a:t>
            </a:r>
            <a:r>
              <a:rPr sz="1250" b="0" i="0">
                <a:solidFill>
                  <a:srgbClr val="000000"/>
                </a:solidFill>
                <a:latin typeface="Cambria Math"/>
              </a:rPr>
              <a:t>. Rel(</a:t>
            </a:r>
            <a:r>
              <a:rPr sz="1250" b="0" i="1">
                <a:solidFill>
                  <a:srgbClr val="000000"/>
                </a:solidFill>
                <a:latin typeface="Cambria Math"/>
              </a:rPr>
              <a:t>ρ</a:t>
            </a:r>
            <a:r>
              <a:rPr sz="1250" b="0" i="0" baseline="-25000">
                <a:solidFill>
                  <a:srgbClr val="000000"/>
                </a:solidFill>
                <a:latin typeface="Cambria Math"/>
              </a:rPr>
              <a:t>P</a:t>
            </a:r>
            <a:r>
              <a:rPr sz="1250" b="0" i="0">
                <a:solidFill>
                  <a:srgbClr val="000000"/>
                </a:solidFill>
                <a:latin typeface="Cambria Math"/>
              </a:rPr>
              <a:t>)</a:t>
            </a:r>
          </a:p>
          <a:p>
            <a:pPr marL="0" indent="0">
              <a:spcBef>
                <a:spcPts val="100"/>
              </a:spcBef>
              <a:buNone/>
            </a:pPr>
            <a:r>
              <a:rPr sz="1250" b="0" i="0">
                <a:solidFill>
                  <a:srgbClr val="000000"/>
                </a:solidFill>
                <a:latin typeface="Cambria Math"/>
              </a:rPr>
              <a:t>   ∧ founds(</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P</a:t>
            </a:r>
            <a:r>
              <a:rPr sz="1250" b="0" i="0">
                <a:solidFill>
                  <a:srgbClr val="000000"/>
                </a:solidFill>
                <a:latin typeface="Cambria Math"/>
              </a:rPr>
              <a:t>, </a:t>
            </a:r>
            <a:r>
              <a:rPr sz="1250" b="0" i="1">
                <a:solidFill>
                  <a:srgbClr val="000000"/>
                </a:solidFill>
                <a:latin typeface="Cambria Math"/>
              </a:rPr>
              <a:t>p</a:t>
            </a:r>
            <a:r>
              <a:rPr sz="1250" b="0" i="0">
                <a:solidFill>
                  <a:srgbClr val="000000"/>
                </a:solidFill>
                <a:latin typeface="Cambria Math"/>
              </a:rPr>
              <a:t>) ∧ </a:t>
            </a:r>
            <a:r>
              <a:rPr sz="1250" b="0" i="0">
                <a:solidFill>
                  <a:srgbClr val="137A62"/>
                </a:solidFill>
                <a:latin typeface="Cambria Math"/>
              </a:rPr>
              <a:t>Permission</a:t>
            </a:r>
            <a:r>
              <a:rPr sz="1250" b="0" i="0">
                <a:solidFill>
                  <a:srgbClr val="000000"/>
                </a:solidFill>
                <a:latin typeface="Cambria Math"/>
              </a:rPr>
              <a:t>(</a:t>
            </a:r>
            <a:r>
              <a:rPr sz="1250" b="0" i="1">
                <a:solidFill>
                  <a:srgbClr val="000000"/>
                </a:solidFill>
                <a:latin typeface="Cambria Math"/>
              </a:rPr>
              <a:t>l</a:t>
            </a:r>
            <a:r>
              <a:rPr sz="1250" b="0" i="0">
                <a:solidFill>
                  <a:srgbClr val="000000"/>
                </a:solidFill>
                <a:latin typeface="Cambria Math"/>
              </a:rPr>
              <a:t>) ∧ bearer(</a:t>
            </a:r>
            <a:r>
              <a:rPr sz="1250" b="0" i="1">
                <a:solidFill>
                  <a:srgbClr val="000000"/>
                </a:solidFill>
                <a:latin typeface="Cambria Math"/>
              </a:rPr>
              <a:t>l</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a:t>
            </a:r>
          </a:p>
          <a:p>
            <a:pPr marL="0" indent="0">
              <a:spcBef>
                <a:spcPts val="100"/>
              </a:spcBef>
              <a:buNone/>
            </a:pPr>
            <a:r>
              <a:rPr sz="1250" b="0" i="0">
                <a:solidFill>
                  <a:srgbClr val="000000"/>
                </a:solidFill>
                <a:latin typeface="Cambria Math"/>
              </a:rPr>
              <a:t>   ∧ cnt(</a:t>
            </a:r>
            <a:r>
              <a:rPr sz="1250" b="0" i="1">
                <a:solidFill>
                  <a:srgbClr val="000000"/>
                </a:solidFill>
                <a:latin typeface="Cambria Math"/>
              </a:rPr>
              <a:t>l</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partOf(</a:t>
            </a:r>
            <a:r>
              <a:rPr sz="1250" b="0" i="1">
                <a:solidFill>
                  <a:srgbClr val="000000"/>
                </a:solidFill>
                <a:latin typeface="Cambria Math"/>
              </a:rPr>
              <a:t>l</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P</a:t>
            </a:r>
            <a:r>
              <a:rPr sz="1250" b="0" i="0">
                <a:solidFill>
                  <a:srgbClr val="000000"/>
                </a:solidFill>
                <a:latin typeface="Cambria Math"/>
              </a:rPr>
              <a:t>) ∧ </a:t>
            </a:r>
            <a:r>
              <a:rPr sz="1250" b="0" i="0">
                <a:solidFill>
                  <a:srgbClr val="137A62"/>
                </a:solidFill>
                <a:latin typeface="Cambria Math"/>
              </a:rPr>
              <a:t>NoRight</a:t>
            </a:r>
            <a:r>
              <a:rPr sz="1250" b="0" i="0">
                <a:solidFill>
                  <a:srgbClr val="000000"/>
                </a:solidFill>
                <a:latin typeface="Cambria Math"/>
              </a:rPr>
              <a:t>(</a:t>
            </a:r>
            <a:r>
              <a:rPr sz="1250" b="0" i="1">
                <a:solidFill>
                  <a:srgbClr val="000000"/>
                </a:solidFill>
                <a:latin typeface="Cambria Math"/>
              </a:rPr>
              <a:t>n</a:t>
            </a:r>
            <a:r>
              <a:rPr sz="1250" b="0" i="0">
                <a:solidFill>
                  <a:srgbClr val="000000"/>
                </a:solidFill>
                <a:latin typeface="Cambria Math"/>
              </a:rPr>
              <a:t>) ∧ bearer(</a:t>
            </a:r>
            <a:r>
              <a:rPr sz="1250" b="0" i="1">
                <a:solidFill>
                  <a:srgbClr val="000000"/>
                </a:solidFill>
                <a:latin typeface="Cambria Math"/>
              </a:rPr>
              <a:t>n</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a:t>
            </a:r>
          </a:p>
          <a:p>
            <a:pPr marL="0" indent="0">
              <a:spcBef>
                <a:spcPts val="100"/>
              </a:spcBef>
              <a:buNone/>
            </a:pPr>
            <a:r>
              <a:rPr sz="1250" b="0" i="0">
                <a:solidFill>
                  <a:srgbClr val="000000"/>
                </a:solidFill>
                <a:latin typeface="Cambria Math"/>
              </a:rPr>
              <a:t>   ∧ cnt(</a:t>
            </a:r>
            <a:r>
              <a:rPr sz="1250" b="0" i="1">
                <a:solidFill>
                  <a:srgbClr val="000000"/>
                </a:solidFill>
                <a:latin typeface="Cambria Math"/>
              </a:rPr>
              <a:t>n</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partOf(</a:t>
            </a:r>
            <a:r>
              <a:rPr sz="1250" b="0" i="1">
                <a:solidFill>
                  <a:srgbClr val="000000"/>
                </a:solidFill>
                <a:latin typeface="Cambria Math"/>
              </a:rPr>
              <a:t>n</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P</a:t>
            </a:r>
            <a:r>
              <a:rPr sz="1250" b="0" i="0">
                <a:solidFill>
                  <a:srgbClr val="000000"/>
                </a:solidFill>
                <a:latin typeface="Cambria Math"/>
              </a:rPr>
              <a:t>)</a:t>
            </a:r>
          </a:p>
          <a:p>
            <a:pPr marL="0" indent="0">
              <a:spcBef>
                <a:spcPts val="1200"/>
              </a:spcBef>
              <a:buNone/>
            </a:pPr>
            <a:r>
              <a:rPr sz="1300" b="1">
                <a:solidFill>
                  <a:srgbClr val="000000"/>
                </a:solidFill>
              </a:rPr>
              <a:t>Ax. 5.2  Permission relator (strong)</a:t>
            </a:r>
          </a:p>
          <a:p>
            <a:pPr marL="0" indent="0">
              <a:spcBef>
                <a:spcPts val="300"/>
              </a:spcBef>
              <a:buNone/>
            </a:pPr>
            <a:r>
              <a:rPr sz="1250" b="0" i="0">
                <a:solidFill>
                  <a:srgbClr val="000000"/>
                </a:solidFill>
                <a:latin typeface="Cambria Math"/>
              </a:rPr>
              <a:t>∀</a:t>
            </a:r>
            <a:r>
              <a:rPr sz="1250" b="0" i="1">
                <a:solidFill>
                  <a:srgbClr val="000000"/>
                </a:solidFill>
                <a:latin typeface="Cambria Math"/>
              </a:rPr>
              <a:t>p</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P</a:t>
            </a:r>
            <a:r>
              <a:rPr sz="1250" b="0" i="0">
                <a:solidFill>
                  <a:srgbClr val="000000"/>
                </a:solidFill>
                <a:latin typeface="Cambria Math"/>
              </a:rPr>
              <a:t>(</a:t>
            </a:r>
            <a:r>
              <a:rPr sz="1250" b="0" i="1">
                <a:solidFill>
                  <a:srgbClr val="000000"/>
                </a:solidFill>
                <a:latin typeface="Cambria Math"/>
              </a:rPr>
              <a:t>p</a:t>
            </a:r>
            <a:r>
              <a:rPr sz="1250" b="0" i="0">
                <a:solidFill>
                  <a:srgbClr val="000000"/>
                </a:solidFill>
                <a:latin typeface="Cambria Math"/>
              </a:rPr>
              <a:t>) ∧ strong(</a:t>
            </a:r>
            <a:r>
              <a:rPr sz="1250" b="0" i="1">
                <a:solidFill>
                  <a:srgbClr val="000000"/>
                </a:solidFill>
                <a:latin typeface="Cambria Math"/>
              </a:rPr>
              <a:t>p</a:t>
            </a:r>
            <a:r>
              <a:rPr sz="1250" b="0" i="0">
                <a:solidFill>
                  <a:srgbClr val="000000"/>
                </a:solidFill>
                <a:latin typeface="Cambria Math"/>
              </a:rPr>
              <a:t>) ∧ aee(</a:t>
            </a:r>
            <a:r>
              <a:rPr sz="1250" b="0" i="1">
                <a:solidFill>
                  <a:srgbClr val="000000"/>
                </a:solidFill>
                <a:latin typeface="Cambria Math"/>
              </a:rPr>
              <a:t>p</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 aer(</a:t>
            </a:r>
            <a:r>
              <a:rPr sz="1250" b="0" i="1">
                <a:solidFill>
                  <a:srgbClr val="000000"/>
                </a:solidFill>
                <a:latin typeface="Cambria Math"/>
              </a:rPr>
              <a:t>p</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a:t>
            </a:r>
          </a:p>
          <a:p>
            <a:pPr marL="0" indent="0">
              <a:spcBef>
                <a:spcPts val="100"/>
              </a:spcBef>
              <a:buNone/>
            </a:pPr>
            <a:r>
              <a:rPr sz="1250" b="0" i="0">
                <a:solidFill>
                  <a:srgbClr val="000000"/>
                </a:solidFill>
                <a:latin typeface="Cambria Math"/>
              </a:rPr>
              <a:t>   ∧ act(</a:t>
            </a:r>
            <a:r>
              <a:rPr sz="1250" b="0" i="1">
                <a:solidFill>
                  <a:srgbClr val="000000"/>
                </a:solidFill>
                <a:latin typeface="Cambria Math"/>
              </a:rPr>
              <a:t>p</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 tgt(</a:t>
            </a:r>
            <a:r>
              <a:rPr sz="1250" b="0" i="1">
                <a:solidFill>
                  <a:srgbClr val="000000"/>
                </a:solidFill>
                <a:latin typeface="Cambria Math"/>
              </a:rPr>
              <a:t>p</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activates(</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p</a:t>
            </a:r>
            <a:r>
              <a:rPr sz="1250" b="0" i="0">
                <a:solidFill>
                  <a:srgbClr val="000000"/>
                </a:solidFill>
                <a:latin typeface="Cambria Math"/>
              </a:rPr>
              <a:t>) → ∃</a:t>
            </a:r>
            <a:r>
              <a:rPr sz="1250" b="0" i="1">
                <a:solidFill>
                  <a:srgbClr val="000000"/>
                </a:solidFill>
                <a:latin typeface="Cambria Math"/>
              </a:rPr>
              <a:t>ρ</a:t>
            </a:r>
            <a:r>
              <a:rPr sz="1250" b="0" i="0" baseline="-25000">
                <a:solidFill>
                  <a:srgbClr val="000000"/>
                </a:solidFill>
                <a:latin typeface="Cambria Math"/>
              </a:rPr>
              <a:t>I</a:t>
            </a:r>
            <a:r>
              <a:rPr sz="1250" b="0" i="0">
                <a:solidFill>
                  <a:srgbClr val="000000"/>
                </a:solidFill>
                <a:latin typeface="Cambria Math"/>
              </a:rPr>
              <a:t>, </a:t>
            </a:r>
            <a:r>
              <a:rPr sz="1250" b="0" i="1">
                <a:solidFill>
                  <a:srgbClr val="000000"/>
                </a:solidFill>
                <a:latin typeface="Cambria Math"/>
              </a:rPr>
              <a:t>im</a:t>
            </a:r>
            <a:r>
              <a:rPr sz="1250" b="0" i="0">
                <a:solidFill>
                  <a:srgbClr val="000000"/>
                </a:solidFill>
                <a:latin typeface="Cambria Math"/>
              </a:rPr>
              <a:t>, </a:t>
            </a:r>
            <a:r>
              <a:rPr sz="1250" b="0" i="1">
                <a:solidFill>
                  <a:srgbClr val="000000"/>
                </a:solidFill>
                <a:latin typeface="Cambria Math"/>
              </a:rPr>
              <a:t>db</a:t>
            </a:r>
            <a:r>
              <a:rPr sz="1250" b="0" i="0">
                <a:solidFill>
                  <a:srgbClr val="000000"/>
                </a:solidFill>
                <a:latin typeface="Cambria Math"/>
              </a:rPr>
              <a:t>.</a:t>
            </a:r>
          </a:p>
          <a:p>
            <a:pPr marL="0" indent="0">
              <a:spcBef>
                <a:spcPts val="100"/>
              </a:spcBef>
              <a:buNone/>
            </a:pPr>
            <a:r>
              <a:rPr sz="1250" b="0" i="0">
                <a:solidFill>
                  <a:srgbClr val="000000"/>
                </a:solidFill>
                <a:latin typeface="Cambria Math"/>
              </a:rPr>
              <a:t>   Rel(</a:t>
            </a:r>
            <a:r>
              <a:rPr sz="1250" b="0" i="1">
                <a:solidFill>
                  <a:srgbClr val="000000"/>
                </a:solidFill>
                <a:latin typeface="Cambria Math"/>
              </a:rPr>
              <a:t>ρ</a:t>
            </a:r>
            <a:r>
              <a:rPr sz="1250" b="0" i="0" baseline="-25000">
                <a:solidFill>
                  <a:srgbClr val="000000"/>
                </a:solidFill>
                <a:latin typeface="Cambria Math"/>
              </a:rPr>
              <a:t>I</a:t>
            </a:r>
            <a:r>
              <a:rPr sz="1250" b="0" i="0">
                <a:solidFill>
                  <a:srgbClr val="000000"/>
                </a:solidFill>
                <a:latin typeface="Cambria Math"/>
              </a:rPr>
              <a:t>) ∧ founds</a:t>
            </a:r>
            <a:r>
              <a:rPr sz="1250" b="0" i="0" baseline="-25000">
                <a:solidFill>
                  <a:srgbClr val="000000"/>
                </a:solidFill>
                <a:latin typeface="Cambria Math"/>
              </a:rPr>
              <a:t>imm</a:t>
            </a:r>
            <a:r>
              <a:rPr sz="1250" b="0" i="0">
                <a:solidFill>
                  <a:srgbClr val="000000"/>
                </a:solidFill>
                <a:latin typeface="Cambria Math"/>
              </a:rPr>
              <a:t>(</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I</a:t>
            </a:r>
            <a:r>
              <a:rPr sz="1250" b="0" i="0">
                <a:solidFill>
                  <a:srgbClr val="000000"/>
                </a:solidFill>
                <a:latin typeface="Cambria Math"/>
              </a:rPr>
              <a:t>, </a:t>
            </a:r>
            <a:r>
              <a:rPr sz="1250" b="0" i="1">
                <a:solidFill>
                  <a:srgbClr val="000000"/>
                </a:solidFill>
                <a:latin typeface="Cambria Math"/>
              </a:rPr>
              <a:t>p</a:t>
            </a:r>
            <a:r>
              <a:rPr sz="1250" b="0" i="0">
                <a:solidFill>
                  <a:srgbClr val="000000"/>
                </a:solidFill>
                <a:latin typeface="Cambria Math"/>
              </a:rPr>
              <a:t>) ∧ </a:t>
            </a:r>
            <a:r>
              <a:rPr sz="1250" b="0" i="0">
                <a:solidFill>
                  <a:srgbClr val="00549F"/>
                </a:solidFill>
                <a:latin typeface="Cambria Math"/>
              </a:rPr>
              <a:t>Immunity</a:t>
            </a:r>
            <a:r>
              <a:rPr sz="1250" b="0" i="0">
                <a:solidFill>
                  <a:srgbClr val="000000"/>
                </a:solidFill>
                <a:latin typeface="Cambria Math"/>
              </a:rPr>
              <a:t>(</a:t>
            </a:r>
            <a:r>
              <a:rPr sz="1250" b="0" i="1">
                <a:solidFill>
                  <a:srgbClr val="000000"/>
                </a:solidFill>
                <a:latin typeface="Cambria Math"/>
              </a:rPr>
              <a:t>im</a:t>
            </a:r>
            <a:r>
              <a:rPr sz="1250" b="0" i="0">
                <a:solidFill>
                  <a:srgbClr val="000000"/>
                </a:solidFill>
                <a:latin typeface="Cambria Math"/>
              </a:rPr>
              <a:t>) ∧ bearer(</a:t>
            </a:r>
            <a:r>
              <a:rPr sz="1250" b="0" i="1">
                <a:solidFill>
                  <a:srgbClr val="000000"/>
                </a:solidFill>
                <a:latin typeface="Cambria Math"/>
              </a:rPr>
              <a:t>im</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a:t>
            </a:r>
          </a:p>
          <a:p>
            <a:pPr marL="0" indent="0">
              <a:spcBef>
                <a:spcPts val="100"/>
              </a:spcBef>
              <a:buNone/>
            </a:pPr>
            <a:r>
              <a:rPr sz="1250" b="0" i="0">
                <a:solidFill>
                  <a:srgbClr val="000000"/>
                </a:solidFill>
                <a:latin typeface="Cambria Math"/>
              </a:rPr>
              <a:t>   ∧ cnt(</a:t>
            </a:r>
            <a:r>
              <a:rPr sz="1250" b="0" i="1">
                <a:solidFill>
                  <a:srgbClr val="000000"/>
                </a:solidFill>
                <a:latin typeface="Cambria Math"/>
              </a:rPr>
              <a:t>im</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partOf(</a:t>
            </a:r>
            <a:r>
              <a:rPr sz="1250" b="0" i="1">
                <a:solidFill>
                  <a:srgbClr val="000000"/>
                </a:solidFill>
                <a:latin typeface="Cambria Math"/>
              </a:rPr>
              <a:t>im</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I</a:t>
            </a:r>
            <a:r>
              <a:rPr sz="1250" b="0" i="0">
                <a:solidFill>
                  <a:srgbClr val="000000"/>
                </a:solidFill>
                <a:latin typeface="Cambria Math"/>
              </a:rPr>
              <a:t>) ∧ </a:t>
            </a:r>
            <a:r>
              <a:rPr sz="1250" b="0" i="0">
                <a:solidFill>
                  <a:srgbClr val="00549F"/>
                </a:solidFill>
                <a:latin typeface="Cambria Math"/>
              </a:rPr>
              <a:t>Disability</a:t>
            </a:r>
            <a:r>
              <a:rPr sz="1250" b="0" i="0">
                <a:solidFill>
                  <a:srgbClr val="000000"/>
                </a:solidFill>
                <a:latin typeface="Cambria Math"/>
              </a:rPr>
              <a:t>(</a:t>
            </a:r>
            <a:r>
              <a:rPr sz="1250" b="0" i="1">
                <a:solidFill>
                  <a:srgbClr val="000000"/>
                </a:solidFill>
                <a:latin typeface="Cambria Math"/>
              </a:rPr>
              <a:t>db</a:t>
            </a:r>
            <a:r>
              <a:rPr sz="1250" b="0" i="0">
                <a:solidFill>
                  <a:srgbClr val="000000"/>
                </a:solidFill>
                <a:latin typeface="Cambria Math"/>
              </a:rPr>
              <a:t>)</a:t>
            </a:r>
          </a:p>
          <a:p>
            <a:pPr marL="0" indent="0">
              <a:spcBef>
                <a:spcPts val="100"/>
              </a:spcBef>
              <a:buNone/>
            </a:pPr>
            <a:r>
              <a:rPr sz="1250" b="0" i="0">
                <a:solidFill>
                  <a:srgbClr val="000000"/>
                </a:solidFill>
                <a:latin typeface="Cambria Math"/>
              </a:rPr>
              <a:t>   ∧ bearer(</a:t>
            </a:r>
            <a:r>
              <a:rPr sz="1250" b="0" i="1">
                <a:solidFill>
                  <a:srgbClr val="000000"/>
                </a:solidFill>
                <a:latin typeface="Cambria Math"/>
              </a:rPr>
              <a:t>db</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 cnt(</a:t>
            </a:r>
            <a:r>
              <a:rPr sz="1250" b="0" i="1">
                <a:solidFill>
                  <a:srgbClr val="000000"/>
                </a:solidFill>
                <a:latin typeface="Cambria Math"/>
              </a:rPr>
              <a:t>db</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partOf(</a:t>
            </a:r>
            <a:r>
              <a:rPr sz="1250" b="0" i="1">
                <a:solidFill>
                  <a:srgbClr val="000000"/>
                </a:solidFill>
                <a:latin typeface="Cambria Math"/>
              </a:rPr>
              <a:t>db</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I</a:t>
            </a:r>
            <a:r>
              <a:rPr sz="1250" b="0" i="0">
                <a:solidFill>
                  <a:srgbClr val="000000"/>
                </a:solidFill>
                <a:latin typeface="Cambria Math"/>
              </a:rPr>
              <a:t>)</a:t>
            </a:r>
          </a:p>
          <a:p>
            <a:pPr marL="0" indent="0">
              <a:spcBef>
                <a:spcPts val="1200"/>
              </a:spcBef>
              <a:buNone/>
            </a:pPr>
            <a:r>
              <a:rPr sz="1300" b="1">
                <a:solidFill>
                  <a:srgbClr val="000000"/>
                </a:solidFill>
              </a:rPr>
              <a:t>Ax. 5.3  Prohibition relator (conduct)</a:t>
            </a:r>
          </a:p>
          <a:p>
            <a:pPr marL="0" indent="0">
              <a:spcBef>
                <a:spcPts val="300"/>
              </a:spcBef>
              <a:buNone/>
            </a:pPr>
            <a:r>
              <a:rPr sz="1250" b="0" i="0">
                <a:solidFill>
                  <a:srgbClr val="000000"/>
                </a:solidFill>
                <a:latin typeface="Cambria Math"/>
              </a:rPr>
              <a:t>∀</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a:t>
            </a:r>
            <a:r>
              <a:rPr sz="1250" b="0" i="1">
                <a:solidFill>
                  <a:srgbClr val="000000"/>
                </a:solidFill>
                <a:latin typeface="Cambria Math"/>
              </a:rPr>
              <a:t>e</a:t>
            </a:r>
            <a:r>
              <a:rPr sz="1250" b="0" i="0">
                <a:solidFill>
                  <a:srgbClr val="000000"/>
                </a:solidFill>
                <a:latin typeface="Cambria Math"/>
              </a:rPr>
              <a:t>. Proh(</a:t>
            </a:r>
            <a:r>
              <a:rPr sz="1250" b="0" i="1">
                <a:solidFill>
                  <a:srgbClr val="000000"/>
                </a:solidFill>
                <a:latin typeface="Cambria Math"/>
              </a:rPr>
              <a:t>f</a:t>
            </a:r>
            <a:r>
              <a:rPr sz="1250" b="0" i="0">
                <a:solidFill>
                  <a:srgbClr val="000000"/>
                </a:solidFill>
                <a:latin typeface="Cambria Math"/>
              </a:rPr>
              <a:t>) ∧ aee(</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 aer(</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 act(</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a:t>
            </a:r>
          </a:p>
          <a:p>
            <a:pPr marL="0" indent="0">
              <a:spcBef>
                <a:spcPts val="100"/>
              </a:spcBef>
              <a:buNone/>
            </a:pPr>
            <a:r>
              <a:rPr sz="1250" b="0" i="0">
                <a:solidFill>
                  <a:srgbClr val="000000"/>
                </a:solidFill>
                <a:latin typeface="Cambria Math"/>
              </a:rPr>
              <a:t>   ∧ tgt(</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activates(</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f</a:t>
            </a:r>
            <a:r>
              <a:rPr sz="1250" b="0" i="0">
                <a:solidFill>
                  <a:srgbClr val="000000"/>
                </a:solidFill>
                <a:latin typeface="Cambria Math"/>
              </a:rPr>
              <a:t>) → ∃</a:t>
            </a:r>
            <a:r>
              <a:rPr sz="1250" b="0" i="1">
                <a:solidFill>
                  <a:srgbClr val="000000"/>
                </a:solidFill>
                <a:latin typeface="Cambria Math"/>
              </a:rPr>
              <a:t>ρ</a:t>
            </a:r>
            <a:r>
              <a:rPr sz="1250" b="0" i="0" baseline="-25000">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c</a:t>
            </a:r>
            <a:r>
              <a:rPr sz="1250" b="0" i="0">
                <a:solidFill>
                  <a:srgbClr val="000000"/>
                </a:solidFill>
                <a:latin typeface="Cambria Math"/>
              </a:rPr>
              <a:t>. Rel(</a:t>
            </a:r>
            <a:r>
              <a:rPr sz="1250" b="0" i="1">
                <a:solidFill>
                  <a:srgbClr val="000000"/>
                </a:solidFill>
                <a:latin typeface="Cambria Math"/>
              </a:rPr>
              <a:t>ρ</a:t>
            </a:r>
            <a:r>
              <a:rPr sz="1250" b="0" i="0" baseline="-25000">
                <a:solidFill>
                  <a:srgbClr val="000000"/>
                </a:solidFill>
                <a:latin typeface="Cambria Math"/>
              </a:rPr>
              <a:t>F</a:t>
            </a:r>
            <a:r>
              <a:rPr sz="1250" b="0" i="0">
                <a:solidFill>
                  <a:srgbClr val="000000"/>
                </a:solidFill>
                <a:latin typeface="Cambria Math"/>
              </a:rPr>
              <a:t>)</a:t>
            </a:r>
          </a:p>
          <a:p>
            <a:pPr marL="0" indent="0">
              <a:spcBef>
                <a:spcPts val="100"/>
              </a:spcBef>
              <a:buNone/>
            </a:pPr>
            <a:r>
              <a:rPr sz="1250" b="0" i="0">
                <a:solidFill>
                  <a:srgbClr val="000000"/>
                </a:solidFill>
                <a:latin typeface="Cambria Math"/>
              </a:rPr>
              <a:t>   ∧ founds(</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f</a:t>
            </a:r>
            <a:r>
              <a:rPr sz="1250" b="0" i="0">
                <a:solidFill>
                  <a:srgbClr val="000000"/>
                </a:solidFill>
                <a:latin typeface="Cambria Math"/>
              </a:rPr>
              <a:t>) ∧ </a:t>
            </a:r>
            <a:r>
              <a:rPr sz="1250" b="0" i="0">
                <a:solidFill>
                  <a:srgbClr val="137A62"/>
                </a:solidFill>
                <a:latin typeface="Cambria Math"/>
              </a:rPr>
              <a:t>Duty</a:t>
            </a:r>
            <a:r>
              <a:rPr sz="1250" b="0" i="0">
                <a:solidFill>
                  <a:srgbClr val="000000"/>
                </a:solidFill>
                <a:latin typeface="Cambria Math"/>
              </a:rPr>
              <a:t>(</a:t>
            </a:r>
            <a:r>
              <a:rPr sz="1250" b="0" i="1">
                <a:solidFill>
                  <a:srgbClr val="000000"/>
                </a:solidFill>
                <a:latin typeface="Cambria Math"/>
              </a:rPr>
              <a:t>d</a:t>
            </a:r>
            <a:r>
              <a:rPr sz="1250" b="0" i="0">
                <a:solidFill>
                  <a:srgbClr val="000000"/>
                </a:solidFill>
                <a:latin typeface="Cambria Math"/>
              </a:rPr>
              <a:t>) ∧ bearer(</a:t>
            </a:r>
            <a:r>
              <a:rPr sz="1250" b="0" i="1">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 cnt(</a:t>
            </a:r>
            <a:r>
              <a:rPr sz="1250" b="0" i="1">
                <a:solidFill>
                  <a:srgbClr val="000000"/>
                </a:solidFill>
                <a:latin typeface="Cambria Math"/>
              </a:rPr>
              <a:t>d</a:t>
            </a:r>
            <a:r>
              <a:rPr sz="1250" b="0" i="0">
                <a:solidFill>
                  <a:srgbClr val="000000"/>
                </a:solidFill>
                <a:latin typeface="Cambria Math"/>
              </a:rPr>
              <a:t>, rfr(</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a:t>
            </a:r>
          </a:p>
          <a:p>
            <a:pPr marL="0" indent="0">
              <a:spcBef>
                <a:spcPts val="100"/>
              </a:spcBef>
              <a:buNone/>
            </a:pPr>
            <a:r>
              <a:rPr sz="1250" b="0" i="0">
                <a:solidFill>
                  <a:srgbClr val="000000"/>
                </a:solidFill>
                <a:latin typeface="Cambria Math"/>
              </a:rPr>
              <a:t>   ∧ partOf(</a:t>
            </a:r>
            <a:r>
              <a:rPr sz="1250" b="0" i="1">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F</a:t>
            </a:r>
            <a:r>
              <a:rPr sz="1250" b="0" i="0">
                <a:solidFill>
                  <a:srgbClr val="000000"/>
                </a:solidFill>
                <a:latin typeface="Cambria Math"/>
              </a:rPr>
              <a:t>) ∧ </a:t>
            </a:r>
            <a:r>
              <a:rPr sz="1250" b="0" i="0">
                <a:solidFill>
                  <a:srgbClr val="137A62"/>
                </a:solidFill>
                <a:latin typeface="Cambria Math"/>
              </a:rPr>
              <a:t>Right</a:t>
            </a:r>
            <a:r>
              <a:rPr sz="1250" b="0" i="0">
                <a:solidFill>
                  <a:srgbClr val="000000"/>
                </a:solidFill>
                <a:latin typeface="Cambria Math"/>
              </a:rPr>
              <a:t>(</a:t>
            </a:r>
            <a:r>
              <a:rPr sz="1250" b="0" i="1">
                <a:solidFill>
                  <a:srgbClr val="000000"/>
                </a:solidFill>
                <a:latin typeface="Cambria Math"/>
              </a:rPr>
              <a:t>c</a:t>
            </a:r>
            <a:r>
              <a:rPr sz="1250" b="0" i="0">
                <a:solidFill>
                  <a:srgbClr val="000000"/>
                </a:solidFill>
                <a:latin typeface="Cambria Math"/>
              </a:rPr>
              <a:t>) ∧ bearer(</a:t>
            </a:r>
            <a:r>
              <a:rPr sz="1250" b="0" i="1">
                <a:solidFill>
                  <a:srgbClr val="000000"/>
                </a:solidFill>
                <a:latin typeface="Cambria Math"/>
              </a:rPr>
              <a:t>c</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 cnt(</a:t>
            </a:r>
            <a:r>
              <a:rPr sz="1250" b="0" i="1">
                <a:solidFill>
                  <a:srgbClr val="000000"/>
                </a:solidFill>
                <a:latin typeface="Cambria Math"/>
              </a:rPr>
              <a:t>c</a:t>
            </a:r>
            <a:r>
              <a:rPr sz="1250" b="0" i="0">
                <a:solidFill>
                  <a:srgbClr val="000000"/>
                </a:solidFill>
                <a:latin typeface="Cambria Math"/>
              </a:rPr>
              <a:t>, rfr(</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a:t>
            </a:r>
          </a:p>
          <a:p>
            <a:pPr marL="0" indent="0">
              <a:spcBef>
                <a:spcPts val="100"/>
              </a:spcBef>
              <a:buNone/>
            </a:pPr>
            <a:r>
              <a:rPr sz="1250" b="0" i="0">
                <a:solidFill>
                  <a:srgbClr val="000000"/>
                </a:solidFill>
                <a:latin typeface="Cambria Math"/>
              </a:rPr>
              <a:t>   ∧ partOf(</a:t>
            </a:r>
            <a:r>
              <a:rPr sz="1250" b="0" i="1">
                <a:solidFill>
                  <a:srgbClr val="000000"/>
                </a:solidFill>
                <a:latin typeface="Cambria Math"/>
              </a:rPr>
              <a:t>c</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F</a:t>
            </a:r>
            <a:r>
              <a:rPr sz="1250" b="0" i="0">
                <a:solidFill>
                  <a:srgbClr val="000000"/>
                </a:solidFill>
                <a:latin typeface="Cambria Math"/>
              </a:rPr>
              <a:t>)</a:t>
            </a:r>
          </a:p>
        </p:txBody>
      </p:sp>
      <p:sp>
        <p:nvSpPr>
          <p:cNvPr id="4" name="TextBox 3">
            <a:extLst>
              <a:ext uri="{FF2B5EF4-FFF2-40B4-BE49-F238E27FC236}">
                <a16:creationId xmlns:a16="http://schemas.microsoft.com/office/drawing/2014/main" id="{D2CE2A1C-D641-3A1D-202B-3A435A132D50}"/>
              </a:ext>
            </a:extLst>
          </p:cNvPr>
          <p:cNvSpPr txBox="1"/>
          <p:nvPr/>
        </p:nvSpPr>
        <p:spPr>
          <a:xfrm>
            <a:off x="6278727" y="1325880"/>
            <a:ext cx="5364327" cy="4892040"/>
          </a:xfrm>
          <a:prstGeom prst="rect">
            <a:avLst/>
          </a:prstGeom>
          <a:noFill/>
        </p:spPr>
        <p:txBody>
          <a:bodyPr wrap="square" lIns="0" tIns="0" rIns="0" bIns="0" anchor="t">
            <a:noAutofit/>
          </a:bodyPr>
          <a:lstStyle/>
          <a:p>
            <a:pPr marL="0" indent="0">
              <a:spcBef>
                <a:spcPts val="0"/>
              </a:spcBef>
              <a:buNone/>
            </a:pPr>
            <a:r>
              <a:rPr sz="1300" b="1">
                <a:solidFill>
                  <a:srgbClr val="000000"/>
                </a:solidFill>
              </a:rPr>
              <a:t>Ax. 5.4  Prohibition relator (remedy)</a:t>
            </a:r>
          </a:p>
          <a:p>
            <a:pPr marL="0" indent="0">
              <a:spcBef>
                <a:spcPts val="300"/>
              </a:spcBef>
              <a:buNone/>
            </a:pPr>
            <a:r>
              <a:rPr sz="1250" b="0" i="0">
                <a:solidFill>
                  <a:srgbClr val="000000"/>
                </a:solidFill>
                <a:latin typeface="Cambria Math"/>
              </a:rPr>
              <a:t>∀</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a:t>
            </a:r>
            <a:r>
              <a:rPr sz="1250" b="0" i="1">
                <a:solidFill>
                  <a:srgbClr val="000000"/>
                </a:solidFill>
                <a:latin typeface="Cambria Math"/>
              </a:rPr>
              <a:t>e</a:t>
            </a:r>
            <a:r>
              <a:rPr sz="1250" b="0" i="0">
                <a:solidFill>
                  <a:srgbClr val="000000"/>
                </a:solidFill>
                <a:latin typeface="Cambria Math"/>
              </a:rPr>
              <a:t>. Proh(</a:t>
            </a:r>
            <a:r>
              <a:rPr sz="1250" b="0" i="1">
                <a:solidFill>
                  <a:srgbClr val="000000"/>
                </a:solidFill>
                <a:latin typeface="Cambria Math"/>
              </a:rPr>
              <a:t>f</a:t>
            </a:r>
            <a:r>
              <a:rPr sz="1250" b="0" i="0">
                <a:solidFill>
                  <a:srgbClr val="000000"/>
                </a:solidFill>
                <a:latin typeface="Cambria Math"/>
              </a:rPr>
              <a:t>) ∧ has</a:t>
            </a:r>
            <a:r>
              <a:rPr sz="1250" b="0" i="0" baseline="-25000">
                <a:solidFill>
                  <a:srgbClr val="000000"/>
                </a:solidFill>
                <a:latin typeface="Cambria Math"/>
              </a:rPr>
              <a:t>rem</a:t>
            </a:r>
            <a:r>
              <a:rPr sz="1250" b="0" i="0">
                <a:solidFill>
                  <a:srgbClr val="000000"/>
                </a:solidFill>
                <a:latin typeface="Cambria Math"/>
              </a:rPr>
              <a:t>(</a:t>
            </a:r>
            <a:r>
              <a:rPr sz="1250" b="0" i="1">
                <a:solidFill>
                  <a:srgbClr val="000000"/>
                </a:solidFill>
                <a:latin typeface="Cambria Math"/>
              </a:rPr>
              <a:t>f</a:t>
            </a:r>
            <a:r>
              <a:rPr sz="1250" b="0" i="0">
                <a:solidFill>
                  <a:srgbClr val="000000"/>
                </a:solidFill>
                <a:latin typeface="Cambria Math"/>
              </a:rPr>
              <a:t>) ∧ aee(</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 aer(</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a:t>
            </a:r>
          </a:p>
          <a:p>
            <a:pPr marL="0" indent="0">
              <a:spcBef>
                <a:spcPts val="100"/>
              </a:spcBef>
              <a:buNone/>
            </a:pPr>
            <a:r>
              <a:rPr sz="1250" b="0" i="0">
                <a:solidFill>
                  <a:srgbClr val="000000"/>
                </a:solidFill>
                <a:latin typeface="Cambria Math"/>
              </a:rPr>
              <a:t>   ∧ act(</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 tgt(</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activates(</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f</a:t>
            </a:r>
            <a:r>
              <a:rPr sz="1250" b="0" i="0">
                <a:solidFill>
                  <a:srgbClr val="000000"/>
                </a:solidFill>
                <a:latin typeface="Cambria Math"/>
              </a:rPr>
              <a:t>) → ∃</a:t>
            </a:r>
            <a:r>
              <a:rPr sz="1250" b="0" i="1">
                <a:solidFill>
                  <a:srgbClr val="000000"/>
                </a:solidFill>
                <a:latin typeface="Cambria Math"/>
              </a:rPr>
              <a:t>ρ</a:t>
            </a:r>
            <a:r>
              <a:rPr sz="1250" b="0" i="0" baseline="-25000">
                <a:solidFill>
                  <a:srgbClr val="000000"/>
                </a:solidFill>
                <a:latin typeface="Cambria Math"/>
              </a:rPr>
              <a:t>R</a:t>
            </a:r>
            <a:r>
              <a:rPr sz="1250" b="0" i="0">
                <a:solidFill>
                  <a:srgbClr val="000000"/>
                </a:solidFill>
                <a:latin typeface="Cambria Math"/>
              </a:rPr>
              <a:t>, </a:t>
            </a:r>
            <a:r>
              <a:rPr sz="1250" b="0" i="1">
                <a:solidFill>
                  <a:srgbClr val="000000"/>
                </a:solidFill>
                <a:latin typeface="Cambria Math"/>
              </a:rPr>
              <a:t>pw</a:t>
            </a:r>
            <a:r>
              <a:rPr sz="1250" b="0" i="0">
                <a:solidFill>
                  <a:srgbClr val="000000"/>
                </a:solidFill>
                <a:latin typeface="Cambria Math"/>
              </a:rPr>
              <a:t>, </a:t>
            </a:r>
            <a:r>
              <a:rPr sz="1250" b="0" i="1">
                <a:solidFill>
                  <a:srgbClr val="000000"/>
                </a:solidFill>
                <a:latin typeface="Cambria Math"/>
              </a:rPr>
              <a:t>s</a:t>
            </a:r>
            <a:r>
              <a:rPr sz="1250" b="0" i="0">
                <a:solidFill>
                  <a:srgbClr val="000000"/>
                </a:solidFill>
                <a:latin typeface="Cambria Math"/>
              </a:rPr>
              <a:t>.</a:t>
            </a:r>
          </a:p>
          <a:p>
            <a:pPr marL="0" indent="0">
              <a:spcBef>
                <a:spcPts val="100"/>
              </a:spcBef>
              <a:buNone/>
            </a:pPr>
            <a:r>
              <a:rPr sz="1250" b="0" i="0">
                <a:solidFill>
                  <a:srgbClr val="000000"/>
                </a:solidFill>
                <a:latin typeface="Cambria Math"/>
              </a:rPr>
              <a:t>   Rel(</a:t>
            </a:r>
            <a:r>
              <a:rPr sz="1250" b="0" i="1">
                <a:solidFill>
                  <a:srgbClr val="000000"/>
                </a:solidFill>
                <a:latin typeface="Cambria Math"/>
              </a:rPr>
              <a:t>ρ</a:t>
            </a:r>
            <a:r>
              <a:rPr sz="1250" b="0" i="0" baseline="-25000">
                <a:solidFill>
                  <a:srgbClr val="000000"/>
                </a:solidFill>
                <a:latin typeface="Cambria Math"/>
              </a:rPr>
              <a:t>R</a:t>
            </a:r>
            <a:r>
              <a:rPr sz="1250" b="0" i="0">
                <a:solidFill>
                  <a:srgbClr val="000000"/>
                </a:solidFill>
                <a:latin typeface="Cambria Math"/>
              </a:rPr>
              <a:t>) ∧ founds</a:t>
            </a:r>
            <a:r>
              <a:rPr sz="1250" b="0" i="0" baseline="-25000">
                <a:solidFill>
                  <a:srgbClr val="000000"/>
                </a:solidFill>
                <a:latin typeface="Cambria Math"/>
              </a:rPr>
              <a:t>rem</a:t>
            </a:r>
            <a:r>
              <a:rPr sz="1250" b="0" i="0">
                <a:solidFill>
                  <a:srgbClr val="000000"/>
                </a:solidFill>
                <a:latin typeface="Cambria Math"/>
              </a:rPr>
              <a:t>(</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R</a:t>
            </a:r>
            <a:r>
              <a:rPr sz="1250" b="0" i="0">
                <a:solidFill>
                  <a:srgbClr val="000000"/>
                </a:solidFill>
                <a:latin typeface="Cambria Math"/>
              </a:rPr>
              <a:t>, </a:t>
            </a:r>
            <a:r>
              <a:rPr sz="1250" b="0" i="1">
                <a:solidFill>
                  <a:srgbClr val="000000"/>
                </a:solidFill>
                <a:latin typeface="Cambria Math"/>
              </a:rPr>
              <a:t>f</a:t>
            </a:r>
            <a:r>
              <a:rPr sz="1250" b="0" i="0">
                <a:solidFill>
                  <a:srgbClr val="000000"/>
                </a:solidFill>
                <a:latin typeface="Cambria Math"/>
              </a:rPr>
              <a:t>) ∧ </a:t>
            </a:r>
            <a:r>
              <a:rPr sz="1250" b="0" i="0">
                <a:solidFill>
                  <a:srgbClr val="00549F"/>
                </a:solidFill>
                <a:latin typeface="Cambria Math"/>
              </a:rPr>
              <a:t>Power</a:t>
            </a:r>
            <a:r>
              <a:rPr sz="1250" b="0" i="0">
                <a:solidFill>
                  <a:srgbClr val="000000"/>
                </a:solidFill>
                <a:latin typeface="Cambria Math"/>
              </a:rPr>
              <a:t>(</a:t>
            </a:r>
            <a:r>
              <a:rPr sz="1250" b="0" i="1">
                <a:solidFill>
                  <a:srgbClr val="000000"/>
                </a:solidFill>
                <a:latin typeface="Cambria Math"/>
              </a:rPr>
              <a:t>pw</a:t>
            </a:r>
            <a:r>
              <a:rPr sz="1250" b="0" i="0">
                <a:solidFill>
                  <a:srgbClr val="000000"/>
                </a:solidFill>
                <a:latin typeface="Cambria Math"/>
              </a:rPr>
              <a:t>) ∧ bearer(</a:t>
            </a:r>
            <a:r>
              <a:rPr sz="1250" b="0" i="1">
                <a:solidFill>
                  <a:srgbClr val="000000"/>
                </a:solidFill>
                <a:latin typeface="Cambria Math"/>
              </a:rPr>
              <a:t>pw</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a:t>
            </a:r>
          </a:p>
          <a:p>
            <a:pPr marL="0" indent="0">
              <a:spcBef>
                <a:spcPts val="100"/>
              </a:spcBef>
              <a:buNone/>
            </a:pPr>
            <a:r>
              <a:rPr sz="1250" b="0" i="0">
                <a:solidFill>
                  <a:srgbClr val="000000"/>
                </a:solidFill>
                <a:latin typeface="Cambria Math"/>
              </a:rPr>
              <a:t>   ∧ cnt(</a:t>
            </a:r>
            <a:r>
              <a:rPr sz="1250" b="0" i="1">
                <a:solidFill>
                  <a:srgbClr val="000000"/>
                </a:solidFill>
                <a:latin typeface="Cambria Math"/>
              </a:rPr>
              <a:t>pw</a:t>
            </a:r>
            <a:r>
              <a:rPr sz="1250" b="0" i="0">
                <a:solidFill>
                  <a:srgbClr val="000000"/>
                </a:solidFill>
                <a:latin typeface="Cambria Math"/>
              </a:rPr>
              <a:t>, decl(</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partOf(</a:t>
            </a:r>
            <a:r>
              <a:rPr sz="1250" b="0" i="1">
                <a:solidFill>
                  <a:srgbClr val="000000"/>
                </a:solidFill>
                <a:latin typeface="Cambria Math"/>
              </a:rPr>
              <a:t>pw</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R</a:t>
            </a:r>
            <a:r>
              <a:rPr sz="1250" b="0" i="0">
                <a:solidFill>
                  <a:srgbClr val="000000"/>
                </a:solidFill>
                <a:latin typeface="Cambria Math"/>
              </a:rPr>
              <a:t>) ∧ </a:t>
            </a:r>
            <a:r>
              <a:rPr sz="1250" b="0" i="0">
                <a:solidFill>
                  <a:srgbClr val="00549F"/>
                </a:solidFill>
                <a:latin typeface="Cambria Math"/>
              </a:rPr>
              <a:t>Subj</a:t>
            </a:r>
            <a:r>
              <a:rPr sz="1250" b="0" i="0">
                <a:solidFill>
                  <a:srgbClr val="000000"/>
                </a:solidFill>
                <a:latin typeface="Cambria Math"/>
              </a:rPr>
              <a:t>(</a:t>
            </a:r>
            <a:r>
              <a:rPr sz="1250" b="0" i="1">
                <a:solidFill>
                  <a:srgbClr val="000000"/>
                </a:solidFill>
                <a:latin typeface="Cambria Math"/>
              </a:rPr>
              <a:t>s</a:t>
            </a:r>
            <a:r>
              <a:rPr sz="1250" b="0" i="0">
                <a:solidFill>
                  <a:srgbClr val="000000"/>
                </a:solidFill>
                <a:latin typeface="Cambria Math"/>
              </a:rPr>
              <a:t>)</a:t>
            </a:r>
          </a:p>
          <a:p>
            <a:pPr marL="0" indent="0">
              <a:spcBef>
                <a:spcPts val="100"/>
              </a:spcBef>
              <a:buNone/>
            </a:pPr>
            <a:r>
              <a:rPr sz="1250" b="0" i="0">
                <a:solidFill>
                  <a:srgbClr val="000000"/>
                </a:solidFill>
                <a:latin typeface="Cambria Math"/>
              </a:rPr>
              <a:t>   ∧ bearer(</a:t>
            </a:r>
            <a:r>
              <a:rPr sz="1250" b="0" i="1">
                <a:solidFill>
                  <a:srgbClr val="000000"/>
                </a:solidFill>
                <a:latin typeface="Cambria Math"/>
              </a:rPr>
              <a:t>s</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 cnt(</a:t>
            </a:r>
            <a:r>
              <a:rPr sz="1250" b="0" i="1">
                <a:solidFill>
                  <a:srgbClr val="000000"/>
                </a:solidFill>
                <a:latin typeface="Cambria Math"/>
              </a:rPr>
              <a:t>s</a:t>
            </a:r>
            <a:r>
              <a:rPr sz="1250" b="0" i="0">
                <a:solidFill>
                  <a:srgbClr val="000000"/>
                </a:solidFill>
                <a:latin typeface="Cambria Math"/>
              </a:rPr>
              <a:t>, decl(</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partOf(</a:t>
            </a:r>
            <a:r>
              <a:rPr sz="1250" b="0" i="1">
                <a:solidFill>
                  <a:srgbClr val="000000"/>
                </a:solidFill>
                <a:latin typeface="Cambria Math"/>
              </a:rPr>
              <a:t>s</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R</a:t>
            </a:r>
            <a:r>
              <a:rPr sz="1250" b="0" i="0">
                <a:solidFill>
                  <a:srgbClr val="000000"/>
                </a:solidFill>
                <a:latin typeface="Cambria Math"/>
              </a:rPr>
              <a:t>)</a:t>
            </a:r>
          </a:p>
          <a:p>
            <a:pPr marL="0" indent="0">
              <a:spcBef>
                <a:spcPts val="1200"/>
              </a:spcBef>
              <a:buNone/>
            </a:pPr>
            <a:r>
              <a:rPr sz="1300" b="1">
                <a:solidFill>
                  <a:srgbClr val="000000"/>
                </a:solidFill>
              </a:rPr>
              <a:t>Ax. 5.5  Obligation relator</a:t>
            </a:r>
          </a:p>
          <a:p>
            <a:pPr marL="0" indent="0">
              <a:spcBef>
                <a:spcPts val="300"/>
              </a:spcBef>
              <a:buNone/>
            </a:pPr>
            <a:r>
              <a:rPr sz="1250" b="0" i="0">
                <a:solidFill>
                  <a:srgbClr val="000000"/>
                </a:solidFill>
                <a:latin typeface="Cambria Math"/>
              </a:rPr>
              <a:t>∀</a:t>
            </a:r>
            <a:r>
              <a:rPr sz="1250" b="0" i="1">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a:t>
            </a:r>
            <a:r>
              <a:rPr sz="1250" b="0" i="1">
                <a:solidFill>
                  <a:srgbClr val="000000"/>
                </a:solidFill>
                <a:latin typeface="Cambria Math"/>
              </a:rPr>
              <a:t>e</a:t>
            </a:r>
            <a:r>
              <a:rPr sz="1250" b="0" i="0">
                <a:solidFill>
                  <a:srgbClr val="000000"/>
                </a:solidFill>
                <a:latin typeface="Cambria Math"/>
              </a:rPr>
              <a:t>. obl(</a:t>
            </a:r>
            <a:r>
              <a:rPr sz="1250" b="0" i="1">
                <a:solidFill>
                  <a:srgbClr val="000000"/>
                </a:solidFill>
                <a:latin typeface="Cambria Math"/>
              </a:rPr>
              <a:t>d</a:t>
            </a:r>
            <a:r>
              <a:rPr sz="1250" b="0" i="0">
                <a:solidFill>
                  <a:srgbClr val="000000"/>
                </a:solidFill>
                <a:latin typeface="Cambria Math"/>
              </a:rPr>
              <a:t>) ∧ aee(</a:t>
            </a:r>
            <a:r>
              <a:rPr sz="1250" b="0" i="1">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 aer(</a:t>
            </a:r>
            <a:r>
              <a:rPr sz="1250" b="0" i="1">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 act(</a:t>
            </a:r>
            <a:r>
              <a:rPr sz="1250" b="0" i="1">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a:t>
            </a:r>
          </a:p>
          <a:p>
            <a:pPr marL="0" indent="0">
              <a:spcBef>
                <a:spcPts val="100"/>
              </a:spcBef>
              <a:buNone/>
            </a:pPr>
            <a:r>
              <a:rPr sz="1250" b="0" i="0">
                <a:solidFill>
                  <a:srgbClr val="000000"/>
                </a:solidFill>
                <a:latin typeface="Cambria Math"/>
              </a:rPr>
              <a:t>   ∧ tgt(</a:t>
            </a:r>
            <a:r>
              <a:rPr sz="1250" b="0" i="1">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activates(</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d</a:t>
            </a:r>
            <a:r>
              <a:rPr sz="1250" b="0" i="0">
                <a:solidFill>
                  <a:srgbClr val="000000"/>
                </a:solidFill>
                <a:latin typeface="Cambria Math"/>
              </a:rPr>
              <a:t>) → ∃</a:t>
            </a:r>
            <a:r>
              <a:rPr sz="1250" b="0" i="1">
                <a:solidFill>
                  <a:srgbClr val="000000"/>
                </a:solidFill>
                <a:latin typeface="Cambria Math"/>
              </a:rPr>
              <a:t>ρ</a:t>
            </a:r>
            <a:r>
              <a:rPr sz="1250" b="0" i="0" baseline="-25000">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du</a:t>
            </a:r>
            <a:r>
              <a:rPr sz="1250" b="0" i="0">
                <a:solidFill>
                  <a:srgbClr val="000000"/>
                </a:solidFill>
                <a:latin typeface="Cambria Math"/>
              </a:rPr>
              <a:t>, </a:t>
            </a:r>
            <a:r>
              <a:rPr sz="1250" b="0" i="1">
                <a:solidFill>
                  <a:srgbClr val="000000"/>
                </a:solidFill>
                <a:latin typeface="Cambria Math"/>
              </a:rPr>
              <a:t>c</a:t>
            </a:r>
            <a:r>
              <a:rPr sz="1250" b="0" i="0">
                <a:solidFill>
                  <a:srgbClr val="000000"/>
                </a:solidFill>
                <a:latin typeface="Cambria Math"/>
              </a:rPr>
              <a:t>. Rel(</a:t>
            </a:r>
            <a:r>
              <a:rPr sz="1250" b="0" i="1">
                <a:solidFill>
                  <a:srgbClr val="000000"/>
                </a:solidFill>
                <a:latin typeface="Cambria Math"/>
              </a:rPr>
              <a:t>ρ</a:t>
            </a:r>
            <a:r>
              <a:rPr sz="1250" b="0" i="0" baseline="-25000">
                <a:solidFill>
                  <a:srgbClr val="000000"/>
                </a:solidFill>
                <a:latin typeface="Cambria Math"/>
              </a:rPr>
              <a:t>D</a:t>
            </a:r>
            <a:r>
              <a:rPr sz="1250" b="0" i="0">
                <a:solidFill>
                  <a:srgbClr val="000000"/>
                </a:solidFill>
                <a:latin typeface="Cambria Math"/>
              </a:rPr>
              <a:t>)</a:t>
            </a:r>
          </a:p>
          <a:p>
            <a:pPr marL="0" indent="0">
              <a:spcBef>
                <a:spcPts val="100"/>
              </a:spcBef>
              <a:buNone/>
            </a:pPr>
            <a:r>
              <a:rPr sz="1250" b="0" i="0">
                <a:solidFill>
                  <a:srgbClr val="000000"/>
                </a:solidFill>
                <a:latin typeface="Cambria Math"/>
              </a:rPr>
              <a:t>   ∧ founds(</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d</a:t>
            </a:r>
            <a:r>
              <a:rPr sz="1250" b="0" i="0">
                <a:solidFill>
                  <a:srgbClr val="000000"/>
                </a:solidFill>
                <a:latin typeface="Cambria Math"/>
              </a:rPr>
              <a:t>) ∧ </a:t>
            </a:r>
            <a:r>
              <a:rPr sz="1250" b="0" i="0">
                <a:solidFill>
                  <a:srgbClr val="137A62"/>
                </a:solidFill>
                <a:latin typeface="Cambria Math"/>
              </a:rPr>
              <a:t>Duty</a:t>
            </a:r>
            <a:r>
              <a:rPr sz="1250" b="0" i="0">
                <a:solidFill>
                  <a:srgbClr val="000000"/>
                </a:solidFill>
                <a:latin typeface="Cambria Math"/>
              </a:rPr>
              <a:t>(</a:t>
            </a:r>
            <a:r>
              <a:rPr sz="1250" b="0" i="1">
                <a:solidFill>
                  <a:srgbClr val="000000"/>
                </a:solidFill>
                <a:latin typeface="Cambria Math"/>
              </a:rPr>
              <a:t>du</a:t>
            </a:r>
            <a:r>
              <a:rPr sz="1250" b="0" i="0">
                <a:solidFill>
                  <a:srgbClr val="000000"/>
                </a:solidFill>
                <a:latin typeface="Cambria Math"/>
              </a:rPr>
              <a:t>) ∧ bearer(</a:t>
            </a:r>
            <a:r>
              <a:rPr sz="1250" b="0" i="1">
                <a:solidFill>
                  <a:srgbClr val="000000"/>
                </a:solidFill>
                <a:latin typeface="Cambria Math"/>
              </a:rPr>
              <a:t>du</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 cnt(</a:t>
            </a:r>
            <a:r>
              <a:rPr sz="1250" b="0" i="1">
                <a:solidFill>
                  <a:srgbClr val="000000"/>
                </a:solidFill>
                <a:latin typeface="Cambria Math"/>
              </a:rPr>
              <a:t>du</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a:t>
            </a:r>
          </a:p>
          <a:p>
            <a:pPr marL="0" indent="0">
              <a:spcBef>
                <a:spcPts val="100"/>
              </a:spcBef>
              <a:buNone/>
            </a:pPr>
            <a:r>
              <a:rPr sz="1250" b="0" i="0">
                <a:solidFill>
                  <a:srgbClr val="000000"/>
                </a:solidFill>
                <a:latin typeface="Cambria Math"/>
              </a:rPr>
              <a:t>   ∧ partOf(</a:t>
            </a:r>
            <a:r>
              <a:rPr sz="1250" b="0" i="1">
                <a:solidFill>
                  <a:srgbClr val="000000"/>
                </a:solidFill>
                <a:latin typeface="Cambria Math"/>
              </a:rPr>
              <a:t>du</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D</a:t>
            </a:r>
            <a:r>
              <a:rPr sz="1250" b="0" i="0">
                <a:solidFill>
                  <a:srgbClr val="000000"/>
                </a:solidFill>
                <a:latin typeface="Cambria Math"/>
              </a:rPr>
              <a:t>) ∧ </a:t>
            </a:r>
            <a:r>
              <a:rPr sz="1250" b="0" i="0">
                <a:solidFill>
                  <a:srgbClr val="137A62"/>
                </a:solidFill>
                <a:latin typeface="Cambria Math"/>
              </a:rPr>
              <a:t>Right</a:t>
            </a:r>
            <a:r>
              <a:rPr sz="1250" b="0" i="0">
                <a:solidFill>
                  <a:srgbClr val="000000"/>
                </a:solidFill>
                <a:latin typeface="Cambria Math"/>
              </a:rPr>
              <a:t>(</a:t>
            </a:r>
            <a:r>
              <a:rPr sz="1250" b="0" i="1">
                <a:solidFill>
                  <a:srgbClr val="000000"/>
                </a:solidFill>
                <a:latin typeface="Cambria Math"/>
              </a:rPr>
              <a:t>c</a:t>
            </a:r>
            <a:r>
              <a:rPr sz="1250" b="0" i="0">
                <a:solidFill>
                  <a:srgbClr val="000000"/>
                </a:solidFill>
                <a:latin typeface="Cambria Math"/>
              </a:rPr>
              <a:t>) ∧ bearer(</a:t>
            </a:r>
            <a:r>
              <a:rPr sz="1250" b="0" i="1">
                <a:solidFill>
                  <a:srgbClr val="000000"/>
                </a:solidFill>
                <a:latin typeface="Cambria Math"/>
              </a:rPr>
              <a:t>c</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 cnt(</a:t>
            </a:r>
            <a:r>
              <a:rPr sz="1250" b="0" i="1">
                <a:solidFill>
                  <a:srgbClr val="000000"/>
                </a:solidFill>
                <a:latin typeface="Cambria Math"/>
              </a:rPr>
              <a:t>c</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a:t>
            </a:r>
          </a:p>
          <a:p>
            <a:pPr marL="0" indent="0">
              <a:spcBef>
                <a:spcPts val="100"/>
              </a:spcBef>
              <a:buNone/>
            </a:pPr>
            <a:r>
              <a:rPr sz="1250" b="0" i="0">
                <a:solidFill>
                  <a:srgbClr val="000000"/>
                </a:solidFill>
                <a:latin typeface="Cambria Math"/>
              </a:rPr>
              <a:t>   ∧ partOf(</a:t>
            </a:r>
            <a:r>
              <a:rPr sz="1250" b="0" i="1">
                <a:solidFill>
                  <a:srgbClr val="000000"/>
                </a:solidFill>
                <a:latin typeface="Cambria Math"/>
              </a:rPr>
              <a:t>c</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D</a:t>
            </a:r>
            <a:r>
              <a:rPr sz="1250" b="0" i="0">
                <a:solidFill>
                  <a:srgbClr val="000000"/>
                </a:solidFill>
                <a:latin typeface="Cambria Math"/>
              </a:rPr>
              <a:t>)</a:t>
            </a:r>
          </a:p>
        </p:txBody>
      </p:sp>
      <p:sp>
        <p:nvSpPr>
          <p:cNvPr id="5" name="TextBox 4">
            <a:extLst>
              <a:ext uri="{FF2B5EF4-FFF2-40B4-BE49-F238E27FC236}">
                <a16:creationId xmlns:a16="http://schemas.microsoft.com/office/drawing/2014/main" id="{88897954-6F5C-38DE-1362-13A92D7D84B6}"/>
              </a:ext>
            </a:extLst>
          </p:cNvPr>
          <p:cNvSpPr txBox="1"/>
          <p:nvPr/>
        </p:nvSpPr>
        <p:spPr>
          <a:xfrm>
            <a:off x="6278727" y="4846320"/>
            <a:ext cx="5364327" cy="914400"/>
          </a:xfrm>
          <a:prstGeom prst="rect">
            <a:avLst/>
          </a:prstGeom>
          <a:noFill/>
        </p:spPr>
        <p:txBody>
          <a:bodyPr wrap="square" lIns="0" tIns="0" rIns="0" bIns="0" anchor="t">
            <a:noAutofit/>
          </a:bodyPr>
          <a:lstStyle/>
          <a:p>
            <a:pPr marL="0" indent="0">
              <a:buNone/>
            </a:pPr>
            <a:r>
              <a:rPr sz="1900" b="1" dirty="0"/>
              <a:t>Note. </a:t>
            </a:r>
            <a:r>
              <a:rPr sz="1900" dirty="0" err="1"/>
              <a:t>obl</a:t>
            </a:r>
            <a:r>
              <a:rPr sz="1900" dirty="0"/>
              <a:t> (the ODRL Duty rule) is distinct from Duty (the UFO-L position). Classical FOL with reified positions, not a modal logic.</a:t>
            </a:r>
          </a:p>
        </p:txBody>
      </p:sp>
    </p:spTree>
    <p:extLst>
      <p:ext uri="{BB962C8B-B14F-4D97-AF65-F5344CB8AC3E}">
        <p14:creationId xmlns:p14="http://schemas.microsoft.com/office/powerpoint/2010/main" val="2206247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scenario, grounded: two theaters, two Powers</a:t>
            </a:r>
          </a:p>
        </p:txBody>
      </p:sp>
      <p:sp>
        <p:nvSpPr>
          <p:cNvPr id="3" name="Rectangle 2"/>
          <p:cNvSpPr/>
          <p:nvPr/>
        </p:nvSpPr>
        <p:spPr>
          <a:xfrm>
            <a:off x="548640" y="1783080"/>
            <a:ext cx="1783080" cy="1371600"/>
          </a:xfrm>
          <a:prstGeom prst="rect">
            <a:avLst/>
          </a:prstGeom>
          <a:noFill/>
          <a:ln w="12700">
            <a:solidFill>
              <a:srgbClr val="5F6B76"/>
            </a:solidFill>
          </a:ln>
        </p:spPr>
        <p:txBody>
          <a:bodyPr wrap="square" lIns="45720" tIns="36576" rIns="45720" bIns="36576" rtlCol="0" anchor="ctr">
            <a:noAutofit/>
          </a:bodyPr>
          <a:lstStyle/>
          <a:p>
            <a:pPr marL="0" indent="0" algn="ctr">
              <a:buNone/>
            </a:pPr>
            <a:r>
              <a:rPr sz="1150" b="1">
                <a:solidFill>
                  <a:srgbClr val="000000"/>
                </a:solidFill>
                <a:latin typeface="Consolas"/>
              </a:rPr>
              <a:t>:BerlinerEnsemble</a:t>
            </a:r>
          </a:p>
          <a:p>
            <a:pPr marL="0" indent="0" algn="ctr">
              <a:buNone/>
            </a:pPr>
            <a:r>
              <a:rPr sz="1200">
                <a:solidFill>
                  <a:srgbClr val="5F6B76"/>
                </a:solidFill>
              </a:rPr>
              <a:t>assigner (BE)</a:t>
            </a:r>
          </a:p>
          <a:p>
            <a:pPr marL="0" indent="0" algn="ctr">
              <a:buNone/>
            </a:pPr>
            <a:r>
              <a:rPr sz="1200">
                <a:solidFill>
                  <a:srgbClr val="5F6B76"/>
                </a:solidFill>
              </a:rPr>
              <a:t>remedy: compensate</a:t>
            </a:r>
          </a:p>
        </p:txBody>
      </p:sp>
      <p:sp>
        <p:nvSpPr>
          <p:cNvPr id="4" name="Rectangle 3"/>
          <p:cNvSpPr/>
          <p:nvPr/>
        </p:nvSpPr>
        <p:spPr>
          <a:xfrm>
            <a:off x="5202936" y="1783080"/>
            <a:ext cx="1783080" cy="1371600"/>
          </a:xfrm>
          <a:prstGeom prst="rect">
            <a:avLst/>
          </a:prstGeom>
          <a:noFill/>
          <a:ln w="12700">
            <a:solidFill>
              <a:srgbClr val="5F6B76"/>
            </a:solidFill>
          </a:ln>
        </p:spPr>
        <p:txBody>
          <a:bodyPr wrap="square" lIns="45720" tIns="36576" rIns="45720" bIns="36576" rtlCol="0" anchor="ctr">
            <a:noAutofit/>
          </a:bodyPr>
          <a:lstStyle/>
          <a:p>
            <a:pPr marL="0" indent="0" algn="ctr">
              <a:buNone/>
            </a:pPr>
            <a:r>
              <a:rPr sz="1150" b="1">
                <a:solidFill>
                  <a:srgbClr val="000000"/>
                </a:solidFill>
                <a:latin typeface="Consolas"/>
              </a:rPr>
              <a:t>:KulturPortal</a:t>
            </a:r>
          </a:p>
          <a:p>
            <a:pPr marL="0" indent="0" algn="ctr">
              <a:buNone/>
            </a:pPr>
            <a:r>
              <a:rPr sz="1200">
                <a:solidFill>
                  <a:srgbClr val="5F6B76"/>
                </a:solidFill>
              </a:rPr>
              <a:t>assignee (KP)</a:t>
            </a:r>
          </a:p>
          <a:p>
            <a:pPr marL="0" indent="0" algn="ctr">
              <a:buNone/>
            </a:pPr>
            <a:r>
              <a:rPr sz="1200">
                <a:solidFill>
                  <a:srgbClr val="5F6B76"/>
                </a:solidFill>
              </a:rPr>
              <a:t>distributed both</a:t>
            </a:r>
          </a:p>
        </p:txBody>
      </p:sp>
      <p:sp>
        <p:nvSpPr>
          <p:cNvPr id="5" name="Rectangle 4"/>
          <p:cNvSpPr/>
          <p:nvPr/>
        </p:nvSpPr>
        <p:spPr>
          <a:xfrm>
            <a:off x="9857232" y="1783080"/>
            <a:ext cx="1783080" cy="1371600"/>
          </a:xfrm>
          <a:prstGeom prst="rect">
            <a:avLst/>
          </a:prstGeom>
          <a:noFill/>
          <a:ln w="12700">
            <a:solidFill>
              <a:srgbClr val="5F6B76"/>
            </a:solidFill>
          </a:ln>
        </p:spPr>
        <p:txBody>
          <a:bodyPr wrap="square" lIns="45720" tIns="36576" rIns="45720" bIns="36576" rtlCol="0" anchor="ctr">
            <a:noAutofit/>
          </a:bodyPr>
          <a:lstStyle/>
          <a:p>
            <a:pPr marL="0" indent="0" algn="ctr">
              <a:buNone/>
            </a:pPr>
            <a:r>
              <a:rPr sz="1150" b="1">
                <a:solidFill>
                  <a:srgbClr val="000000"/>
                </a:solidFill>
                <a:latin typeface="Consolas"/>
              </a:rPr>
              <a:t>:DeutschesTheater</a:t>
            </a:r>
          </a:p>
          <a:p>
            <a:pPr marL="0" indent="0" algn="ctr">
              <a:buNone/>
            </a:pPr>
            <a:r>
              <a:rPr sz="1200">
                <a:solidFill>
                  <a:srgbClr val="5F6B76"/>
                </a:solidFill>
              </a:rPr>
              <a:t>assigner (DT)</a:t>
            </a:r>
          </a:p>
          <a:p>
            <a:pPr marL="0" indent="0" algn="ctr">
              <a:buNone/>
            </a:pPr>
            <a:r>
              <a:rPr sz="1200">
                <a:solidFill>
                  <a:srgbClr val="5F6B76"/>
                </a:solidFill>
              </a:rPr>
              <a:t>remedy: delete</a:t>
            </a:r>
          </a:p>
        </p:txBody>
      </p:sp>
      <p:sp>
        <p:nvSpPr>
          <p:cNvPr id="6" name="Rectangle 5"/>
          <p:cNvSpPr/>
          <p:nvPr/>
        </p:nvSpPr>
        <p:spPr>
          <a:xfrm>
            <a:off x="2532888" y="1325880"/>
            <a:ext cx="2514600" cy="960120"/>
          </a:xfrm>
          <a:prstGeom prst="rect">
            <a:avLst/>
          </a:prstGeom>
          <a:noFill/>
          <a:ln w="15875">
            <a:solidFill>
              <a:srgbClr val="137A62"/>
            </a:solidFill>
          </a:ln>
        </p:spPr>
        <p:txBody>
          <a:bodyPr wrap="square" lIns="109728" tIns="36576" rIns="109728" bIns="36576" rtlCol="0" anchor="ctr">
            <a:noAutofit/>
          </a:bodyPr>
          <a:lstStyle/>
          <a:p>
            <a:pPr marL="0" indent="0" algn="l">
              <a:buNone/>
            </a:pPr>
            <a:r>
              <a:rPr sz="1400" b="1" i="1">
                <a:solidFill>
                  <a:srgbClr val="137A62"/>
                </a:solidFill>
                <a:latin typeface="Cambria Math"/>
              </a:rPr>
              <a:t>ρ</a:t>
            </a:r>
            <a:r>
              <a:rPr sz="1400" b="1" i="0" baseline="-25000">
                <a:solidFill>
                  <a:srgbClr val="137A62"/>
                </a:solidFill>
                <a:latin typeface="Cambria Math"/>
              </a:rPr>
              <a:t>F</a:t>
            </a:r>
            <a:r>
              <a:rPr sz="1400" b="1">
                <a:solidFill>
                  <a:srgbClr val="137A62"/>
                </a:solidFill>
              </a:rPr>
              <a:t>  conduct</a:t>
            </a:r>
          </a:p>
          <a:p>
            <a:pPr marL="0" indent="0" algn="l">
              <a:buNone/>
            </a:pPr>
            <a:r>
              <a:rPr sz="1250">
                <a:solidFill>
                  <a:srgbClr val="000000"/>
                </a:solidFill>
              </a:rPr>
              <a:t>BE: Right to Omission</a:t>
            </a:r>
          </a:p>
          <a:p>
            <a:pPr marL="0" indent="0" algn="l">
              <a:buNone/>
            </a:pPr>
            <a:r>
              <a:rPr sz="1250">
                <a:solidFill>
                  <a:srgbClr val="000000"/>
                </a:solidFill>
              </a:rPr>
              <a:t>KP: Duty to Omit distribute</a:t>
            </a:r>
          </a:p>
        </p:txBody>
      </p:sp>
      <p:sp>
        <p:nvSpPr>
          <p:cNvPr id="7" name="Rectangle 6"/>
          <p:cNvSpPr/>
          <p:nvPr/>
        </p:nvSpPr>
        <p:spPr>
          <a:xfrm>
            <a:off x="2532888" y="2697480"/>
            <a:ext cx="2514600" cy="960120"/>
          </a:xfrm>
          <a:prstGeom prst="rect">
            <a:avLst/>
          </a:prstGeom>
          <a:noFill/>
          <a:ln w="15875">
            <a:solidFill>
              <a:srgbClr val="00549F"/>
            </a:solidFill>
          </a:ln>
        </p:spPr>
        <p:txBody>
          <a:bodyPr wrap="square" lIns="109728" tIns="36576" rIns="109728" bIns="36576" rtlCol="0" anchor="ctr">
            <a:noAutofit/>
          </a:bodyPr>
          <a:lstStyle/>
          <a:p>
            <a:pPr marL="0" indent="0" algn="l">
              <a:buNone/>
            </a:pPr>
            <a:r>
              <a:rPr sz="1400" b="1" i="1">
                <a:solidFill>
                  <a:srgbClr val="00549F"/>
                </a:solidFill>
                <a:latin typeface="Cambria Math"/>
              </a:rPr>
              <a:t>ρ</a:t>
            </a:r>
            <a:r>
              <a:rPr sz="1400" b="1" i="0" baseline="-25000">
                <a:solidFill>
                  <a:srgbClr val="00549F"/>
                </a:solidFill>
                <a:latin typeface="Cambria Math"/>
              </a:rPr>
              <a:t>R</a:t>
            </a:r>
            <a:r>
              <a:rPr sz="1400" b="1">
                <a:solidFill>
                  <a:srgbClr val="00549F"/>
                </a:solidFill>
              </a:rPr>
              <a:t>  competence</a:t>
            </a:r>
          </a:p>
          <a:p>
            <a:pPr marL="0" indent="0" algn="l">
              <a:buNone/>
            </a:pPr>
            <a:r>
              <a:rPr sz="1250">
                <a:solidFill>
                  <a:srgbClr val="000000"/>
                </a:solidFill>
              </a:rPr>
              <a:t>BE: Power, decl(distribute)</a:t>
            </a:r>
          </a:p>
          <a:p>
            <a:pPr marL="0" indent="0" algn="l">
              <a:buNone/>
            </a:pPr>
            <a:r>
              <a:rPr sz="1250">
                <a:solidFill>
                  <a:srgbClr val="000000"/>
                </a:solidFill>
              </a:rPr>
              <a:t>KP: Subjection</a:t>
            </a:r>
          </a:p>
        </p:txBody>
      </p:sp>
      <p:sp>
        <p:nvSpPr>
          <p:cNvPr id="8" name="Rectangle 7"/>
          <p:cNvSpPr/>
          <p:nvPr/>
        </p:nvSpPr>
        <p:spPr>
          <a:xfrm>
            <a:off x="7187184" y="1325880"/>
            <a:ext cx="2514600" cy="960120"/>
          </a:xfrm>
          <a:prstGeom prst="rect">
            <a:avLst/>
          </a:prstGeom>
          <a:noFill/>
          <a:ln w="15875">
            <a:solidFill>
              <a:srgbClr val="137A62"/>
            </a:solidFill>
          </a:ln>
        </p:spPr>
        <p:txBody>
          <a:bodyPr wrap="square" lIns="109728" tIns="36576" rIns="109728" bIns="36576" rtlCol="0" anchor="ctr">
            <a:noAutofit/>
          </a:bodyPr>
          <a:lstStyle/>
          <a:p>
            <a:pPr marL="0" indent="0" algn="l">
              <a:buNone/>
            </a:pPr>
            <a:r>
              <a:rPr sz="1400" b="1" i="1">
                <a:solidFill>
                  <a:srgbClr val="137A62"/>
                </a:solidFill>
                <a:latin typeface="Cambria Math"/>
              </a:rPr>
              <a:t>ρ</a:t>
            </a:r>
            <a:r>
              <a:rPr sz="1400" b="1" i="0" baseline="-25000">
                <a:solidFill>
                  <a:srgbClr val="137A62"/>
                </a:solidFill>
                <a:latin typeface="Cambria Math"/>
              </a:rPr>
              <a:t>F</a:t>
            </a:r>
            <a:r>
              <a:rPr sz="1400" b="1">
                <a:solidFill>
                  <a:srgbClr val="137A62"/>
                </a:solidFill>
              </a:rPr>
              <a:t>  conduct</a:t>
            </a:r>
          </a:p>
          <a:p>
            <a:pPr marL="0" indent="0" algn="l">
              <a:buNone/>
            </a:pPr>
            <a:r>
              <a:rPr sz="1250">
                <a:solidFill>
                  <a:srgbClr val="000000"/>
                </a:solidFill>
              </a:rPr>
              <a:t>DT: Right to Omission</a:t>
            </a:r>
          </a:p>
          <a:p>
            <a:pPr marL="0" indent="0" algn="l">
              <a:buNone/>
            </a:pPr>
            <a:r>
              <a:rPr sz="1250">
                <a:solidFill>
                  <a:srgbClr val="000000"/>
                </a:solidFill>
              </a:rPr>
              <a:t>KP: Duty to Omit distribute</a:t>
            </a:r>
          </a:p>
        </p:txBody>
      </p:sp>
      <p:sp>
        <p:nvSpPr>
          <p:cNvPr id="9" name="Rectangle 8"/>
          <p:cNvSpPr/>
          <p:nvPr/>
        </p:nvSpPr>
        <p:spPr>
          <a:xfrm>
            <a:off x="7187184" y="2697480"/>
            <a:ext cx="2514600" cy="960120"/>
          </a:xfrm>
          <a:prstGeom prst="rect">
            <a:avLst/>
          </a:prstGeom>
          <a:noFill/>
          <a:ln w="15875">
            <a:solidFill>
              <a:srgbClr val="00549F"/>
            </a:solidFill>
          </a:ln>
        </p:spPr>
        <p:txBody>
          <a:bodyPr wrap="square" lIns="109728" tIns="36576" rIns="109728" bIns="36576" rtlCol="0" anchor="ctr">
            <a:noAutofit/>
          </a:bodyPr>
          <a:lstStyle/>
          <a:p>
            <a:pPr marL="0" indent="0" algn="l">
              <a:buNone/>
            </a:pPr>
            <a:r>
              <a:rPr sz="1400" b="1" i="1">
                <a:solidFill>
                  <a:srgbClr val="00549F"/>
                </a:solidFill>
                <a:latin typeface="Cambria Math"/>
              </a:rPr>
              <a:t>ρ</a:t>
            </a:r>
            <a:r>
              <a:rPr sz="1400" b="1" i="0" baseline="-25000">
                <a:solidFill>
                  <a:srgbClr val="00549F"/>
                </a:solidFill>
                <a:latin typeface="Cambria Math"/>
              </a:rPr>
              <a:t>R</a:t>
            </a:r>
            <a:r>
              <a:rPr sz="1400" b="1">
                <a:solidFill>
                  <a:srgbClr val="00549F"/>
                </a:solidFill>
              </a:rPr>
              <a:t>  competence</a:t>
            </a:r>
          </a:p>
          <a:p>
            <a:pPr marL="0" indent="0" algn="l">
              <a:buNone/>
            </a:pPr>
            <a:r>
              <a:rPr sz="1250">
                <a:solidFill>
                  <a:srgbClr val="000000"/>
                </a:solidFill>
              </a:rPr>
              <a:t>DT: Power, decl(distribute)</a:t>
            </a:r>
          </a:p>
          <a:p>
            <a:pPr marL="0" indent="0" algn="l">
              <a:buNone/>
            </a:pPr>
            <a:r>
              <a:rPr sz="1250">
                <a:solidFill>
                  <a:srgbClr val="000000"/>
                </a:solidFill>
              </a:rPr>
              <a:t>KP: Subjection</a:t>
            </a:r>
          </a:p>
        </p:txBody>
      </p:sp>
      <p:cxnSp>
        <p:nvCxnSpPr>
          <p:cNvPr id="10" name="Connector 9"/>
          <p:cNvCxnSpPr/>
          <p:nvPr/>
        </p:nvCxnSpPr>
        <p:spPr>
          <a:xfrm flipV="1">
            <a:off x="2331720" y="1801368"/>
            <a:ext cx="201168" cy="393192"/>
          </a:xfrm>
          <a:prstGeom prst="line">
            <a:avLst/>
          </a:prstGeom>
          <a:ln w="12700">
            <a:solidFill>
              <a:srgbClr val="9AA4AD"/>
            </a:solidFill>
          </a:ln>
        </p:spPr>
      </p:cxnSp>
      <p:cxnSp>
        <p:nvCxnSpPr>
          <p:cNvPr id="11" name="Connector 10"/>
          <p:cNvCxnSpPr/>
          <p:nvPr/>
        </p:nvCxnSpPr>
        <p:spPr>
          <a:xfrm>
            <a:off x="2331720" y="2743200"/>
            <a:ext cx="201168" cy="429768"/>
          </a:xfrm>
          <a:prstGeom prst="line">
            <a:avLst/>
          </a:prstGeom>
          <a:ln w="12700">
            <a:solidFill>
              <a:srgbClr val="9AA4AD"/>
            </a:solidFill>
          </a:ln>
        </p:spPr>
      </p:cxnSp>
      <p:cxnSp>
        <p:nvCxnSpPr>
          <p:cNvPr id="12" name="Connector 11"/>
          <p:cNvCxnSpPr/>
          <p:nvPr/>
        </p:nvCxnSpPr>
        <p:spPr>
          <a:xfrm>
            <a:off x="5047488" y="1801368"/>
            <a:ext cx="155448" cy="393192"/>
          </a:xfrm>
          <a:prstGeom prst="line">
            <a:avLst/>
          </a:prstGeom>
          <a:ln w="12700">
            <a:solidFill>
              <a:srgbClr val="9AA4AD"/>
            </a:solidFill>
          </a:ln>
        </p:spPr>
      </p:cxnSp>
      <p:cxnSp>
        <p:nvCxnSpPr>
          <p:cNvPr id="13" name="Connector 12"/>
          <p:cNvCxnSpPr/>
          <p:nvPr/>
        </p:nvCxnSpPr>
        <p:spPr>
          <a:xfrm flipV="1">
            <a:off x="5047488" y="2743200"/>
            <a:ext cx="155448" cy="429768"/>
          </a:xfrm>
          <a:prstGeom prst="line">
            <a:avLst/>
          </a:prstGeom>
          <a:ln w="12700">
            <a:solidFill>
              <a:srgbClr val="9AA4AD"/>
            </a:solidFill>
          </a:ln>
        </p:spPr>
      </p:cxnSp>
      <p:cxnSp>
        <p:nvCxnSpPr>
          <p:cNvPr id="14" name="Connector 13"/>
          <p:cNvCxnSpPr/>
          <p:nvPr/>
        </p:nvCxnSpPr>
        <p:spPr>
          <a:xfrm flipV="1">
            <a:off x="6986016" y="1801368"/>
            <a:ext cx="201168" cy="393192"/>
          </a:xfrm>
          <a:prstGeom prst="line">
            <a:avLst/>
          </a:prstGeom>
          <a:ln w="12700">
            <a:solidFill>
              <a:srgbClr val="9AA4AD"/>
            </a:solidFill>
          </a:ln>
        </p:spPr>
      </p:cxnSp>
      <p:cxnSp>
        <p:nvCxnSpPr>
          <p:cNvPr id="15" name="Connector 14"/>
          <p:cNvCxnSpPr/>
          <p:nvPr/>
        </p:nvCxnSpPr>
        <p:spPr>
          <a:xfrm>
            <a:off x="6986016" y="2743200"/>
            <a:ext cx="201168" cy="429768"/>
          </a:xfrm>
          <a:prstGeom prst="line">
            <a:avLst/>
          </a:prstGeom>
          <a:ln w="12700">
            <a:solidFill>
              <a:srgbClr val="9AA4AD"/>
            </a:solidFill>
          </a:ln>
        </p:spPr>
      </p:cxnSp>
      <p:cxnSp>
        <p:nvCxnSpPr>
          <p:cNvPr id="16" name="Connector 15"/>
          <p:cNvCxnSpPr/>
          <p:nvPr/>
        </p:nvCxnSpPr>
        <p:spPr>
          <a:xfrm>
            <a:off x="9701784" y="1801368"/>
            <a:ext cx="155448" cy="393192"/>
          </a:xfrm>
          <a:prstGeom prst="line">
            <a:avLst/>
          </a:prstGeom>
          <a:ln w="12700">
            <a:solidFill>
              <a:srgbClr val="9AA4AD"/>
            </a:solidFill>
          </a:ln>
        </p:spPr>
      </p:cxnSp>
      <p:cxnSp>
        <p:nvCxnSpPr>
          <p:cNvPr id="17" name="Connector 16"/>
          <p:cNvCxnSpPr/>
          <p:nvPr/>
        </p:nvCxnSpPr>
        <p:spPr>
          <a:xfrm flipV="1">
            <a:off x="9701784" y="2743200"/>
            <a:ext cx="155448" cy="429768"/>
          </a:xfrm>
          <a:prstGeom prst="line">
            <a:avLst/>
          </a:prstGeom>
          <a:ln w="12700">
            <a:solidFill>
              <a:srgbClr val="9AA4AD"/>
            </a:solidFill>
          </a:ln>
        </p:spPr>
      </p:cxnSp>
      <p:sp>
        <p:nvSpPr>
          <p:cNvPr id="18" name="TextBox 17"/>
          <p:cNvSpPr txBox="1"/>
          <p:nvPr/>
        </p:nvSpPr>
        <p:spPr>
          <a:xfrm>
            <a:off x="548640" y="3977639"/>
            <a:ext cx="11091672" cy="2194560"/>
          </a:xfrm>
          <a:prstGeom prst="rect">
            <a:avLst/>
          </a:prstGeom>
          <a:noFill/>
        </p:spPr>
        <p:txBody>
          <a:bodyPr wrap="square" lIns="0" tIns="0" rIns="0" bIns="0" anchor="t">
            <a:noAutofit/>
          </a:bodyPr>
          <a:lstStyle/>
          <a:p>
            <a:pPr marL="285750" indent="-285750">
              <a:buClr>
                <a:srgbClr val="0B4F6C"/>
              </a:buClr>
              <a:buFont typeface="Arial"/>
              <a:buChar char="•"/>
            </a:pPr>
            <a:r>
              <a:rPr sz="1700" b="1" dirty="0">
                <a:solidFill>
                  <a:srgbClr val="000000"/>
                </a:solidFill>
                <a:latin typeface="+mj-lt"/>
              </a:rPr>
              <a:t>Evaluator: </a:t>
            </a:r>
            <a:r>
              <a:rPr sz="1700" dirty="0">
                <a:solidFill>
                  <a:srgbClr val="000000"/>
                </a:solidFill>
                <a:latin typeface="+mj-lt"/>
              </a:rPr>
              <a:t>:BE-Agreement </a:t>
            </a:r>
            <a:r>
              <a:rPr sz="1700" b="1" dirty="0">
                <a:solidFill>
                  <a:srgbClr val="B9501A"/>
                </a:solidFill>
                <a:latin typeface="+mj-lt"/>
              </a:rPr>
              <a:t>violated</a:t>
            </a:r>
            <a:r>
              <a:rPr sz="1700" dirty="0">
                <a:solidFill>
                  <a:srgbClr val="000000"/>
                </a:solidFill>
                <a:latin typeface="+mj-lt"/>
              </a:rPr>
              <a:t>,  :DT-Agreement </a:t>
            </a:r>
            <a:r>
              <a:rPr sz="1700" b="1" dirty="0">
                <a:solidFill>
                  <a:srgbClr val="B9501A"/>
                </a:solidFill>
                <a:latin typeface="+mj-lt"/>
              </a:rPr>
              <a:t>violated</a:t>
            </a:r>
            <a:r>
              <a:rPr sz="1700" dirty="0">
                <a:solidFill>
                  <a:srgbClr val="000000"/>
                </a:solidFill>
                <a:latin typeface="+mj-lt"/>
              </a:rPr>
              <a:t>.</a:t>
            </a:r>
          </a:p>
          <a:p>
            <a:pPr marL="285750" indent="-285750">
              <a:spcBef>
                <a:spcPts val="1000"/>
              </a:spcBef>
              <a:buClr>
                <a:srgbClr val="0B4F6C"/>
              </a:buClr>
              <a:buFont typeface="Arial"/>
              <a:buChar char="•"/>
            </a:pPr>
            <a:r>
              <a:rPr lang="en-US" sz="1700" b="1" dirty="0">
                <a:solidFill>
                  <a:srgbClr val="000000"/>
                </a:solidFill>
                <a:latin typeface="+mj-lt"/>
              </a:rPr>
              <a:t>BE and DT each hold a distinct Power to declare the violation of their own prohibition.</a:t>
            </a:r>
            <a:endParaRPr sz="1700" dirty="0">
              <a:solidFill>
                <a:srgbClr val="000000"/>
              </a:solidFill>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ODRL-L: OWL Profile, FOL </a:t>
            </a:r>
            <a:r>
              <a:rPr lang="de-DE" dirty="0" err="1"/>
              <a:t>Semantics</a:t>
            </a:r>
            <a:r>
              <a:rPr lang="de-DE" dirty="0"/>
              <a:t>, </a:t>
            </a:r>
            <a:r>
              <a:rPr lang="de-DE" dirty="0" err="1"/>
              <a:t>Verification</a:t>
            </a:r>
            <a:endParaRPr dirty="0"/>
          </a:p>
        </p:txBody>
      </p:sp>
      <p:sp>
        <p:nvSpPr>
          <p:cNvPr id="3" name="Content Placeholder 2"/>
          <p:cNvSpPr>
            <a:spLocks noGrp="1"/>
          </p:cNvSpPr>
          <p:nvPr>
            <p:ph sz="half" idx="1"/>
          </p:nvPr>
        </p:nvSpPr>
        <p:spPr/>
        <p:txBody>
          <a:bodyPr>
            <a:noAutofit/>
          </a:bodyPr>
          <a:lstStyle/>
          <a:p>
            <a:pPr marL="0" indent="0">
              <a:buNone/>
            </a:pPr>
            <a:r>
              <a:rPr sz="1900" b="1" dirty="0">
                <a:solidFill>
                  <a:srgbClr val="000000"/>
                </a:solidFill>
                <a:latin typeface="+mj-lt"/>
              </a:rPr>
              <a:t>ODRL Legal Profile</a:t>
            </a:r>
            <a:r>
              <a:rPr sz="1900" dirty="0">
                <a:solidFill>
                  <a:srgbClr val="5F6B76"/>
                </a:solidFill>
                <a:latin typeface="+mj-lt"/>
              </a:rPr>
              <a:t>  (</a:t>
            </a:r>
            <a:r>
              <a:rPr sz="1900" dirty="0" err="1">
                <a:solidFill>
                  <a:srgbClr val="5F6B76"/>
                </a:solidFill>
                <a:latin typeface="+mj-lt"/>
              </a:rPr>
              <a:t>odrl</a:t>
            </a:r>
            <a:r>
              <a:rPr sz="1900" dirty="0">
                <a:solidFill>
                  <a:srgbClr val="5F6B76"/>
                </a:solidFill>
                <a:latin typeface="+mj-lt"/>
              </a:rPr>
              <a:t>-l:)</a:t>
            </a:r>
          </a:p>
          <a:p>
            <a:pPr>
              <a:spcBef>
                <a:spcPts val="1200"/>
              </a:spcBef>
            </a:pPr>
            <a:r>
              <a:rPr sz="1900" dirty="0">
                <a:solidFill>
                  <a:srgbClr val="0B4F6C"/>
                </a:solidFill>
                <a:latin typeface="+mj-lt"/>
              </a:rPr>
              <a:t>w3id.org/</a:t>
            </a:r>
            <a:r>
              <a:rPr sz="1900" dirty="0" err="1">
                <a:solidFill>
                  <a:srgbClr val="0B4F6C"/>
                </a:solidFill>
                <a:latin typeface="+mj-lt"/>
              </a:rPr>
              <a:t>odrl</a:t>
            </a:r>
            <a:r>
              <a:rPr sz="1900" dirty="0">
                <a:solidFill>
                  <a:srgbClr val="0B4F6C"/>
                </a:solidFill>
                <a:latin typeface="+mj-lt"/>
              </a:rPr>
              <a:t>-legal/</a:t>
            </a:r>
            <a:r>
              <a:rPr lang="en-US" sz="1900" dirty="0">
                <a:solidFill>
                  <a:srgbClr val="0B4F6C"/>
                </a:solidFill>
                <a:latin typeface="+mj-lt"/>
              </a:rPr>
              <a:t> </a:t>
            </a:r>
            <a:r>
              <a:rPr sz="1900" dirty="0">
                <a:latin typeface="+mj-lt"/>
              </a:rPr>
              <a:t>15 classes, 8 properties</a:t>
            </a:r>
          </a:p>
          <a:p>
            <a:r>
              <a:rPr sz="1900" dirty="0">
                <a:latin typeface="+mj-lt"/>
              </a:rPr>
              <a:t>Extension points: </a:t>
            </a:r>
            <a:r>
              <a:rPr sz="1900" dirty="0" err="1">
                <a:latin typeface="+mj-lt"/>
              </a:rPr>
              <a:t>odrl-l:hasRemedy</a:t>
            </a:r>
            <a:r>
              <a:rPr sz="1900" dirty="0">
                <a:latin typeface="+mj-lt"/>
              </a:rPr>
              <a:t>, </a:t>
            </a:r>
            <a:r>
              <a:rPr sz="1900" dirty="0" err="1">
                <a:latin typeface="+mj-lt"/>
              </a:rPr>
              <a:t>odrl-l:stronglyPermitted</a:t>
            </a:r>
            <a:endParaRPr sz="1900" dirty="0">
              <a:latin typeface="+mj-lt"/>
            </a:endParaRPr>
          </a:p>
          <a:p>
            <a:r>
              <a:rPr sz="1900" dirty="0">
                <a:latin typeface="+mj-lt"/>
              </a:rPr>
              <a:t>Gives policy authors a term for the authority to declare a violation (P4)</a:t>
            </a:r>
          </a:p>
          <a:p>
            <a:r>
              <a:rPr sz="1900" dirty="0">
                <a:latin typeface="+mj-lt"/>
              </a:rPr>
              <a:t>OWL limits: no term for </a:t>
            </a:r>
            <a:r>
              <a:rPr sz="1900" b="0" i="0" dirty="0" err="1">
                <a:latin typeface="+mj-lt"/>
              </a:rPr>
              <a:t>rfr</a:t>
            </a:r>
            <a:r>
              <a:rPr sz="1900" b="0" i="0" dirty="0">
                <a:latin typeface="+mj-lt"/>
              </a:rPr>
              <a:t>(</a:t>
            </a:r>
            <a:r>
              <a:rPr sz="1900" b="0" i="1" dirty="0">
                <a:latin typeface="+mj-lt"/>
              </a:rPr>
              <a:t>a</a:t>
            </a:r>
            <a:r>
              <a:rPr sz="1900" b="0" i="0" dirty="0">
                <a:latin typeface="+mj-lt"/>
              </a:rPr>
              <a:t>)</a:t>
            </a:r>
            <a:r>
              <a:rPr sz="1900" dirty="0">
                <a:latin typeface="+mj-lt"/>
              </a:rPr>
              <a:t>; </a:t>
            </a:r>
            <a:r>
              <a:rPr sz="1900" dirty="0" err="1">
                <a:latin typeface="+mj-lt"/>
              </a:rPr>
              <a:t>stronglyPermitted</a:t>
            </a:r>
            <a:r>
              <a:rPr sz="1900" dirty="0">
                <a:latin typeface="+mj-lt"/>
              </a:rPr>
              <a:t> is an annotation; Ax. 5.9, 5.10 need full FOL</a:t>
            </a:r>
            <a:endParaRPr lang="en-US" sz="1900" dirty="0">
              <a:latin typeface="+mj-lt"/>
            </a:endParaRPr>
          </a:p>
          <a:p>
            <a:r>
              <a:rPr lang="de-DE" sz="1900" dirty="0">
                <a:latin typeface="+mj-lt"/>
              </a:rPr>
              <a:t>Grounding </a:t>
            </a:r>
            <a:r>
              <a:rPr lang="de-DE" sz="1900" dirty="0" err="1">
                <a:latin typeface="+mj-lt"/>
              </a:rPr>
              <a:t>needs</a:t>
            </a:r>
            <a:r>
              <a:rPr lang="de-DE" sz="1900" dirty="0">
                <a:latin typeface="+mj-lt"/>
              </a:rPr>
              <a:t> </a:t>
            </a:r>
            <a:r>
              <a:rPr lang="de-DE" sz="1900" dirty="0" err="1">
                <a:latin typeface="+mj-lt"/>
              </a:rPr>
              <a:t>action</a:t>
            </a:r>
            <a:r>
              <a:rPr lang="de-DE" sz="1900" dirty="0">
                <a:latin typeface="+mj-lt"/>
              </a:rPr>
              <a:t> </a:t>
            </a:r>
            <a:r>
              <a:rPr lang="de-DE" sz="1900" dirty="0" err="1">
                <a:latin typeface="+mj-lt"/>
              </a:rPr>
              <a:t>transformation</a:t>
            </a:r>
            <a:r>
              <a:rPr lang="de-DE" sz="1900" dirty="0">
                <a:latin typeface="+mj-lt"/>
              </a:rPr>
              <a:t>, event-</a:t>
            </a:r>
            <a:r>
              <a:rPr lang="de-DE" sz="1900" dirty="0" err="1">
                <a:latin typeface="+mj-lt"/>
              </a:rPr>
              <a:t>founded</a:t>
            </a:r>
            <a:r>
              <a:rPr lang="de-DE" sz="1900" dirty="0">
                <a:latin typeface="+mj-lt"/>
              </a:rPr>
              <a:t> </a:t>
            </a:r>
            <a:r>
              <a:rPr lang="de-DE" sz="1900" dirty="0" err="1">
                <a:latin typeface="+mj-lt"/>
              </a:rPr>
              <a:t>relators</a:t>
            </a:r>
            <a:r>
              <a:rPr lang="de-DE" sz="1900" dirty="0">
                <a:latin typeface="+mj-lt"/>
              </a:rPr>
              <a:t>, and explicit existential </a:t>
            </a:r>
            <a:r>
              <a:rPr lang="de-DE" sz="1900" dirty="0" err="1">
                <a:latin typeface="+mj-lt"/>
              </a:rPr>
              <a:t>relationships</a:t>
            </a:r>
            <a:r>
              <a:rPr lang="de-DE" sz="1900" dirty="0">
                <a:latin typeface="+mj-lt"/>
              </a:rPr>
              <a:t> </a:t>
            </a:r>
            <a:r>
              <a:rPr lang="de-DE" sz="1900" dirty="0" err="1">
                <a:latin typeface="+mj-lt"/>
              </a:rPr>
              <a:t>between</a:t>
            </a:r>
            <a:r>
              <a:rPr lang="de-DE" sz="1900" dirty="0">
                <a:latin typeface="+mj-lt"/>
              </a:rPr>
              <a:t> the </a:t>
            </a:r>
            <a:r>
              <a:rPr lang="de-DE" sz="1900" dirty="0" err="1">
                <a:latin typeface="+mj-lt"/>
              </a:rPr>
              <a:t>resulting</a:t>
            </a:r>
            <a:r>
              <a:rPr lang="de-DE" sz="1900" dirty="0">
                <a:latin typeface="+mj-lt"/>
              </a:rPr>
              <a:t> legal </a:t>
            </a:r>
            <a:r>
              <a:rPr lang="de-DE" sz="1900" dirty="0" err="1">
                <a:latin typeface="+mj-lt"/>
              </a:rPr>
              <a:t>positions</a:t>
            </a:r>
            <a:r>
              <a:rPr lang="de-DE" sz="1900" dirty="0">
                <a:latin typeface="+mj-lt"/>
              </a:rPr>
              <a:t>. </a:t>
            </a:r>
            <a:endParaRPr sz="1900" dirty="0">
              <a:latin typeface="+mj-lt"/>
            </a:endParaRPr>
          </a:p>
        </p:txBody>
      </p:sp>
      <p:sp>
        <p:nvSpPr>
          <p:cNvPr id="4" name="Content Placeholder 3"/>
          <p:cNvSpPr>
            <a:spLocks noGrp="1"/>
          </p:cNvSpPr>
          <p:nvPr>
            <p:ph sz="half" idx="2"/>
          </p:nvPr>
        </p:nvSpPr>
        <p:spPr/>
        <p:txBody>
          <a:bodyPr>
            <a:noAutofit/>
          </a:bodyPr>
          <a:lstStyle/>
          <a:p>
            <a:pPr marL="0" indent="0">
              <a:buNone/>
            </a:pPr>
            <a:r>
              <a:rPr sz="1900" b="1" dirty="0">
                <a:solidFill>
                  <a:srgbClr val="000000"/>
                </a:solidFill>
                <a:latin typeface="+mj-lt"/>
              </a:rPr>
              <a:t>Mechanical verification</a:t>
            </a:r>
          </a:p>
          <a:p>
            <a:pPr>
              <a:spcBef>
                <a:spcPts val="1200"/>
              </a:spcBef>
            </a:pPr>
            <a:r>
              <a:rPr sz="1900" dirty="0">
                <a:latin typeface="+mj-lt"/>
              </a:rPr>
              <a:t>Isabelle/HOL: all axioms, the corollary, the prohibition lifecycle, Prop. 5.2</a:t>
            </a:r>
          </a:p>
          <a:p>
            <a:r>
              <a:rPr sz="1900" dirty="0">
                <a:latin typeface="+mj-lt"/>
              </a:rPr>
              <a:t>39 problems (GRND001 to GRND036) in TPTP/FOF and SMT-LIB 2</a:t>
            </a:r>
          </a:p>
          <a:p>
            <a:r>
              <a:rPr sz="1900" dirty="0">
                <a:latin typeface="+mj-lt"/>
              </a:rPr>
              <a:t>Vampire 5.0.0, E 3.2.5, Z3 4.15.4</a:t>
            </a:r>
          </a:p>
          <a:p>
            <a:r>
              <a:rPr sz="1900" dirty="0">
                <a:latin typeface="+mj-lt"/>
              </a:rPr>
              <a:t>Consistency, entailment, and discriminating problems</a:t>
            </a:r>
            <a:r>
              <a:rPr lang="en-US" sz="1900" dirty="0">
                <a:latin typeface="+mj-lt"/>
              </a:rPr>
              <a:t>.</a:t>
            </a:r>
            <a:endParaRPr lang="de-DE" sz="1900" dirty="0">
              <a:latin typeface="+mj-lt"/>
            </a:endParaRPr>
          </a:p>
          <a:p>
            <a:r>
              <a:rPr lang="en-US" sz="1900" dirty="0">
                <a:latin typeface="+mj-lt"/>
              </a:rPr>
              <a:t>A subset is included in TPTP v9.3.0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t>
            </a:r>
            <a:endParaRPr dirty="0"/>
          </a:p>
        </p:txBody>
      </p:sp>
      <p:sp>
        <p:nvSpPr>
          <p:cNvPr id="3" name="Content Placeholder 2"/>
          <p:cNvSpPr>
            <a:spLocks noGrp="1"/>
          </p:cNvSpPr>
          <p:nvPr>
            <p:ph idx="1"/>
          </p:nvPr>
        </p:nvSpPr>
        <p:spPr/>
        <p:txBody>
          <a:bodyPr>
            <a:noAutofit/>
          </a:bodyPr>
          <a:lstStyle/>
          <a:p>
            <a:pPr marL="457200" indent="-457200">
              <a:buClr>
                <a:srgbClr val="0B4F6C"/>
              </a:buClr>
              <a:buFont typeface="+mj-lt"/>
              <a:buAutoNum type="arabicPeriod"/>
            </a:pPr>
            <a:r>
              <a:rPr sz="1900" b="1" dirty="0">
                <a:latin typeface="+mj-lt"/>
              </a:rPr>
              <a:t>Cross-Level Design Principle. </a:t>
            </a:r>
            <a:r>
              <a:rPr sz="1900" dirty="0">
                <a:latin typeface="+mj-lt"/>
              </a:rPr>
              <a:t>Violable, consequential norms need competence-level positions next to conduct-level ones. A necessity result, not a richer mapping.</a:t>
            </a:r>
          </a:p>
          <a:p>
            <a:pPr marL="457200" indent="-457200">
              <a:spcBef>
                <a:spcPts val="1400"/>
              </a:spcBef>
              <a:buClr>
                <a:srgbClr val="0B4F6C"/>
              </a:buClr>
              <a:buFont typeface="+mj-lt"/>
              <a:buAutoNum type="arabicPeriod"/>
            </a:pPr>
            <a:r>
              <a:rPr sz="1900" b="1" dirty="0">
                <a:latin typeface="+mj-lt"/>
              </a:rPr>
              <a:t>ODRL grounded in UFO-L. </a:t>
            </a:r>
            <a:r>
              <a:rPr sz="1900" dirty="0">
                <a:latin typeface="+mj-lt"/>
              </a:rPr>
              <a:t>Each activated rule founds a simple legal relator; violation authority becomes an explicit Power/Subjection pair.</a:t>
            </a:r>
          </a:p>
          <a:p>
            <a:pPr marL="457200" indent="-457200">
              <a:spcBef>
                <a:spcPts val="1400"/>
              </a:spcBef>
              <a:buClr>
                <a:srgbClr val="0B4F6C"/>
              </a:buClr>
              <a:buFont typeface="+mj-lt"/>
              <a:buAutoNum type="arabicPeriod"/>
            </a:pPr>
            <a:r>
              <a:rPr sz="1900" b="1" dirty="0">
                <a:latin typeface="+mj-lt"/>
              </a:rPr>
              <a:t>Checked and usable. </a:t>
            </a:r>
            <a:r>
              <a:rPr lang="en-US" sz="1900" b="1" dirty="0">
                <a:latin typeface="+mj-lt"/>
              </a:rPr>
              <a:t> </a:t>
            </a:r>
            <a:r>
              <a:rPr sz="1900" dirty="0">
                <a:latin typeface="+mj-lt"/>
              </a:rPr>
              <a:t>39-problem benchmark; the </a:t>
            </a:r>
            <a:r>
              <a:rPr sz="1900" dirty="0" err="1">
                <a:latin typeface="+mj-lt"/>
              </a:rPr>
              <a:t>odrl</a:t>
            </a:r>
            <a:r>
              <a:rPr sz="1900" dirty="0">
                <a:latin typeface="+mj-lt"/>
              </a:rPr>
              <a:t>-l profile lets standard reasoners carry the grounding.</a:t>
            </a:r>
          </a:p>
          <a:p>
            <a:pPr marL="0" indent="0">
              <a:spcBef>
                <a:spcPts val="3000"/>
              </a:spcBef>
              <a:buNone/>
            </a:pPr>
            <a:r>
              <a:rPr sz="1900" b="1" dirty="0">
                <a:solidFill>
                  <a:schemeClr val="tx1"/>
                </a:solidFill>
                <a:latin typeface="+mj-lt"/>
              </a:rPr>
              <a:t>Scope: </a:t>
            </a:r>
            <a:r>
              <a:rPr sz="1900" dirty="0">
                <a:solidFill>
                  <a:schemeClr val="tx1"/>
                </a:solidFill>
                <a:latin typeface="+mj-lt"/>
              </a:rPr>
              <a:t>simple legal relators only; richer constructs such as the Liberty relator are out of scope.</a:t>
            </a:r>
          </a:p>
          <a:p>
            <a:pPr marL="0" indent="0">
              <a:spcBef>
                <a:spcPts val="600"/>
              </a:spcBef>
              <a:buNone/>
            </a:pPr>
            <a:r>
              <a:rPr sz="1900" b="1" dirty="0">
                <a:solidFill>
                  <a:schemeClr val="tx1"/>
                </a:solidFill>
                <a:latin typeface="+mj-lt"/>
              </a:rPr>
              <a:t>Next: </a:t>
            </a:r>
            <a:r>
              <a:rPr sz="1900" dirty="0">
                <a:solidFill>
                  <a:schemeClr val="tx1"/>
                </a:solidFill>
                <a:latin typeface="+mj-lt"/>
              </a:rPr>
              <a:t>conflicts in inherited policies (</a:t>
            </a:r>
            <a:r>
              <a:rPr sz="1900" dirty="0" err="1">
                <a:solidFill>
                  <a:schemeClr val="tx1"/>
                </a:solidFill>
                <a:latin typeface="+mj-lt"/>
              </a:rPr>
              <a:t>odrl:inheritFrom</a:t>
            </a:r>
            <a:r>
              <a:rPr sz="1900" dirty="0">
                <a:solidFill>
                  <a:schemeClr val="tx1"/>
                </a:solidFill>
                <a:latin typeface="+mj-lt"/>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8079" y="411480"/>
            <a:ext cx="4160520" cy="1005840"/>
          </a:xfrm>
          <a:prstGeom prst="rect">
            <a:avLst/>
          </a:prstGeom>
          <a:solidFill>
            <a:srgbClr val="FFFFFF"/>
          </a:solidFill>
          <a:ln>
            <a:noFill/>
          </a:ln>
        </p:spPr>
        <p:txBody>
          <a:bodyPr rtlCol="0" anchor="ctr"/>
          <a:lstStyle/>
          <a:p>
            <a:pPr algn="ctr"/>
            <a:endParaRPr/>
          </a:p>
        </p:txBody>
      </p:sp>
      <p:pic>
        <p:nvPicPr>
          <p:cNvPr id="3" name="Picture 2" descr="fit_compact.png"/>
          <p:cNvPicPr>
            <a:picLocks noChangeAspect="1"/>
          </p:cNvPicPr>
          <p:nvPr/>
        </p:nvPicPr>
        <p:blipFill>
          <a:blip r:embed="rId3"/>
          <a:stretch>
            <a:fillRect/>
          </a:stretch>
        </p:blipFill>
        <p:spPr>
          <a:xfrm>
            <a:off x="7653527" y="630936"/>
            <a:ext cx="2067019" cy="566928"/>
          </a:xfrm>
          <a:prstGeom prst="rect">
            <a:avLst/>
          </a:prstGeom>
        </p:spPr>
      </p:pic>
      <p:cxnSp>
        <p:nvCxnSpPr>
          <p:cNvPr id="4" name="Connector 3"/>
          <p:cNvCxnSpPr/>
          <p:nvPr/>
        </p:nvCxnSpPr>
        <p:spPr>
          <a:xfrm>
            <a:off x="9857232" y="603504"/>
            <a:ext cx="0" cy="621792"/>
          </a:xfrm>
          <a:prstGeom prst="line">
            <a:avLst/>
          </a:prstGeom>
          <a:ln w="12700">
            <a:solidFill>
              <a:srgbClr val="C8CED4"/>
            </a:solidFill>
          </a:ln>
        </p:spPr>
      </p:cxnSp>
      <p:pic>
        <p:nvPicPr>
          <p:cNvPr id="5" name="Picture 4" descr="rwth_clean.png"/>
          <p:cNvPicPr>
            <a:picLocks noChangeAspect="1"/>
          </p:cNvPicPr>
          <p:nvPr/>
        </p:nvPicPr>
        <p:blipFill>
          <a:blip r:embed="rId4"/>
          <a:stretch>
            <a:fillRect/>
          </a:stretch>
        </p:blipFill>
        <p:spPr>
          <a:xfrm>
            <a:off x="9994392" y="694944"/>
            <a:ext cx="1577888" cy="438912"/>
          </a:xfrm>
          <a:prstGeom prst="rect">
            <a:avLst/>
          </a:prstGeom>
        </p:spPr>
      </p:pic>
      <p:sp>
        <p:nvSpPr>
          <p:cNvPr id="6" name="TextBox 5"/>
          <p:cNvSpPr txBox="1"/>
          <p:nvPr/>
        </p:nvSpPr>
        <p:spPr>
          <a:xfrm>
            <a:off x="548640" y="2011680"/>
            <a:ext cx="11091672" cy="822960"/>
          </a:xfrm>
          <a:prstGeom prst="rect">
            <a:avLst/>
          </a:prstGeom>
          <a:noFill/>
        </p:spPr>
        <p:txBody>
          <a:bodyPr wrap="square" lIns="0" tIns="0" rIns="0" bIns="0" anchor="ctr">
            <a:noAutofit/>
          </a:bodyPr>
          <a:lstStyle/>
          <a:p>
            <a:pPr marL="0" indent="0" algn="ctr">
              <a:buNone/>
            </a:pPr>
            <a:r>
              <a:rPr sz="4000" b="1">
                <a:solidFill>
                  <a:srgbClr val="FFFFFF"/>
                </a:solidFill>
              </a:rPr>
              <a:t>Thank you. Questions?</a:t>
            </a:r>
          </a:p>
        </p:txBody>
      </p:sp>
      <p:sp>
        <p:nvSpPr>
          <p:cNvPr id="7" name="TextBox 6"/>
          <p:cNvSpPr txBox="1"/>
          <p:nvPr/>
        </p:nvSpPr>
        <p:spPr>
          <a:xfrm>
            <a:off x="2042558" y="3246120"/>
            <a:ext cx="6949440" cy="2194560"/>
          </a:xfrm>
          <a:prstGeom prst="rect">
            <a:avLst/>
          </a:prstGeom>
          <a:noFill/>
        </p:spPr>
        <p:txBody>
          <a:bodyPr wrap="square" lIns="0" tIns="0" rIns="0" bIns="0" anchor="t">
            <a:noAutofit/>
          </a:bodyPr>
          <a:lstStyle/>
          <a:p>
            <a:pPr marL="0" indent="0">
              <a:buNone/>
            </a:pPr>
            <a:r>
              <a:rPr sz="1900" b="1" dirty="0">
                <a:solidFill>
                  <a:srgbClr val="FFFFFF"/>
                </a:solidFill>
                <a:latin typeface="+mj-lt"/>
              </a:rPr>
              <a:t>Paper (extended, full proofs)   </a:t>
            </a:r>
            <a:r>
              <a:rPr sz="1900" dirty="0">
                <a:solidFill>
                  <a:srgbClr val="FFFFFF"/>
                </a:solidFill>
                <a:latin typeface="+mj-lt"/>
              </a:rPr>
              <a:t>arXiv:2606.24344</a:t>
            </a:r>
          </a:p>
          <a:p>
            <a:pPr marL="0" indent="0">
              <a:spcBef>
                <a:spcPts val="600"/>
              </a:spcBef>
              <a:buNone/>
            </a:pPr>
            <a:r>
              <a:rPr sz="1900" b="1" dirty="0">
                <a:solidFill>
                  <a:srgbClr val="FFFFFF"/>
                </a:solidFill>
                <a:latin typeface="+mj-lt"/>
              </a:rPr>
              <a:t>Benchmark and code   </a:t>
            </a:r>
            <a:r>
              <a:rPr sz="1900" dirty="0">
                <a:solidFill>
                  <a:srgbClr val="FFFFFF"/>
                </a:solidFill>
                <a:latin typeface="+mj-lt"/>
              </a:rPr>
              <a:t>github.com/Daham-Mustaf/</a:t>
            </a:r>
            <a:r>
              <a:rPr sz="1900" dirty="0" err="1">
                <a:solidFill>
                  <a:srgbClr val="FFFFFF"/>
                </a:solidFill>
                <a:latin typeface="+mj-lt"/>
              </a:rPr>
              <a:t>odrl</a:t>
            </a:r>
            <a:r>
              <a:rPr sz="1900" dirty="0">
                <a:solidFill>
                  <a:srgbClr val="FFFFFF"/>
                </a:solidFill>
                <a:latin typeface="+mj-lt"/>
              </a:rPr>
              <a:t>-</a:t>
            </a:r>
            <a:r>
              <a:rPr sz="1900" dirty="0" err="1">
                <a:solidFill>
                  <a:srgbClr val="FFFFFF"/>
                </a:solidFill>
                <a:latin typeface="+mj-lt"/>
              </a:rPr>
              <a:t>ufol</a:t>
            </a:r>
            <a:r>
              <a:rPr sz="1900" dirty="0">
                <a:solidFill>
                  <a:srgbClr val="FFFFFF"/>
                </a:solidFill>
                <a:latin typeface="+mj-lt"/>
              </a:rPr>
              <a:t>-grounding</a:t>
            </a:r>
          </a:p>
          <a:p>
            <a:pPr marL="0" indent="0">
              <a:spcBef>
                <a:spcPts val="600"/>
              </a:spcBef>
              <a:buNone/>
            </a:pPr>
            <a:r>
              <a:rPr sz="1900" b="1" dirty="0">
                <a:solidFill>
                  <a:srgbClr val="FFFFFF"/>
                </a:solidFill>
                <a:latin typeface="+mj-lt"/>
              </a:rPr>
              <a:t>Archive   </a:t>
            </a:r>
            <a:r>
              <a:rPr sz="1900" dirty="0">
                <a:solidFill>
                  <a:srgbClr val="FFFFFF"/>
                </a:solidFill>
                <a:latin typeface="+mj-lt"/>
              </a:rPr>
              <a:t>doi.org/10.5281/zenodo.21137996</a:t>
            </a:r>
          </a:p>
          <a:p>
            <a:pPr marL="0" indent="0">
              <a:spcBef>
                <a:spcPts val="600"/>
              </a:spcBef>
              <a:buNone/>
            </a:pPr>
            <a:r>
              <a:rPr sz="1900" b="1" dirty="0">
                <a:solidFill>
                  <a:srgbClr val="FFFFFF"/>
                </a:solidFill>
                <a:latin typeface="+mj-lt"/>
              </a:rPr>
              <a:t>ODRL Legal Profile   </a:t>
            </a:r>
            <a:r>
              <a:rPr sz="1900" dirty="0">
                <a:solidFill>
                  <a:srgbClr val="FFFFFF"/>
                </a:solidFill>
                <a:latin typeface="+mj-lt"/>
              </a:rPr>
              <a:t>w3id.org/</a:t>
            </a:r>
            <a:r>
              <a:rPr sz="1900" dirty="0" err="1">
                <a:solidFill>
                  <a:srgbClr val="FFFFFF"/>
                </a:solidFill>
                <a:latin typeface="+mj-lt"/>
              </a:rPr>
              <a:t>odrl</a:t>
            </a:r>
            <a:r>
              <a:rPr sz="1900" dirty="0">
                <a:solidFill>
                  <a:srgbClr val="FFFFFF"/>
                </a:solidFill>
                <a:latin typeface="+mj-lt"/>
              </a:rPr>
              <a:t>-legal/</a:t>
            </a:r>
          </a:p>
          <a:p>
            <a:pPr marL="0" indent="0">
              <a:spcBef>
                <a:spcPts val="600"/>
              </a:spcBef>
              <a:buNone/>
            </a:pPr>
            <a:r>
              <a:rPr sz="1900" b="1" dirty="0">
                <a:solidFill>
                  <a:srgbClr val="FFFFFF"/>
                </a:solidFill>
                <a:latin typeface="+mj-lt"/>
              </a:rPr>
              <a:t>Contact   </a:t>
            </a:r>
            <a:r>
              <a:rPr sz="1900" dirty="0">
                <a:solidFill>
                  <a:srgbClr val="FFFFFF"/>
                </a:solidFill>
                <a:latin typeface="+mj-lt"/>
              </a:rPr>
              <a:t>daham.mohammed.mustafa@fit.fraunhofer.de</a:t>
            </a:r>
          </a:p>
        </p:txBody>
      </p:sp>
      <p:pic>
        <p:nvPicPr>
          <p:cNvPr id="8" name="Graphic 7" descr="QR preview">
            <a:extLst>
              <a:ext uri="{FF2B5EF4-FFF2-40B4-BE49-F238E27FC236}">
                <a16:creationId xmlns:a16="http://schemas.microsoft.com/office/drawing/2014/main" id="{C39F670D-C035-01DF-8B6D-9C2C0B0D344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40849" y="2834639"/>
            <a:ext cx="1750612" cy="170754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Backup: founding axioms 5.1 to 5.5</a:t>
            </a:r>
          </a:p>
        </p:txBody>
      </p:sp>
      <p:sp>
        <p:nvSpPr>
          <p:cNvPr id="3" name="TextBox 2"/>
          <p:cNvSpPr txBox="1"/>
          <p:nvPr/>
        </p:nvSpPr>
        <p:spPr>
          <a:xfrm>
            <a:off x="548640" y="1325880"/>
            <a:ext cx="5364327" cy="4892040"/>
          </a:xfrm>
          <a:prstGeom prst="rect">
            <a:avLst/>
          </a:prstGeom>
          <a:noFill/>
        </p:spPr>
        <p:txBody>
          <a:bodyPr wrap="square" lIns="0" tIns="0" rIns="0" bIns="0" anchor="t">
            <a:noAutofit/>
          </a:bodyPr>
          <a:lstStyle/>
          <a:p>
            <a:pPr marL="0" indent="0">
              <a:spcBef>
                <a:spcPts val="0"/>
              </a:spcBef>
              <a:buNone/>
            </a:pPr>
            <a:r>
              <a:rPr sz="1300" b="1" dirty="0">
                <a:solidFill>
                  <a:srgbClr val="000000"/>
                </a:solidFill>
              </a:rPr>
              <a:t>Ax. 5.1  Permission relator (weak)</a:t>
            </a:r>
          </a:p>
          <a:p>
            <a:pPr marL="0" indent="0">
              <a:spcBef>
                <a:spcPts val="300"/>
              </a:spcBef>
              <a:buNone/>
            </a:pPr>
            <a:r>
              <a:rPr sz="1250" b="0" i="0" dirty="0">
                <a:solidFill>
                  <a:srgbClr val="000000"/>
                </a:solidFill>
                <a:latin typeface="Cambria Math"/>
              </a:rPr>
              <a:t>∀</a:t>
            </a:r>
            <a:r>
              <a:rPr sz="1250" b="0" i="1" dirty="0">
                <a:solidFill>
                  <a:srgbClr val="000000"/>
                </a:solidFill>
                <a:latin typeface="Cambria Math"/>
              </a:rPr>
              <a:t>p</a:t>
            </a:r>
            <a:r>
              <a:rPr sz="1250" b="0" i="0" dirty="0">
                <a:solidFill>
                  <a:srgbClr val="000000"/>
                </a:solidFill>
                <a:latin typeface="Cambria Math"/>
              </a:rPr>
              <a:t>, </a:t>
            </a:r>
            <a:r>
              <a:rPr sz="1250" b="0" i="1" dirty="0">
                <a:solidFill>
                  <a:srgbClr val="000000"/>
                </a:solidFill>
                <a:latin typeface="Cambria Math"/>
              </a:rPr>
              <a:t>x</a:t>
            </a:r>
            <a:r>
              <a:rPr sz="1250" b="0" i="0" dirty="0">
                <a:solidFill>
                  <a:srgbClr val="000000"/>
                </a:solidFill>
                <a:latin typeface="Cambria Math"/>
              </a:rPr>
              <a:t>, </a:t>
            </a:r>
            <a:r>
              <a:rPr sz="1250" b="0" i="1" dirty="0">
                <a:solidFill>
                  <a:srgbClr val="000000"/>
                </a:solidFill>
                <a:latin typeface="Cambria Math"/>
              </a:rPr>
              <a:t>y</a:t>
            </a:r>
            <a:r>
              <a:rPr sz="1250" b="0" i="0" dirty="0">
                <a:solidFill>
                  <a:srgbClr val="000000"/>
                </a:solidFill>
                <a:latin typeface="Cambria Math"/>
              </a:rPr>
              <a:t>, </a:t>
            </a:r>
            <a:r>
              <a:rPr sz="1250" b="0" i="1" dirty="0">
                <a:solidFill>
                  <a:srgbClr val="000000"/>
                </a:solidFill>
                <a:latin typeface="Cambria Math"/>
              </a:rPr>
              <a:t>a</a:t>
            </a:r>
            <a:r>
              <a:rPr sz="1250" b="0" i="0" dirty="0">
                <a:solidFill>
                  <a:srgbClr val="000000"/>
                </a:solidFill>
                <a:latin typeface="Cambria Math"/>
              </a:rPr>
              <a:t>, </a:t>
            </a:r>
            <a:r>
              <a:rPr sz="1250" b="0" i="1" dirty="0">
                <a:solidFill>
                  <a:srgbClr val="000000"/>
                </a:solidFill>
                <a:latin typeface="Cambria Math"/>
              </a:rPr>
              <a:t>t</a:t>
            </a:r>
            <a:r>
              <a:rPr sz="1250" b="0" i="0" dirty="0">
                <a:solidFill>
                  <a:srgbClr val="000000"/>
                </a:solidFill>
                <a:latin typeface="Cambria Math"/>
              </a:rPr>
              <a:t>, </a:t>
            </a:r>
            <a:r>
              <a:rPr sz="1250" b="0" i="1" dirty="0">
                <a:solidFill>
                  <a:srgbClr val="000000"/>
                </a:solidFill>
                <a:latin typeface="Cambria Math"/>
              </a:rPr>
              <a:t>e</a:t>
            </a:r>
            <a:r>
              <a:rPr sz="1250" b="0" i="0" dirty="0">
                <a:solidFill>
                  <a:srgbClr val="000000"/>
                </a:solidFill>
                <a:latin typeface="Cambria Math"/>
              </a:rPr>
              <a:t>. </a:t>
            </a:r>
            <a:r>
              <a:rPr sz="1250" b="0" i="1" dirty="0">
                <a:solidFill>
                  <a:srgbClr val="000000"/>
                </a:solidFill>
                <a:latin typeface="Cambria Math"/>
              </a:rPr>
              <a:t>P</a:t>
            </a:r>
            <a:r>
              <a:rPr sz="1250" b="0" i="0" dirty="0">
                <a:solidFill>
                  <a:srgbClr val="000000"/>
                </a:solidFill>
                <a:latin typeface="Cambria Math"/>
              </a:rPr>
              <a:t>(</a:t>
            </a:r>
            <a:r>
              <a:rPr sz="1250" b="0" i="1" dirty="0">
                <a:solidFill>
                  <a:srgbClr val="000000"/>
                </a:solidFill>
                <a:latin typeface="Cambria Math"/>
              </a:rPr>
              <a:t>p</a:t>
            </a:r>
            <a:r>
              <a:rPr sz="1250" b="0" i="0" dirty="0">
                <a:solidFill>
                  <a:srgbClr val="000000"/>
                </a:solidFill>
                <a:latin typeface="Cambria Math"/>
              </a:rPr>
              <a:t>) ∧ </a:t>
            </a:r>
            <a:r>
              <a:rPr sz="1250" b="0" i="0" dirty="0" err="1">
                <a:solidFill>
                  <a:srgbClr val="000000"/>
                </a:solidFill>
                <a:latin typeface="Cambria Math"/>
              </a:rPr>
              <a:t>aee</a:t>
            </a:r>
            <a:r>
              <a:rPr sz="1250" b="0" i="0" dirty="0">
                <a:solidFill>
                  <a:srgbClr val="000000"/>
                </a:solidFill>
                <a:latin typeface="Cambria Math"/>
              </a:rPr>
              <a:t>(</a:t>
            </a:r>
            <a:r>
              <a:rPr sz="1250" b="0" i="1" dirty="0">
                <a:solidFill>
                  <a:srgbClr val="000000"/>
                </a:solidFill>
                <a:latin typeface="Cambria Math"/>
              </a:rPr>
              <a:t>p</a:t>
            </a:r>
            <a:r>
              <a:rPr sz="1250" b="0" i="0" dirty="0">
                <a:solidFill>
                  <a:srgbClr val="000000"/>
                </a:solidFill>
                <a:latin typeface="Cambria Math"/>
              </a:rPr>
              <a:t>, </a:t>
            </a:r>
            <a:r>
              <a:rPr sz="1250" b="0" i="1" dirty="0">
                <a:solidFill>
                  <a:srgbClr val="000000"/>
                </a:solidFill>
                <a:latin typeface="Cambria Math"/>
              </a:rPr>
              <a:t>x</a:t>
            </a:r>
            <a:r>
              <a:rPr sz="1250" b="0" i="0" dirty="0">
                <a:solidFill>
                  <a:srgbClr val="000000"/>
                </a:solidFill>
                <a:latin typeface="Cambria Math"/>
              </a:rPr>
              <a:t>) ∧ </a:t>
            </a:r>
            <a:r>
              <a:rPr sz="1250" b="0" i="0" dirty="0" err="1">
                <a:solidFill>
                  <a:srgbClr val="000000"/>
                </a:solidFill>
                <a:latin typeface="Cambria Math"/>
              </a:rPr>
              <a:t>aer</a:t>
            </a:r>
            <a:r>
              <a:rPr sz="1250" b="0" i="0" dirty="0">
                <a:solidFill>
                  <a:srgbClr val="000000"/>
                </a:solidFill>
                <a:latin typeface="Cambria Math"/>
              </a:rPr>
              <a:t>(</a:t>
            </a:r>
            <a:r>
              <a:rPr sz="1250" b="0" i="1" dirty="0">
                <a:solidFill>
                  <a:srgbClr val="000000"/>
                </a:solidFill>
                <a:latin typeface="Cambria Math"/>
              </a:rPr>
              <a:t>p</a:t>
            </a:r>
            <a:r>
              <a:rPr sz="1250" b="0" i="0" dirty="0">
                <a:solidFill>
                  <a:srgbClr val="000000"/>
                </a:solidFill>
                <a:latin typeface="Cambria Math"/>
              </a:rPr>
              <a:t>, </a:t>
            </a:r>
            <a:r>
              <a:rPr sz="1250" b="0" i="1" dirty="0">
                <a:solidFill>
                  <a:srgbClr val="000000"/>
                </a:solidFill>
                <a:latin typeface="Cambria Math"/>
              </a:rPr>
              <a:t>y</a:t>
            </a:r>
            <a:r>
              <a:rPr sz="1250" b="0" i="0" dirty="0">
                <a:solidFill>
                  <a:srgbClr val="000000"/>
                </a:solidFill>
                <a:latin typeface="Cambria Math"/>
              </a:rPr>
              <a:t>) ∧ act(</a:t>
            </a:r>
            <a:r>
              <a:rPr sz="1250" b="0" i="1" dirty="0">
                <a:solidFill>
                  <a:srgbClr val="000000"/>
                </a:solidFill>
                <a:latin typeface="Cambria Math"/>
              </a:rPr>
              <a:t>p</a:t>
            </a:r>
            <a:r>
              <a:rPr sz="1250" b="0" i="0" dirty="0">
                <a:solidFill>
                  <a:srgbClr val="000000"/>
                </a:solidFill>
                <a:latin typeface="Cambria Math"/>
              </a:rPr>
              <a:t>, </a:t>
            </a:r>
            <a:r>
              <a:rPr sz="1250" b="0" i="1" dirty="0">
                <a:solidFill>
                  <a:srgbClr val="000000"/>
                </a:solidFill>
                <a:latin typeface="Cambria Math"/>
              </a:rPr>
              <a:t>a</a:t>
            </a:r>
            <a:r>
              <a:rPr sz="1250" b="0" i="0" dirty="0">
                <a:solidFill>
                  <a:srgbClr val="000000"/>
                </a:solidFill>
                <a:latin typeface="Cambria Math"/>
              </a:rPr>
              <a:t>)</a:t>
            </a:r>
          </a:p>
          <a:p>
            <a:pPr marL="0" indent="0">
              <a:spcBef>
                <a:spcPts val="100"/>
              </a:spcBef>
              <a:buNone/>
            </a:pPr>
            <a:r>
              <a:rPr sz="1250" b="0" i="0" dirty="0">
                <a:solidFill>
                  <a:srgbClr val="000000"/>
                </a:solidFill>
                <a:latin typeface="Cambria Math"/>
              </a:rPr>
              <a:t>   ∧ </a:t>
            </a:r>
            <a:r>
              <a:rPr sz="1250" b="0" i="0" dirty="0" err="1">
                <a:solidFill>
                  <a:srgbClr val="000000"/>
                </a:solidFill>
                <a:latin typeface="Cambria Math"/>
              </a:rPr>
              <a:t>tgt</a:t>
            </a:r>
            <a:r>
              <a:rPr sz="1250" b="0" i="0" dirty="0">
                <a:solidFill>
                  <a:srgbClr val="000000"/>
                </a:solidFill>
                <a:latin typeface="Cambria Math"/>
              </a:rPr>
              <a:t>(</a:t>
            </a:r>
            <a:r>
              <a:rPr sz="1250" b="0" i="1" dirty="0">
                <a:solidFill>
                  <a:srgbClr val="000000"/>
                </a:solidFill>
                <a:latin typeface="Cambria Math"/>
              </a:rPr>
              <a:t>p</a:t>
            </a:r>
            <a:r>
              <a:rPr sz="1250" b="0" i="0" dirty="0">
                <a:solidFill>
                  <a:srgbClr val="000000"/>
                </a:solidFill>
                <a:latin typeface="Cambria Math"/>
              </a:rPr>
              <a:t>, </a:t>
            </a:r>
            <a:r>
              <a:rPr sz="1250" b="0" i="1" dirty="0">
                <a:solidFill>
                  <a:srgbClr val="000000"/>
                </a:solidFill>
                <a:latin typeface="Cambria Math"/>
              </a:rPr>
              <a:t>t</a:t>
            </a:r>
            <a:r>
              <a:rPr sz="1250" b="0" i="0" dirty="0">
                <a:solidFill>
                  <a:srgbClr val="000000"/>
                </a:solidFill>
                <a:latin typeface="Cambria Math"/>
              </a:rPr>
              <a:t>) ∧ activates(</a:t>
            </a:r>
            <a:r>
              <a:rPr sz="1250" b="0" i="1" dirty="0">
                <a:solidFill>
                  <a:srgbClr val="000000"/>
                </a:solidFill>
                <a:latin typeface="Cambria Math"/>
              </a:rPr>
              <a:t>e</a:t>
            </a:r>
            <a:r>
              <a:rPr sz="1250" b="0" i="0" dirty="0">
                <a:solidFill>
                  <a:srgbClr val="000000"/>
                </a:solidFill>
                <a:latin typeface="Cambria Math"/>
              </a:rPr>
              <a:t>, </a:t>
            </a:r>
            <a:r>
              <a:rPr sz="1250" b="0" i="1" dirty="0">
                <a:solidFill>
                  <a:srgbClr val="000000"/>
                </a:solidFill>
                <a:latin typeface="Cambria Math"/>
              </a:rPr>
              <a:t>p</a:t>
            </a:r>
            <a:r>
              <a:rPr sz="1250" b="0" i="0" dirty="0">
                <a:solidFill>
                  <a:srgbClr val="000000"/>
                </a:solidFill>
                <a:latin typeface="Cambria Math"/>
              </a:rPr>
              <a:t>) → ∃</a:t>
            </a:r>
            <a:r>
              <a:rPr sz="1250" b="0" i="1" dirty="0" err="1">
                <a:solidFill>
                  <a:srgbClr val="000000"/>
                </a:solidFill>
                <a:latin typeface="Cambria Math"/>
              </a:rPr>
              <a:t>ρ</a:t>
            </a:r>
            <a:r>
              <a:rPr sz="1250" b="0" i="0" baseline="-25000" dirty="0" err="1">
                <a:solidFill>
                  <a:srgbClr val="000000"/>
                </a:solidFill>
                <a:latin typeface="Cambria Math"/>
              </a:rPr>
              <a:t>P</a:t>
            </a:r>
            <a:r>
              <a:rPr sz="1250" b="0" i="0" dirty="0">
                <a:solidFill>
                  <a:srgbClr val="000000"/>
                </a:solidFill>
                <a:latin typeface="Cambria Math"/>
              </a:rPr>
              <a:t>, </a:t>
            </a:r>
            <a:r>
              <a:rPr sz="1250" b="0" i="1" dirty="0">
                <a:solidFill>
                  <a:srgbClr val="000000"/>
                </a:solidFill>
                <a:latin typeface="Cambria Math"/>
              </a:rPr>
              <a:t>l</a:t>
            </a:r>
            <a:r>
              <a:rPr sz="1250" b="0" i="0" dirty="0">
                <a:solidFill>
                  <a:srgbClr val="000000"/>
                </a:solidFill>
                <a:latin typeface="Cambria Math"/>
              </a:rPr>
              <a:t>, </a:t>
            </a:r>
            <a:r>
              <a:rPr sz="1250" b="0" i="1" dirty="0">
                <a:solidFill>
                  <a:srgbClr val="000000"/>
                </a:solidFill>
                <a:latin typeface="Cambria Math"/>
              </a:rPr>
              <a:t>n</a:t>
            </a:r>
            <a:r>
              <a:rPr sz="1250" b="0" i="0" dirty="0">
                <a:solidFill>
                  <a:srgbClr val="000000"/>
                </a:solidFill>
                <a:latin typeface="Cambria Math"/>
              </a:rPr>
              <a:t>. Rel(</a:t>
            </a:r>
            <a:r>
              <a:rPr sz="1250" b="0" i="1" dirty="0" err="1">
                <a:solidFill>
                  <a:srgbClr val="000000"/>
                </a:solidFill>
                <a:latin typeface="Cambria Math"/>
              </a:rPr>
              <a:t>ρ</a:t>
            </a:r>
            <a:r>
              <a:rPr sz="1250" b="0" i="0" baseline="-25000" dirty="0" err="1">
                <a:solidFill>
                  <a:srgbClr val="000000"/>
                </a:solidFill>
                <a:latin typeface="Cambria Math"/>
              </a:rPr>
              <a:t>P</a:t>
            </a:r>
            <a:r>
              <a:rPr sz="1250" b="0" i="0" dirty="0">
                <a:solidFill>
                  <a:srgbClr val="000000"/>
                </a:solidFill>
                <a:latin typeface="Cambria Math"/>
              </a:rPr>
              <a:t>)</a:t>
            </a:r>
          </a:p>
          <a:p>
            <a:pPr marL="0" indent="0">
              <a:spcBef>
                <a:spcPts val="100"/>
              </a:spcBef>
              <a:buNone/>
            </a:pPr>
            <a:r>
              <a:rPr sz="1250" b="0" i="0" dirty="0">
                <a:solidFill>
                  <a:srgbClr val="000000"/>
                </a:solidFill>
                <a:latin typeface="Cambria Math"/>
              </a:rPr>
              <a:t>   ∧ founds(</a:t>
            </a:r>
            <a:r>
              <a:rPr sz="1250" b="0" i="1" dirty="0">
                <a:solidFill>
                  <a:srgbClr val="000000"/>
                </a:solidFill>
                <a:latin typeface="Cambria Math"/>
              </a:rPr>
              <a:t>e</a:t>
            </a:r>
            <a:r>
              <a:rPr sz="1250" b="0" i="0" dirty="0">
                <a:solidFill>
                  <a:srgbClr val="000000"/>
                </a:solidFill>
                <a:latin typeface="Cambria Math"/>
              </a:rPr>
              <a:t>, </a:t>
            </a:r>
            <a:r>
              <a:rPr sz="1250" b="0" i="1" dirty="0" err="1">
                <a:solidFill>
                  <a:srgbClr val="000000"/>
                </a:solidFill>
                <a:latin typeface="Cambria Math"/>
              </a:rPr>
              <a:t>ρ</a:t>
            </a:r>
            <a:r>
              <a:rPr sz="1250" b="0" i="0" baseline="-25000" dirty="0" err="1">
                <a:solidFill>
                  <a:srgbClr val="000000"/>
                </a:solidFill>
                <a:latin typeface="Cambria Math"/>
              </a:rPr>
              <a:t>P</a:t>
            </a:r>
            <a:r>
              <a:rPr sz="1250" b="0" i="0" dirty="0">
                <a:solidFill>
                  <a:srgbClr val="000000"/>
                </a:solidFill>
                <a:latin typeface="Cambria Math"/>
              </a:rPr>
              <a:t>, </a:t>
            </a:r>
            <a:r>
              <a:rPr sz="1250" b="0" i="1" dirty="0">
                <a:solidFill>
                  <a:srgbClr val="000000"/>
                </a:solidFill>
                <a:latin typeface="Cambria Math"/>
              </a:rPr>
              <a:t>p</a:t>
            </a:r>
            <a:r>
              <a:rPr sz="1250" b="0" i="0" dirty="0">
                <a:solidFill>
                  <a:srgbClr val="000000"/>
                </a:solidFill>
                <a:latin typeface="Cambria Math"/>
              </a:rPr>
              <a:t>) ∧ </a:t>
            </a:r>
            <a:r>
              <a:rPr sz="1250" b="0" i="0" dirty="0">
                <a:solidFill>
                  <a:srgbClr val="137A62"/>
                </a:solidFill>
                <a:latin typeface="Cambria Math"/>
              </a:rPr>
              <a:t>Permission</a:t>
            </a:r>
            <a:r>
              <a:rPr sz="1250" b="0" i="0" dirty="0">
                <a:solidFill>
                  <a:srgbClr val="000000"/>
                </a:solidFill>
                <a:latin typeface="Cambria Math"/>
              </a:rPr>
              <a:t>(</a:t>
            </a:r>
            <a:r>
              <a:rPr sz="1250" b="0" i="1" dirty="0">
                <a:solidFill>
                  <a:srgbClr val="000000"/>
                </a:solidFill>
                <a:latin typeface="Cambria Math"/>
              </a:rPr>
              <a:t>l</a:t>
            </a:r>
            <a:r>
              <a:rPr sz="1250" b="0" i="0" dirty="0">
                <a:solidFill>
                  <a:srgbClr val="000000"/>
                </a:solidFill>
                <a:latin typeface="Cambria Math"/>
              </a:rPr>
              <a:t>) ∧ bearer(</a:t>
            </a:r>
            <a:r>
              <a:rPr sz="1250" b="0" i="1" dirty="0">
                <a:solidFill>
                  <a:srgbClr val="000000"/>
                </a:solidFill>
                <a:latin typeface="Cambria Math"/>
              </a:rPr>
              <a:t>l</a:t>
            </a:r>
            <a:r>
              <a:rPr sz="1250" b="0" i="0" dirty="0">
                <a:solidFill>
                  <a:srgbClr val="000000"/>
                </a:solidFill>
                <a:latin typeface="Cambria Math"/>
              </a:rPr>
              <a:t>, </a:t>
            </a:r>
            <a:r>
              <a:rPr sz="1250" b="0" i="1" dirty="0">
                <a:solidFill>
                  <a:srgbClr val="000000"/>
                </a:solidFill>
                <a:latin typeface="Cambria Math"/>
              </a:rPr>
              <a:t>x</a:t>
            </a:r>
            <a:r>
              <a:rPr sz="1250" b="0" i="0" dirty="0">
                <a:solidFill>
                  <a:srgbClr val="000000"/>
                </a:solidFill>
                <a:latin typeface="Cambria Math"/>
              </a:rPr>
              <a:t>)</a:t>
            </a:r>
          </a:p>
          <a:p>
            <a:pPr marL="0" indent="0">
              <a:spcBef>
                <a:spcPts val="100"/>
              </a:spcBef>
              <a:buNone/>
            </a:pPr>
            <a:r>
              <a:rPr sz="1250" b="0" i="0" dirty="0">
                <a:solidFill>
                  <a:srgbClr val="000000"/>
                </a:solidFill>
                <a:latin typeface="Cambria Math"/>
              </a:rPr>
              <a:t>   ∧ </a:t>
            </a:r>
            <a:r>
              <a:rPr sz="1250" b="0" i="0" dirty="0" err="1">
                <a:solidFill>
                  <a:srgbClr val="000000"/>
                </a:solidFill>
                <a:latin typeface="Cambria Math"/>
              </a:rPr>
              <a:t>cnt</a:t>
            </a:r>
            <a:r>
              <a:rPr sz="1250" b="0" i="0" dirty="0">
                <a:solidFill>
                  <a:srgbClr val="000000"/>
                </a:solidFill>
                <a:latin typeface="Cambria Math"/>
              </a:rPr>
              <a:t>(</a:t>
            </a:r>
            <a:r>
              <a:rPr sz="1250" b="0" i="1" dirty="0">
                <a:solidFill>
                  <a:srgbClr val="000000"/>
                </a:solidFill>
                <a:latin typeface="Cambria Math"/>
              </a:rPr>
              <a:t>l</a:t>
            </a:r>
            <a:r>
              <a:rPr sz="1250" b="0" i="0" dirty="0">
                <a:solidFill>
                  <a:srgbClr val="000000"/>
                </a:solidFill>
                <a:latin typeface="Cambria Math"/>
              </a:rPr>
              <a:t>, </a:t>
            </a:r>
            <a:r>
              <a:rPr sz="1250" b="0" i="1" dirty="0">
                <a:solidFill>
                  <a:srgbClr val="000000"/>
                </a:solidFill>
                <a:latin typeface="Cambria Math"/>
              </a:rPr>
              <a:t>a</a:t>
            </a:r>
            <a:r>
              <a:rPr sz="1250" b="0" i="0" dirty="0">
                <a:solidFill>
                  <a:srgbClr val="000000"/>
                </a:solidFill>
                <a:latin typeface="Cambria Math"/>
              </a:rPr>
              <a:t>, </a:t>
            </a:r>
            <a:r>
              <a:rPr sz="1250" b="0" i="1" dirty="0">
                <a:solidFill>
                  <a:srgbClr val="000000"/>
                </a:solidFill>
                <a:latin typeface="Cambria Math"/>
              </a:rPr>
              <a:t>t</a:t>
            </a:r>
            <a:r>
              <a:rPr sz="1250" b="0" i="0" dirty="0">
                <a:solidFill>
                  <a:srgbClr val="000000"/>
                </a:solidFill>
                <a:latin typeface="Cambria Math"/>
              </a:rPr>
              <a:t>) ∧ </a:t>
            </a:r>
            <a:r>
              <a:rPr sz="1250" b="0" i="0" dirty="0" err="1">
                <a:solidFill>
                  <a:srgbClr val="000000"/>
                </a:solidFill>
                <a:latin typeface="Cambria Math"/>
              </a:rPr>
              <a:t>partOf</a:t>
            </a:r>
            <a:r>
              <a:rPr sz="1250" b="0" i="0" dirty="0">
                <a:solidFill>
                  <a:srgbClr val="000000"/>
                </a:solidFill>
                <a:latin typeface="Cambria Math"/>
              </a:rPr>
              <a:t>(</a:t>
            </a:r>
            <a:r>
              <a:rPr sz="1250" b="0" i="1" dirty="0">
                <a:solidFill>
                  <a:srgbClr val="000000"/>
                </a:solidFill>
                <a:latin typeface="Cambria Math"/>
              </a:rPr>
              <a:t>l</a:t>
            </a:r>
            <a:r>
              <a:rPr sz="1250" b="0" i="0" dirty="0">
                <a:solidFill>
                  <a:srgbClr val="000000"/>
                </a:solidFill>
                <a:latin typeface="Cambria Math"/>
              </a:rPr>
              <a:t>, </a:t>
            </a:r>
            <a:r>
              <a:rPr sz="1250" b="0" i="1" dirty="0" err="1">
                <a:solidFill>
                  <a:srgbClr val="000000"/>
                </a:solidFill>
                <a:latin typeface="Cambria Math"/>
              </a:rPr>
              <a:t>ρ</a:t>
            </a:r>
            <a:r>
              <a:rPr sz="1250" b="0" i="0" baseline="-25000" dirty="0" err="1">
                <a:solidFill>
                  <a:srgbClr val="000000"/>
                </a:solidFill>
                <a:latin typeface="Cambria Math"/>
              </a:rPr>
              <a:t>P</a:t>
            </a:r>
            <a:r>
              <a:rPr sz="1250" b="0" i="0" dirty="0">
                <a:solidFill>
                  <a:srgbClr val="000000"/>
                </a:solidFill>
                <a:latin typeface="Cambria Math"/>
              </a:rPr>
              <a:t>) ∧ </a:t>
            </a:r>
            <a:r>
              <a:rPr sz="1250" b="0" i="0" dirty="0" err="1">
                <a:solidFill>
                  <a:srgbClr val="137A62"/>
                </a:solidFill>
                <a:latin typeface="Cambria Math"/>
              </a:rPr>
              <a:t>NoRight</a:t>
            </a:r>
            <a:r>
              <a:rPr sz="1250" b="0" i="0" dirty="0">
                <a:solidFill>
                  <a:srgbClr val="000000"/>
                </a:solidFill>
                <a:latin typeface="Cambria Math"/>
              </a:rPr>
              <a:t>(</a:t>
            </a:r>
            <a:r>
              <a:rPr sz="1250" b="0" i="1" dirty="0">
                <a:solidFill>
                  <a:srgbClr val="000000"/>
                </a:solidFill>
                <a:latin typeface="Cambria Math"/>
              </a:rPr>
              <a:t>n</a:t>
            </a:r>
            <a:r>
              <a:rPr sz="1250" b="0" i="0" dirty="0">
                <a:solidFill>
                  <a:srgbClr val="000000"/>
                </a:solidFill>
                <a:latin typeface="Cambria Math"/>
              </a:rPr>
              <a:t>) ∧ bearer(</a:t>
            </a:r>
            <a:r>
              <a:rPr sz="1250" b="0" i="1" dirty="0">
                <a:solidFill>
                  <a:srgbClr val="000000"/>
                </a:solidFill>
                <a:latin typeface="Cambria Math"/>
              </a:rPr>
              <a:t>n</a:t>
            </a:r>
            <a:r>
              <a:rPr sz="1250" b="0" i="0" dirty="0">
                <a:solidFill>
                  <a:srgbClr val="000000"/>
                </a:solidFill>
                <a:latin typeface="Cambria Math"/>
              </a:rPr>
              <a:t>, </a:t>
            </a:r>
            <a:r>
              <a:rPr sz="1250" b="0" i="1" dirty="0">
                <a:solidFill>
                  <a:srgbClr val="000000"/>
                </a:solidFill>
                <a:latin typeface="Cambria Math"/>
              </a:rPr>
              <a:t>y</a:t>
            </a:r>
            <a:r>
              <a:rPr sz="1250" b="0" i="0" dirty="0">
                <a:solidFill>
                  <a:srgbClr val="000000"/>
                </a:solidFill>
                <a:latin typeface="Cambria Math"/>
              </a:rPr>
              <a:t>)</a:t>
            </a:r>
          </a:p>
          <a:p>
            <a:pPr marL="0" indent="0">
              <a:spcBef>
                <a:spcPts val="100"/>
              </a:spcBef>
              <a:buNone/>
            </a:pPr>
            <a:r>
              <a:rPr sz="1250" b="0" i="0" dirty="0">
                <a:solidFill>
                  <a:srgbClr val="000000"/>
                </a:solidFill>
                <a:latin typeface="Cambria Math"/>
              </a:rPr>
              <a:t>   ∧ </a:t>
            </a:r>
            <a:r>
              <a:rPr sz="1250" b="0" i="0" dirty="0" err="1">
                <a:solidFill>
                  <a:srgbClr val="000000"/>
                </a:solidFill>
                <a:latin typeface="Cambria Math"/>
              </a:rPr>
              <a:t>cnt</a:t>
            </a:r>
            <a:r>
              <a:rPr sz="1250" b="0" i="0" dirty="0">
                <a:solidFill>
                  <a:srgbClr val="000000"/>
                </a:solidFill>
                <a:latin typeface="Cambria Math"/>
              </a:rPr>
              <a:t>(</a:t>
            </a:r>
            <a:r>
              <a:rPr sz="1250" b="0" i="1" dirty="0">
                <a:solidFill>
                  <a:srgbClr val="000000"/>
                </a:solidFill>
                <a:latin typeface="Cambria Math"/>
              </a:rPr>
              <a:t>n</a:t>
            </a:r>
            <a:r>
              <a:rPr sz="1250" b="0" i="0" dirty="0">
                <a:solidFill>
                  <a:srgbClr val="000000"/>
                </a:solidFill>
                <a:latin typeface="Cambria Math"/>
              </a:rPr>
              <a:t>, </a:t>
            </a:r>
            <a:r>
              <a:rPr sz="1250" b="0" i="1" dirty="0">
                <a:solidFill>
                  <a:srgbClr val="000000"/>
                </a:solidFill>
                <a:latin typeface="Cambria Math"/>
              </a:rPr>
              <a:t>a</a:t>
            </a:r>
            <a:r>
              <a:rPr sz="1250" b="0" i="0" dirty="0">
                <a:solidFill>
                  <a:srgbClr val="000000"/>
                </a:solidFill>
                <a:latin typeface="Cambria Math"/>
              </a:rPr>
              <a:t>, </a:t>
            </a:r>
            <a:r>
              <a:rPr sz="1250" b="0" i="1" dirty="0">
                <a:solidFill>
                  <a:srgbClr val="000000"/>
                </a:solidFill>
                <a:latin typeface="Cambria Math"/>
              </a:rPr>
              <a:t>t</a:t>
            </a:r>
            <a:r>
              <a:rPr sz="1250" b="0" i="0" dirty="0">
                <a:solidFill>
                  <a:srgbClr val="000000"/>
                </a:solidFill>
                <a:latin typeface="Cambria Math"/>
              </a:rPr>
              <a:t>) ∧ </a:t>
            </a:r>
            <a:r>
              <a:rPr sz="1250" b="0" i="0" dirty="0" err="1">
                <a:solidFill>
                  <a:srgbClr val="000000"/>
                </a:solidFill>
                <a:latin typeface="Cambria Math"/>
              </a:rPr>
              <a:t>partOf</a:t>
            </a:r>
            <a:r>
              <a:rPr sz="1250" b="0" i="0" dirty="0">
                <a:solidFill>
                  <a:srgbClr val="000000"/>
                </a:solidFill>
                <a:latin typeface="Cambria Math"/>
              </a:rPr>
              <a:t>(</a:t>
            </a:r>
            <a:r>
              <a:rPr sz="1250" b="0" i="1" dirty="0">
                <a:solidFill>
                  <a:srgbClr val="000000"/>
                </a:solidFill>
                <a:latin typeface="Cambria Math"/>
              </a:rPr>
              <a:t>n</a:t>
            </a:r>
            <a:r>
              <a:rPr sz="1250" b="0" i="0" dirty="0">
                <a:solidFill>
                  <a:srgbClr val="000000"/>
                </a:solidFill>
                <a:latin typeface="Cambria Math"/>
              </a:rPr>
              <a:t>, </a:t>
            </a:r>
            <a:r>
              <a:rPr sz="1250" b="0" i="1" dirty="0" err="1">
                <a:solidFill>
                  <a:srgbClr val="000000"/>
                </a:solidFill>
                <a:latin typeface="Cambria Math"/>
              </a:rPr>
              <a:t>ρ</a:t>
            </a:r>
            <a:r>
              <a:rPr sz="1250" b="0" i="0" baseline="-25000" dirty="0" err="1">
                <a:solidFill>
                  <a:srgbClr val="000000"/>
                </a:solidFill>
                <a:latin typeface="Cambria Math"/>
              </a:rPr>
              <a:t>P</a:t>
            </a:r>
            <a:r>
              <a:rPr sz="1250" b="0" i="0" dirty="0">
                <a:solidFill>
                  <a:srgbClr val="000000"/>
                </a:solidFill>
                <a:latin typeface="Cambria Math"/>
              </a:rPr>
              <a:t>)</a:t>
            </a:r>
          </a:p>
          <a:p>
            <a:pPr marL="0" indent="0">
              <a:spcBef>
                <a:spcPts val="1200"/>
              </a:spcBef>
              <a:buNone/>
            </a:pPr>
            <a:r>
              <a:rPr sz="1300" b="1" dirty="0">
                <a:solidFill>
                  <a:srgbClr val="000000"/>
                </a:solidFill>
              </a:rPr>
              <a:t>Ax. 5.2  Permission relator (strong)</a:t>
            </a:r>
          </a:p>
          <a:p>
            <a:pPr marL="0" indent="0">
              <a:spcBef>
                <a:spcPts val="300"/>
              </a:spcBef>
              <a:buNone/>
            </a:pPr>
            <a:r>
              <a:rPr sz="1250" b="0" i="0" dirty="0">
                <a:solidFill>
                  <a:srgbClr val="000000"/>
                </a:solidFill>
                <a:latin typeface="Cambria Math"/>
              </a:rPr>
              <a:t>∀</a:t>
            </a:r>
            <a:r>
              <a:rPr sz="1250" b="0" i="1" dirty="0">
                <a:solidFill>
                  <a:srgbClr val="000000"/>
                </a:solidFill>
                <a:latin typeface="Cambria Math"/>
              </a:rPr>
              <a:t>p</a:t>
            </a:r>
            <a:r>
              <a:rPr sz="1250" b="0" i="0" dirty="0">
                <a:solidFill>
                  <a:srgbClr val="000000"/>
                </a:solidFill>
                <a:latin typeface="Cambria Math"/>
              </a:rPr>
              <a:t>, </a:t>
            </a:r>
            <a:r>
              <a:rPr sz="1250" b="0" i="1" dirty="0">
                <a:solidFill>
                  <a:srgbClr val="000000"/>
                </a:solidFill>
                <a:latin typeface="Cambria Math"/>
              </a:rPr>
              <a:t>x</a:t>
            </a:r>
            <a:r>
              <a:rPr sz="1250" b="0" i="0" dirty="0">
                <a:solidFill>
                  <a:srgbClr val="000000"/>
                </a:solidFill>
                <a:latin typeface="Cambria Math"/>
              </a:rPr>
              <a:t>, </a:t>
            </a:r>
            <a:r>
              <a:rPr sz="1250" b="0" i="1" dirty="0">
                <a:solidFill>
                  <a:srgbClr val="000000"/>
                </a:solidFill>
                <a:latin typeface="Cambria Math"/>
              </a:rPr>
              <a:t>y</a:t>
            </a:r>
            <a:r>
              <a:rPr sz="1250" b="0" i="0" dirty="0">
                <a:solidFill>
                  <a:srgbClr val="000000"/>
                </a:solidFill>
                <a:latin typeface="Cambria Math"/>
              </a:rPr>
              <a:t>, </a:t>
            </a:r>
            <a:r>
              <a:rPr sz="1250" b="0" i="1" dirty="0">
                <a:solidFill>
                  <a:srgbClr val="000000"/>
                </a:solidFill>
                <a:latin typeface="Cambria Math"/>
              </a:rPr>
              <a:t>a</a:t>
            </a:r>
            <a:r>
              <a:rPr sz="1250" b="0" i="0" dirty="0">
                <a:solidFill>
                  <a:srgbClr val="000000"/>
                </a:solidFill>
                <a:latin typeface="Cambria Math"/>
              </a:rPr>
              <a:t>, </a:t>
            </a:r>
            <a:r>
              <a:rPr sz="1250" b="0" i="1" dirty="0">
                <a:solidFill>
                  <a:srgbClr val="000000"/>
                </a:solidFill>
                <a:latin typeface="Cambria Math"/>
              </a:rPr>
              <a:t>t</a:t>
            </a:r>
            <a:r>
              <a:rPr sz="1250" b="0" i="0" dirty="0">
                <a:solidFill>
                  <a:srgbClr val="000000"/>
                </a:solidFill>
                <a:latin typeface="Cambria Math"/>
              </a:rPr>
              <a:t>, </a:t>
            </a:r>
            <a:r>
              <a:rPr sz="1250" b="0" i="1" dirty="0">
                <a:solidFill>
                  <a:srgbClr val="000000"/>
                </a:solidFill>
                <a:latin typeface="Cambria Math"/>
              </a:rPr>
              <a:t>e</a:t>
            </a:r>
            <a:r>
              <a:rPr sz="1250" b="0" i="0" dirty="0">
                <a:solidFill>
                  <a:srgbClr val="000000"/>
                </a:solidFill>
                <a:latin typeface="Cambria Math"/>
              </a:rPr>
              <a:t>. </a:t>
            </a:r>
            <a:r>
              <a:rPr sz="1250" b="0" i="1" dirty="0">
                <a:solidFill>
                  <a:srgbClr val="000000"/>
                </a:solidFill>
                <a:latin typeface="Cambria Math"/>
              </a:rPr>
              <a:t>P</a:t>
            </a:r>
            <a:r>
              <a:rPr sz="1250" b="0" i="0" dirty="0">
                <a:solidFill>
                  <a:srgbClr val="000000"/>
                </a:solidFill>
                <a:latin typeface="Cambria Math"/>
              </a:rPr>
              <a:t>(</a:t>
            </a:r>
            <a:r>
              <a:rPr sz="1250" b="0" i="1" dirty="0">
                <a:solidFill>
                  <a:srgbClr val="000000"/>
                </a:solidFill>
                <a:latin typeface="Cambria Math"/>
              </a:rPr>
              <a:t>p</a:t>
            </a:r>
            <a:r>
              <a:rPr sz="1250" b="0" i="0" dirty="0">
                <a:solidFill>
                  <a:srgbClr val="000000"/>
                </a:solidFill>
                <a:latin typeface="Cambria Math"/>
              </a:rPr>
              <a:t>) ∧ strong(</a:t>
            </a:r>
            <a:r>
              <a:rPr sz="1250" b="0" i="1" dirty="0">
                <a:solidFill>
                  <a:srgbClr val="000000"/>
                </a:solidFill>
                <a:latin typeface="Cambria Math"/>
              </a:rPr>
              <a:t>p</a:t>
            </a:r>
            <a:r>
              <a:rPr sz="1250" b="0" i="0" dirty="0">
                <a:solidFill>
                  <a:srgbClr val="000000"/>
                </a:solidFill>
                <a:latin typeface="Cambria Math"/>
              </a:rPr>
              <a:t>) ∧ </a:t>
            </a:r>
            <a:r>
              <a:rPr sz="1250" b="0" i="0" dirty="0" err="1">
                <a:solidFill>
                  <a:srgbClr val="000000"/>
                </a:solidFill>
                <a:latin typeface="Cambria Math"/>
              </a:rPr>
              <a:t>aee</a:t>
            </a:r>
            <a:r>
              <a:rPr sz="1250" b="0" i="0" dirty="0">
                <a:solidFill>
                  <a:srgbClr val="000000"/>
                </a:solidFill>
                <a:latin typeface="Cambria Math"/>
              </a:rPr>
              <a:t>(</a:t>
            </a:r>
            <a:r>
              <a:rPr sz="1250" b="0" i="1" dirty="0">
                <a:solidFill>
                  <a:srgbClr val="000000"/>
                </a:solidFill>
                <a:latin typeface="Cambria Math"/>
              </a:rPr>
              <a:t>p</a:t>
            </a:r>
            <a:r>
              <a:rPr sz="1250" b="0" i="0" dirty="0">
                <a:solidFill>
                  <a:srgbClr val="000000"/>
                </a:solidFill>
                <a:latin typeface="Cambria Math"/>
              </a:rPr>
              <a:t>, </a:t>
            </a:r>
            <a:r>
              <a:rPr sz="1250" b="0" i="1" dirty="0">
                <a:solidFill>
                  <a:srgbClr val="000000"/>
                </a:solidFill>
                <a:latin typeface="Cambria Math"/>
              </a:rPr>
              <a:t>x</a:t>
            </a:r>
            <a:r>
              <a:rPr sz="1250" b="0" i="0" dirty="0">
                <a:solidFill>
                  <a:srgbClr val="000000"/>
                </a:solidFill>
                <a:latin typeface="Cambria Math"/>
              </a:rPr>
              <a:t>) ∧ </a:t>
            </a:r>
            <a:r>
              <a:rPr sz="1250" b="0" i="0" dirty="0" err="1">
                <a:solidFill>
                  <a:srgbClr val="000000"/>
                </a:solidFill>
                <a:latin typeface="Cambria Math"/>
              </a:rPr>
              <a:t>aer</a:t>
            </a:r>
            <a:r>
              <a:rPr sz="1250" b="0" i="0" dirty="0">
                <a:solidFill>
                  <a:srgbClr val="000000"/>
                </a:solidFill>
                <a:latin typeface="Cambria Math"/>
              </a:rPr>
              <a:t>(</a:t>
            </a:r>
            <a:r>
              <a:rPr sz="1250" b="0" i="1" dirty="0">
                <a:solidFill>
                  <a:srgbClr val="000000"/>
                </a:solidFill>
                <a:latin typeface="Cambria Math"/>
              </a:rPr>
              <a:t>p</a:t>
            </a:r>
            <a:r>
              <a:rPr sz="1250" b="0" i="0" dirty="0">
                <a:solidFill>
                  <a:srgbClr val="000000"/>
                </a:solidFill>
                <a:latin typeface="Cambria Math"/>
              </a:rPr>
              <a:t>, </a:t>
            </a:r>
            <a:r>
              <a:rPr sz="1250" b="0" i="1" dirty="0">
                <a:solidFill>
                  <a:srgbClr val="000000"/>
                </a:solidFill>
                <a:latin typeface="Cambria Math"/>
              </a:rPr>
              <a:t>y</a:t>
            </a:r>
            <a:r>
              <a:rPr sz="1250" b="0" i="0" dirty="0">
                <a:solidFill>
                  <a:srgbClr val="000000"/>
                </a:solidFill>
                <a:latin typeface="Cambria Math"/>
              </a:rPr>
              <a:t>)</a:t>
            </a:r>
          </a:p>
          <a:p>
            <a:pPr marL="0" indent="0">
              <a:spcBef>
                <a:spcPts val="100"/>
              </a:spcBef>
              <a:buNone/>
            </a:pPr>
            <a:r>
              <a:rPr sz="1250" b="0" i="0" dirty="0">
                <a:solidFill>
                  <a:srgbClr val="000000"/>
                </a:solidFill>
                <a:latin typeface="Cambria Math"/>
              </a:rPr>
              <a:t>   ∧ act(</a:t>
            </a:r>
            <a:r>
              <a:rPr sz="1250" b="0" i="1" dirty="0">
                <a:solidFill>
                  <a:srgbClr val="000000"/>
                </a:solidFill>
                <a:latin typeface="Cambria Math"/>
              </a:rPr>
              <a:t>p</a:t>
            </a:r>
            <a:r>
              <a:rPr sz="1250" b="0" i="0" dirty="0">
                <a:solidFill>
                  <a:srgbClr val="000000"/>
                </a:solidFill>
                <a:latin typeface="Cambria Math"/>
              </a:rPr>
              <a:t>, </a:t>
            </a:r>
            <a:r>
              <a:rPr sz="1250" b="0" i="1" dirty="0">
                <a:solidFill>
                  <a:srgbClr val="000000"/>
                </a:solidFill>
                <a:latin typeface="Cambria Math"/>
              </a:rPr>
              <a:t>a</a:t>
            </a:r>
            <a:r>
              <a:rPr sz="1250" b="0" i="0" dirty="0">
                <a:solidFill>
                  <a:srgbClr val="000000"/>
                </a:solidFill>
                <a:latin typeface="Cambria Math"/>
              </a:rPr>
              <a:t>) ∧ </a:t>
            </a:r>
            <a:r>
              <a:rPr sz="1250" b="0" i="0" dirty="0" err="1">
                <a:solidFill>
                  <a:srgbClr val="000000"/>
                </a:solidFill>
                <a:latin typeface="Cambria Math"/>
              </a:rPr>
              <a:t>tgt</a:t>
            </a:r>
            <a:r>
              <a:rPr sz="1250" b="0" i="0" dirty="0">
                <a:solidFill>
                  <a:srgbClr val="000000"/>
                </a:solidFill>
                <a:latin typeface="Cambria Math"/>
              </a:rPr>
              <a:t>(</a:t>
            </a:r>
            <a:r>
              <a:rPr sz="1250" b="0" i="1" dirty="0">
                <a:solidFill>
                  <a:srgbClr val="000000"/>
                </a:solidFill>
                <a:latin typeface="Cambria Math"/>
              </a:rPr>
              <a:t>p</a:t>
            </a:r>
            <a:r>
              <a:rPr sz="1250" b="0" i="0" dirty="0">
                <a:solidFill>
                  <a:srgbClr val="000000"/>
                </a:solidFill>
                <a:latin typeface="Cambria Math"/>
              </a:rPr>
              <a:t>, </a:t>
            </a:r>
            <a:r>
              <a:rPr sz="1250" b="0" i="1" dirty="0">
                <a:solidFill>
                  <a:srgbClr val="000000"/>
                </a:solidFill>
                <a:latin typeface="Cambria Math"/>
              </a:rPr>
              <a:t>t</a:t>
            </a:r>
            <a:r>
              <a:rPr sz="1250" b="0" i="0" dirty="0">
                <a:solidFill>
                  <a:srgbClr val="000000"/>
                </a:solidFill>
                <a:latin typeface="Cambria Math"/>
              </a:rPr>
              <a:t>) ∧ activates(</a:t>
            </a:r>
            <a:r>
              <a:rPr sz="1250" b="0" i="1" dirty="0">
                <a:solidFill>
                  <a:srgbClr val="000000"/>
                </a:solidFill>
                <a:latin typeface="Cambria Math"/>
              </a:rPr>
              <a:t>e</a:t>
            </a:r>
            <a:r>
              <a:rPr sz="1250" b="0" i="0" dirty="0">
                <a:solidFill>
                  <a:srgbClr val="000000"/>
                </a:solidFill>
                <a:latin typeface="Cambria Math"/>
              </a:rPr>
              <a:t>, </a:t>
            </a:r>
            <a:r>
              <a:rPr sz="1250" b="0" i="1" dirty="0">
                <a:solidFill>
                  <a:srgbClr val="000000"/>
                </a:solidFill>
                <a:latin typeface="Cambria Math"/>
              </a:rPr>
              <a:t>p</a:t>
            </a:r>
            <a:r>
              <a:rPr sz="1250" b="0" i="0" dirty="0">
                <a:solidFill>
                  <a:srgbClr val="000000"/>
                </a:solidFill>
                <a:latin typeface="Cambria Math"/>
              </a:rPr>
              <a:t>) → ∃</a:t>
            </a:r>
            <a:r>
              <a:rPr sz="1250" b="0" i="1" dirty="0" err="1">
                <a:solidFill>
                  <a:srgbClr val="000000"/>
                </a:solidFill>
                <a:latin typeface="Cambria Math"/>
              </a:rPr>
              <a:t>ρ</a:t>
            </a:r>
            <a:r>
              <a:rPr sz="1250" b="0" i="0" baseline="-25000" dirty="0" err="1">
                <a:solidFill>
                  <a:srgbClr val="000000"/>
                </a:solidFill>
                <a:latin typeface="Cambria Math"/>
              </a:rPr>
              <a:t>I</a:t>
            </a:r>
            <a:r>
              <a:rPr sz="1250" b="0" i="0" dirty="0">
                <a:solidFill>
                  <a:srgbClr val="000000"/>
                </a:solidFill>
                <a:latin typeface="Cambria Math"/>
              </a:rPr>
              <a:t>, </a:t>
            </a:r>
            <a:r>
              <a:rPr sz="1250" b="0" i="1" dirty="0" err="1">
                <a:solidFill>
                  <a:srgbClr val="000000"/>
                </a:solidFill>
                <a:latin typeface="Cambria Math"/>
              </a:rPr>
              <a:t>im</a:t>
            </a:r>
            <a:r>
              <a:rPr sz="1250" b="0" i="0" dirty="0">
                <a:solidFill>
                  <a:srgbClr val="000000"/>
                </a:solidFill>
                <a:latin typeface="Cambria Math"/>
              </a:rPr>
              <a:t>, </a:t>
            </a:r>
            <a:r>
              <a:rPr sz="1250" b="0" i="1" dirty="0">
                <a:solidFill>
                  <a:srgbClr val="000000"/>
                </a:solidFill>
                <a:latin typeface="Cambria Math"/>
              </a:rPr>
              <a:t>db</a:t>
            </a:r>
            <a:r>
              <a:rPr sz="1250" b="0" i="0" dirty="0">
                <a:solidFill>
                  <a:srgbClr val="000000"/>
                </a:solidFill>
                <a:latin typeface="Cambria Math"/>
              </a:rPr>
              <a:t>.</a:t>
            </a:r>
          </a:p>
          <a:p>
            <a:pPr marL="0" indent="0">
              <a:spcBef>
                <a:spcPts val="100"/>
              </a:spcBef>
              <a:buNone/>
            </a:pPr>
            <a:r>
              <a:rPr sz="1250" b="0" i="0" dirty="0">
                <a:solidFill>
                  <a:srgbClr val="000000"/>
                </a:solidFill>
                <a:latin typeface="Cambria Math"/>
              </a:rPr>
              <a:t>   Rel(</a:t>
            </a:r>
            <a:r>
              <a:rPr sz="1250" b="0" i="1" dirty="0" err="1">
                <a:solidFill>
                  <a:srgbClr val="000000"/>
                </a:solidFill>
                <a:latin typeface="Cambria Math"/>
              </a:rPr>
              <a:t>ρ</a:t>
            </a:r>
            <a:r>
              <a:rPr sz="1250" b="0" i="0" baseline="-25000" dirty="0" err="1">
                <a:solidFill>
                  <a:srgbClr val="000000"/>
                </a:solidFill>
                <a:latin typeface="Cambria Math"/>
              </a:rPr>
              <a:t>I</a:t>
            </a:r>
            <a:r>
              <a:rPr sz="1250" b="0" i="0" dirty="0">
                <a:solidFill>
                  <a:srgbClr val="000000"/>
                </a:solidFill>
                <a:latin typeface="Cambria Math"/>
              </a:rPr>
              <a:t>) ∧ </a:t>
            </a:r>
            <a:r>
              <a:rPr sz="1250" b="0" i="0" dirty="0" err="1">
                <a:solidFill>
                  <a:srgbClr val="000000"/>
                </a:solidFill>
                <a:latin typeface="Cambria Math"/>
              </a:rPr>
              <a:t>founds</a:t>
            </a:r>
            <a:r>
              <a:rPr sz="1250" b="0" i="0" baseline="-25000" dirty="0" err="1">
                <a:solidFill>
                  <a:srgbClr val="000000"/>
                </a:solidFill>
                <a:latin typeface="Cambria Math"/>
              </a:rPr>
              <a:t>imm</a:t>
            </a:r>
            <a:r>
              <a:rPr sz="1250" b="0" i="0" dirty="0">
                <a:solidFill>
                  <a:srgbClr val="000000"/>
                </a:solidFill>
                <a:latin typeface="Cambria Math"/>
              </a:rPr>
              <a:t>(</a:t>
            </a:r>
            <a:r>
              <a:rPr sz="1250" b="0" i="1" dirty="0">
                <a:solidFill>
                  <a:srgbClr val="000000"/>
                </a:solidFill>
                <a:latin typeface="Cambria Math"/>
              </a:rPr>
              <a:t>e</a:t>
            </a:r>
            <a:r>
              <a:rPr sz="1250" b="0" i="0" dirty="0">
                <a:solidFill>
                  <a:srgbClr val="000000"/>
                </a:solidFill>
                <a:latin typeface="Cambria Math"/>
              </a:rPr>
              <a:t>, </a:t>
            </a:r>
            <a:r>
              <a:rPr sz="1250" b="0" i="1" dirty="0" err="1">
                <a:solidFill>
                  <a:srgbClr val="000000"/>
                </a:solidFill>
                <a:latin typeface="Cambria Math"/>
              </a:rPr>
              <a:t>ρ</a:t>
            </a:r>
            <a:r>
              <a:rPr sz="1250" b="0" i="0" baseline="-25000" dirty="0" err="1">
                <a:solidFill>
                  <a:srgbClr val="000000"/>
                </a:solidFill>
                <a:latin typeface="Cambria Math"/>
              </a:rPr>
              <a:t>I</a:t>
            </a:r>
            <a:r>
              <a:rPr sz="1250" b="0" i="0" dirty="0">
                <a:solidFill>
                  <a:srgbClr val="000000"/>
                </a:solidFill>
                <a:latin typeface="Cambria Math"/>
              </a:rPr>
              <a:t>, </a:t>
            </a:r>
            <a:r>
              <a:rPr sz="1250" b="0" i="1" dirty="0">
                <a:solidFill>
                  <a:srgbClr val="000000"/>
                </a:solidFill>
                <a:latin typeface="Cambria Math"/>
              </a:rPr>
              <a:t>p</a:t>
            </a:r>
            <a:r>
              <a:rPr sz="1250" b="0" i="0" dirty="0">
                <a:solidFill>
                  <a:srgbClr val="000000"/>
                </a:solidFill>
                <a:latin typeface="Cambria Math"/>
              </a:rPr>
              <a:t>) ∧ </a:t>
            </a:r>
            <a:r>
              <a:rPr sz="1250" b="0" i="0" dirty="0">
                <a:solidFill>
                  <a:srgbClr val="00549F"/>
                </a:solidFill>
                <a:latin typeface="Cambria Math"/>
              </a:rPr>
              <a:t>Immunity</a:t>
            </a:r>
            <a:r>
              <a:rPr sz="1250" b="0" i="0" dirty="0">
                <a:solidFill>
                  <a:srgbClr val="000000"/>
                </a:solidFill>
                <a:latin typeface="Cambria Math"/>
              </a:rPr>
              <a:t>(</a:t>
            </a:r>
            <a:r>
              <a:rPr sz="1250" b="0" i="1" dirty="0" err="1">
                <a:solidFill>
                  <a:srgbClr val="000000"/>
                </a:solidFill>
                <a:latin typeface="Cambria Math"/>
              </a:rPr>
              <a:t>im</a:t>
            </a:r>
            <a:r>
              <a:rPr sz="1250" b="0" i="0" dirty="0">
                <a:solidFill>
                  <a:srgbClr val="000000"/>
                </a:solidFill>
                <a:latin typeface="Cambria Math"/>
              </a:rPr>
              <a:t>) ∧ bearer(</a:t>
            </a:r>
            <a:r>
              <a:rPr sz="1250" b="0" i="1" dirty="0" err="1">
                <a:solidFill>
                  <a:srgbClr val="000000"/>
                </a:solidFill>
                <a:latin typeface="Cambria Math"/>
              </a:rPr>
              <a:t>im</a:t>
            </a:r>
            <a:r>
              <a:rPr sz="1250" b="0" i="0" dirty="0">
                <a:solidFill>
                  <a:srgbClr val="000000"/>
                </a:solidFill>
                <a:latin typeface="Cambria Math"/>
              </a:rPr>
              <a:t>, </a:t>
            </a:r>
            <a:r>
              <a:rPr sz="1250" b="0" i="1" dirty="0">
                <a:solidFill>
                  <a:srgbClr val="000000"/>
                </a:solidFill>
                <a:latin typeface="Cambria Math"/>
              </a:rPr>
              <a:t>x</a:t>
            </a:r>
            <a:r>
              <a:rPr sz="1250" b="0" i="0" dirty="0">
                <a:solidFill>
                  <a:srgbClr val="000000"/>
                </a:solidFill>
                <a:latin typeface="Cambria Math"/>
              </a:rPr>
              <a:t>)</a:t>
            </a:r>
          </a:p>
          <a:p>
            <a:pPr marL="0" indent="0">
              <a:spcBef>
                <a:spcPts val="100"/>
              </a:spcBef>
              <a:buNone/>
            </a:pPr>
            <a:r>
              <a:rPr sz="1250" b="0" i="0" dirty="0">
                <a:solidFill>
                  <a:srgbClr val="000000"/>
                </a:solidFill>
                <a:latin typeface="Cambria Math"/>
              </a:rPr>
              <a:t>   ∧ </a:t>
            </a:r>
            <a:r>
              <a:rPr sz="1250" b="0" i="0" dirty="0" err="1">
                <a:solidFill>
                  <a:srgbClr val="000000"/>
                </a:solidFill>
                <a:latin typeface="Cambria Math"/>
              </a:rPr>
              <a:t>cnt</a:t>
            </a:r>
            <a:r>
              <a:rPr sz="1250" b="0" i="0" dirty="0">
                <a:solidFill>
                  <a:srgbClr val="000000"/>
                </a:solidFill>
                <a:latin typeface="Cambria Math"/>
              </a:rPr>
              <a:t>(</a:t>
            </a:r>
            <a:r>
              <a:rPr sz="1250" b="0" i="1" dirty="0" err="1">
                <a:solidFill>
                  <a:srgbClr val="000000"/>
                </a:solidFill>
                <a:latin typeface="Cambria Math"/>
              </a:rPr>
              <a:t>im</a:t>
            </a:r>
            <a:r>
              <a:rPr sz="1250" b="0" i="0" dirty="0">
                <a:solidFill>
                  <a:srgbClr val="000000"/>
                </a:solidFill>
                <a:latin typeface="Cambria Math"/>
              </a:rPr>
              <a:t>, </a:t>
            </a:r>
            <a:r>
              <a:rPr sz="1250" b="0" i="1" dirty="0">
                <a:solidFill>
                  <a:srgbClr val="000000"/>
                </a:solidFill>
                <a:latin typeface="Cambria Math"/>
              </a:rPr>
              <a:t>a</a:t>
            </a:r>
            <a:r>
              <a:rPr sz="1250" b="0" i="0" dirty="0">
                <a:solidFill>
                  <a:srgbClr val="000000"/>
                </a:solidFill>
                <a:latin typeface="Cambria Math"/>
              </a:rPr>
              <a:t>, </a:t>
            </a:r>
            <a:r>
              <a:rPr sz="1250" b="0" i="1" dirty="0">
                <a:solidFill>
                  <a:srgbClr val="000000"/>
                </a:solidFill>
                <a:latin typeface="Cambria Math"/>
              </a:rPr>
              <a:t>t</a:t>
            </a:r>
            <a:r>
              <a:rPr sz="1250" b="0" i="0" dirty="0">
                <a:solidFill>
                  <a:srgbClr val="000000"/>
                </a:solidFill>
                <a:latin typeface="Cambria Math"/>
              </a:rPr>
              <a:t>) ∧ </a:t>
            </a:r>
            <a:r>
              <a:rPr sz="1250" b="0" i="0" dirty="0" err="1">
                <a:solidFill>
                  <a:srgbClr val="000000"/>
                </a:solidFill>
                <a:latin typeface="Cambria Math"/>
              </a:rPr>
              <a:t>partOf</a:t>
            </a:r>
            <a:r>
              <a:rPr sz="1250" b="0" i="0" dirty="0">
                <a:solidFill>
                  <a:srgbClr val="000000"/>
                </a:solidFill>
                <a:latin typeface="Cambria Math"/>
              </a:rPr>
              <a:t>(</a:t>
            </a:r>
            <a:r>
              <a:rPr sz="1250" b="0" i="1" dirty="0" err="1">
                <a:solidFill>
                  <a:srgbClr val="000000"/>
                </a:solidFill>
                <a:latin typeface="Cambria Math"/>
              </a:rPr>
              <a:t>im</a:t>
            </a:r>
            <a:r>
              <a:rPr sz="1250" b="0" i="0" dirty="0">
                <a:solidFill>
                  <a:srgbClr val="000000"/>
                </a:solidFill>
                <a:latin typeface="Cambria Math"/>
              </a:rPr>
              <a:t>, </a:t>
            </a:r>
            <a:r>
              <a:rPr sz="1250" b="0" i="1" dirty="0" err="1">
                <a:solidFill>
                  <a:srgbClr val="000000"/>
                </a:solidFill>
                <a:latin typeface="Cambria Math"/>
              </a:rPr>
              <a:t>ρ</a:t>
            </a:r>
            <a:r>
              <a:rPr sz="1250" b="0" i="0" baseline="-25000" dirty="0" err="1">
                <a:solidFill>
                  <a:srgbClr val="000000"/>
                </a:solidFill>
                <a:latin typeface="Cambria Math"/>
              </a:rPr>
              <a:t>I</a:t>
            </a:r>
            <a:r>
              <a:rPr sz="1250" b="0" i="0" dirty="0">
                <a:solidFill>
                  <a:srgbClr val="000000"/>
                </a:solidFill>
                <a:latin typeface="Cambria Math"/>
              </a:rPr>
              <a:t>) ∧ </a:t>
            </a:r>
            <a:r>
              <a:rPr sz="1250" b="0" i="0" dirty="0">
                <a:solidFill>
                  <a:srgbClr val="00549F"/>
                </a:solidFill>
                <a:latin typeface="Cambria Math"/>
              </a:rPr>
              <a:t>Disability</a:t>
            </a:r>
            <a:r>
              <a:rPr sz="1250" b="0" i="0" dirty="0">
                <a:solidFill>
                  <a:srgbClr val="000000"/>
                </a:solidFill>
                <a:latin typeface="Cambria Math"/>
              </a:rPr>
              <a:t>(</a:t>
            </a:r>
            <a:r>
              <a:rPr sz="1250" b="0" i="1" dirty="0" err="1">
                <a:solidFill>
                  <a:srgbClr val="000000"/>
                </a:solidFill>
                <a:latin typeface="Cambria Math"/>
              </a:rPr>
              <a:t>db</a:t>
            </a:r>
            <a:r>
              <a:rPr sz="1250" b="0" i="0" dirty="0">
                <a:solidFill>
                  <a:srgbClr val="000000"/>
                </a:solidFill>
                <a:latin typeface="Cambria Math"/>
              </a:rPr>
              <a:t>)</a:t>
            </a:r>
          </a:p>
          <a:p>
            <a:pPr marL="0" indent="0">
              <a:spcBef>
                <a:spcPts val="100"/>
              </a:spcBef>
              <a:buNone/>
            </a:pPr>
            <a:r>
              <a:rPr sz="1250" b="0" i="0" dirty="0">
                <a:solidFill>
                  <a:srgbClr val="000000"/>
                </a:solidFill>
                <a:latin typeface="Cambria Math"/>
              </a:rPr>
              <a:t>   ∧ bearer(</a:t>
            </a:r>
            <a:r>
              <a:rPr sz="1250" b="0" i="1" dirty="0" err="1">
                <a:solidFill>
                  <a:srgbClr val="000000"/>
                </a:solidFill>
                <a:latin typeface="Cambria Math"/>
              </a:rPr>
              <a:t>db</a:t>
            </a:r>
            <a:r>
              <a:rPr sz="1250" b="0" i="0" dirty="0">
                <a:solidFill>
                  <a:srgbClr val="000000"/>
                </a:solidFill>
                <a:latin typeface="Cambria Math"/>
              </a:rPr>
              <a:t>, </a:t>
            </a:r>
            <a:r>
              <a:rPr sz="1250" b="0" i="1" dirty="0">
                <a:solidFill>
                  <a:srgbClr val="000000"/>
                </a:solidFill>
                <a:latin typeface="Cambria Math"/>
              </a:rPr>
              <a:t>y</a:t>
            </a:r>
            <a:r>
              <a:rPr sz="1250" b="0" i="0" dirty="0">
                <a:solidFill>
                  <a:srgbClr val="000000"/>
                </a:solidFill>
                <a:latin typeface="Cambria Math"/>
              </a:rPr>
              <a:t>) ∧ </a:t>
            </a:r>
            <a:r>
              <a:rPr sz="1250" b="0" i="0" dirty="0" err="1">
                <a:solidFill>
                  <a:srgbClr val="000000"/>
                </a:solidFill>
                <a:latin typeface="Cambria Math"/>
              </a:rPr>
              <a:t>cnt</a:t>
            </a:r>
            <a:r>
              <a:rPr sz="1250" b="0" i="0" dirty="0">
                <a:solidFill>
                  <a:srgbClr val="000000"/>
                </a:solidFill>
                <a:latin typeface="Cambria Math"/>
              </a:rPr>
              <a:t>(</a:t>
            </a:r>
            <a:r>
              <a:rPr sz="1250" b="0" i="1" dirty="0" err="1">
                <a:solidFill>
                  <a:srgbClr val="000000"/>
                </a:solidFill>
                <a:latin typeface="Cambria Math"/>
              </a:rPr>
              <a:t>db</a:t>
            </a:r>
            <a:r>
              <a:rPr sz="1250" b="0" i="0" dirty="0">
                <a:solidFill>
                  <a:srgbClr val="000000"/>
                </a:solidFill>
                <a:latin typeface="Cambria Math"/>
              </a:rPr>
              <a:t>, </a:t>
            </a:r>
            <a:r>
              <a:rPr sz="1250" b="0" i="1" dirty="0">
                <a:solidFill>
                  <a:srgbClr val="000000"/>
                </a:solidFill>
                <a:latin typeface="Cambria Math"/>
              </a:rPr>
              <a:t>a</a:t>
            </a:r>
            <a:r>
              <a:rPr sz="1250" b="0" i="0" dirty="0">
                <a:solidFill>
                  <a:srgbClr val="000000"/>
                </a:solidFill>
                <a:latin typeface="Cambria Math"/>
              </a:rPr>
              <a:t>, </a:t>
            </a:r>
            <a:r>
              <a:rPr sz="1250" b="0" i="1" dirty="0">
                <a:solidFill>
                  <a:srgbClr val="000000"/>
                </a:solidFill>
                <a:latin typeface="Cambria Math"/>
              </a:rPr>
              <a:t>t</a:t>
            </a:r>
            <a:r>
              <a:rPr sz="1250" b="0" i="0" dirty="0">
                <a:solidFill>
                  <a:srgbClr val="000000"/>
                </a:solidFill>
                <a:latin typeface="Cambria Math"/>
              </a:rPr>
              <a:t>) ∧ </a:t>
            </a:r>
            <a:r>
              <a:rPr sz="1250" b="0" i="0" dirty="0" err="1">
                <a:solidFill>
                  <a:srgbClr val="000000"/>
                </a:solidFill>
                <a:latin typeface="Cambria Math"/>
              </a:rPr>
              <a:t>partOf</a:t>
            </a:r>
            <a:r>
              <a:rPr sz="1250" b="0" i="0" dirty="0">
                <a:solidFill>
                  <a:srgbClr val="000000"/>
                </a:solidFill>
                <a:latin typeface="Cambria Math"/>
              </a:rPr>
              <a:t>(</a:t>
            </a:r>
            <a:r>
              <a:rPr sz="1250" b="0" i="1" dirty="0" err="1">
                <a:solidFill>
                  <a:srgbClr val="000000"/>
                </a:solidFill>
                <a:latin typeface="Cambria Math"/>
              </a:rPr>
              <a:t>db</a:t>
            </a:r>
            <a:r>
              <a:rPr sz="1250" b="0" i="0" dirty="0">
                <a:solidFill>
                  <a:srgbClr val="000000"/>
                </a:solidFill>
                <a:latin typeface="Cambria Math"/>
              </a:rPr>
              <a:t>, </a:t>
            </a:r>
            <a:r>
              <a:rPr sz="1250" b="0" i="1" dirty="0" err="1">
                <a:solidFill>
                  <a:srgbClr val="000000"/>
                </a:solidFill>
                <a:latin typeface="Cambria Math"/>
              </a:rPr>
              <a:t>ρ</a:t>
            </a:r>
            <a:r>
              <a:rPr sz="1250" b="0" i="0" baseline="-25000" dirty="0" err="1">
                <a:solidFill>
                  <a:srgbClr val="000000"/>
                </a:solidFill>
                <a:latin typeface="Cambria Math"/>
              </a:rPr>
              <a:t>I</a:t>
            </a:r>
            <a:r>
              <a:rPr sz="1250" b="0" i="0" dirty="0">
                <a:solidFill>
                  <a:srgbClr val="000000"/>
                </a:solidFill>
                <a:latin typeface="Cambria Math"/>
              </a:rPr>
              <a:t>)</a:t>
            </a:r>
          </a:p>
          <a:p>
            <a:pPr marL="0" indent="0">
              <a:spcBef>
                <a:spcPts val="1200"/>
              </a:spcBef>
              <a:buNone/>
            </a:pPr>
            <a:r>
              <a:rPr sz="1300" b="1" dirty="0">
                <a:solidFill>
                  <a:srgbClr val="000000"/>
                </a:solidFill>
              </a:rPr>
              <a:t>Ax. 5.3  Prohibition relator (conduct)</a:t>
            </a:r>
          </a:p>
          <a:p>
            <a:pPr marL="0" indent="0">
              <a:spcBef>
                <a:spcPts val="300"/>
              </a:spcBef>
              <a:buNone/>
            </a:pPr>
            <a:r>
              <a:rPr sz="1250" b="0" i="0" dirty="0">
                <a:solidFill>
                  <a:srgbClr val="000000"/>
                </a:solidFill>
                <a:latin typeface="Cambria Math"/>
              </a:rPr>
              <a:t>∀</a:t>
            </a:r>
            <a:r>
              <a:rPr sz="1250" b="0" i="1" dirty="0">
                <a:solidFill>
                  <a:srgbClr val="000000"/>
                </a:solidFill>
                <a:latin typeface="Cambria Math"/>
              </a:rPr>
              <a:t>f</a:t>
            </a:r>
            <a:r>
              <a:rPr sz="1250" b="0" i="0" dirty="0">
                <a:solidFill>
                  <a:srgbClr val="000000"/>
                </a:solidFill>
                <a:latin typeface="Cambria Math"/>
              </a:rPr>
              <a:t>, </a:t>
            </a:r>
            <a:r>
              <a:rPr sz="1250" b="0" i="1" dirty="0">
                <a:solidFill>
                  <a:srgbClr val="000000"/>
                </a:solidFill>
                <a:latin typeface="Cambria Math"/>
              </a:rPr>
              <a:t>x</a:t>
            </a:r>
            <a:r>
              <a:rPr sz="1250" b="0" i="0" dirty="0">
                <a:solidFill>
                  <a:srgbClr val="000000"/>
                </a:solidFill>
                <a:latin typeface="Cambria Math"/>
              </a:rPr>
              <a:t>, </a:t>
            </a:r>
            <a:r>
              <a:rPr sz="1250" b="0" i="1" dirty="0">
                <a:solidFill>
                  <a:srgbClr val="000000"/>
                </a:solidFill>
                <a:latin typeface="Cambria Math"/>
              </a:rPr>
              <a:t>y</a:t>
            </a:r>
            <a:r>
              <a:rPr sz="1250" b="0" i="0" dirty="0">
                <a:solidFill>
                  <a:srgbClr val="000000"/>
                </a:solidFill>
                <a:latin typeface="Cambria Math"/>
              </a:rPr>
              <a:t>, </a:t>
            </a:r>
            <a:r>
              <a:rPr sz="1250" b="0" i="1" dirty="0">
                <a:solidFill>
                  <a:srgbClr val="000000"/>
                </a:solidFill>
                <a:latin typeface="Cambria Math"/>
              </a:rPr>
              <a:t>a</a:t>
            </a:r>
            <a:r>
              <a:rPr sz="1250" b="0" i="0" dirty="0">
                <a:solidFill>
                  <a:srgbClr val="000000"/>
                </a:solidFill>
                <a:latin typeface="Cambria Math"/>
              </a:rPr>
              <a:t>, </a:t>
            </a:r>
            <a:r>
              <a:rPr sz="1250" b="0" i="1" dirty="0">
                <a:solidFill>
                  <a:srgbClr val="000000"/>
                </a:solidFill>
                <a:latin typeface="Cambria Math"/>
              </a:rPr>
              <a:t>t</a:t>
            </a:r>
            <a:r>
              <a:rPr sz="1250" b="0" i="0" dirty="0">
                <a:solidFill>
                  <a:srgbClr val="000000"/>
                </a:solidFill>
                <a:latin typeface="Cambria Math"/>
              </a:rPr>
              <a:t>, </a:t>
            </a:r>
            <a:r>
              <a:rPr sz="1250" b="0" i="1" dirty="0">
                <a:solidFill>
                  <a:srgbClr val="000000"/>
                </a:solidFill>
                <a:latin typeface="Cambria Math"/>
              </a:rPr>
              <a:t>e</a:t>
            </a:r>
            <a:r>
              <a:rPr sz="1250" b="0" i="0" dirty="0">
                <a:solidFill>
                  <a:srgbClr val="000000"/>
                </a:solidFill>
                <a:latin typeface="Cambria Math"/>
              </a:rPr>
              <a:t>. </a:t>
            </a:r>
            <a:r>
              <a:rPr sz="1250" b="0" i="0" dirty="0" err="1">
                <a:solidFill>
                  <a:srgbClr val="000000"/>
                </a:solidFill>
                <a:latin typeface="Cambria Math"/>
              </a:rPr>
              <a:t>Proh</a:t>
            </a:r>
            <a:r>
              <a:rPr sz="1250" b="0" i="0" dirty="0">
                <a:solidFill>
                  <a:srgbClr val="000000"/>
                </a:solidFill>
                <a:latin typeface="Cambria Math"/>
              </a:rPr>
              <a:t>(</a:t>
            </a:r>
            <a:r>
              <a:rPr sz="1250" b="0" i="1" dirty="0">
                <a:solidFill>
                  <a:srgbClr val="000000"/>
                </a:solidFill>
                <a:latin typeface="Cambria Math"/>
              </a:rPr>
              <a:t>f</a:t>
            </a:r>
            <a:r>
              <a:rPr sz="1250" b="0" i="0" dirty="0">
                <a:solidFill>
                  <a:srgbClr val="000000"/>
                </a:solidFill>
                <a:latin typeface="Cambria Math"/>
              </a:rPr>
              <a:t>) ∧ </a:t>
            </a:r>
            <a:r>
              <a:rPr sz="1250" b="0" i="0" dirty="0" err="1">
                <a:solidFill>
                  <a:srgbClr val="000000"/>
                </a:solidFill>
                <a:latin typeface="Cambria Math"/>
              </a:rPr>
              <a:t>aee</a:t>
            </a:r>
            <a:r>
              <a:rPr sz="1250" b="0" i="0" dirty="0">
                <a:solidFill>
                  <a:srgbClr val="000000"/>
                </a:solidFill>
                <a:latin typeface="Cambria Math"/>
              </a:rPr>
              <a:t>(</a:t>
            </a:r>
            <a:r>
              <a:rPr sz="1250" b="0" i="1" dirty="0">
                <a:solidFill>
                  <a:srgbClr val="000000"/>
                </a:solidFill>
                <a:latin typeface="Cambria Math"/>
              </a:rPr>
              <a:t>f</a:t>
            </a:r>
            <a:r>
              <a:rPr sz="1250" b="0" i="0" dirty="0">
                <a:solidFill>
                  <a:srgbClr val="000000"/>
                </a:solidFill>
                <a:latin typeface="Cambria Math"/>
              </a:rPr>
              <a:t>, </a:t>
            </a:r>
            <a:r>
              <a:rPr sz="1250" b="0" i="1" dirty="0">
                <a:solidFill>
                  <a:srgbClr val="000000"/>
                </a:solidFill>
                <a:latin typeface="Cambria Math"/>
              </a:rPr>
              <a:t>x</a:t>
            </a:r>
            <a:r>
              <a:rPr sz="1250" b="0" i="0" dirty="0">
                <a:solidFill>
                  <a:srgbClr val="000000"/>
                </a:solidFill>
                <a:latin typeface="Cambria Math"/>
              </a:rPr>
              <a:t>) ∧ </a:t>
            </a:r>
            <a:r>
              <a:rPr sz="1250" b="0" i="0" dirty="0" err="1">
                <a:solidFill>
                  <a:srgbClr val="000000"/>
                </a:solidFill>
                <a:latin typeface="Cambria Math"/>
              </a:rPr>
              <a:t>aer</a:t>
            </a:r>
            <a:r>
              <a:rPr sz="1250" b="0" i="0" dirty="0">
                <a:solidFill>
                  <a:srgbClr val="000000"/>
                </a:solidFill>
                <a:latin typeface="Cambria Math"/>
              </a:rPr>
              <a:t>(</a:t>
            </a:r>
            <a:r>
              <a:rPr sz="1250" b="0" i="1" dirty="0">
                <a:solidFill>
                  <a:srgbClr val="000000"/>
                </a:solidFill>
                <a:latin typeface="Cambria Math"/>
              </a:rPr>
              <a:t>f</a:t>
            </a:r>
            <a:r>
              <a:rPr sz="1250" b="0" i="0" dirty="0">
                <a:solidFill>
                  <a:srgbClr val="000000"/>
                </a:solidFill>
                <a:latin typeface="Cambria Math"/>
              </a:rPr>
              <a:t>, </a:t>
            </a:r>
            <a:r>
              <a:rPr sz="1250" b="0" i="1" dirty="0">
                <a:solidFill>
                  <a:srgbClr val="000000"/>
                </a:solidFill>
                <a:latin typeface="Cambria Math"/>
              </a:rPr>
              <a:t>y</a:t>
            </a:r>
            <a:r>
              <a:rPr sz="1250" b="0" i="0" dirty="0">
                <a:solidFill>
                  <a:srgbClr val="000000"/>
                </a:solidFill>
                <a:latin typeface="Cambria Math"/>
              </a:rPr>
              <a:t>) ∧ act(</a:t>
            </a:r>
            <a:r>
              <a:rPr sz="1250" b="0" i="1" dirty="0">
                <a:solidFill>
                  <a:srgbClr val="000000"/>
                </a:solidFill>
                <a:latin typeface="Cambria Math"/>
              </a:rPr>
              <a:t>f</a:t>
            </a:r>
            <a:r>
              <a:rPr sz="1250" b="0" i="0" dirty="0">
                <a:solidFill>
                  <a:srgbClr val="000000"/>
                </a:solidFill>
                <a:latin typeface="Cambria Math"/>
              </a:rPr>
              <a:t>, </a:t>
            </a:r>
            <a:r>
              <a:rPr sz="1250" b="0" i="1" dirty="0">
                <a:solidFill>
                  <a:srgbClr val="000000"/>
                </a:solidFill>
                <a:latin typeface="Cambria Math"/>
              </a:rPr>
              <a:t>a</a:t>
            </a:r>
            <a:r>
              <a:rPr sz="1250" b="0" i="0" dirty="0">
                <a:solidFill>
                  <a:srgbClr val="000000"/>
                </a:solidFill>
                <a:latin typeface="Cambria Math"/>
              </a:rPr>
              <a:t>)</a:t>
            </a:r>
          </a:p>
          <a:p>
            <a:pPr marL="0" indent="0">
              <a:spcBef>
                <a:spcPts val="100"/>
              </a:spcBef>
              <a:buNone/>
            </a:pPr>
            <a:r>
              <a:rPr sz="1250" b="0" i="0" dirty="0">
                <a:solidFill>
                  <a:srgbClr val="000000"/>
                </a:solidFill>
                <a:latin typeface="Cambria Math"/>
              </a:rPr>
              <a:t>   ∧ </a:t>
            </a:r>
            <a:r>
              <a:rPr sz="1250" b="0" i="0" dirty="0" err="1">
                <a:solidFill>
                  <a:srgbClr val="000000"/>
                </a:solidFill>
                <a:latin typeface="Cambria Math"/>
              </a:rPr>
              <a:t>tgt</a:t>
            </a:r>
            <a:r>
              <a:rPr sz="1250" b="0" i="0" dirty="0">
                <a:solidFill>
                  <a:srgbClr val="000000"/>
                </a:solidFill>
                <a:latin typeface="Cambria Math"/>
              </a:rPr>
              <a:t>(</a:t>
            </a:r>
            <a:r>
              <a:rPr sz="1250" b="0" i="1" dirty="0">
                <a:solidFill>
                  <a:srgbClr val="000000"/>
                </a:solidFill>
                <a:latin typeface="Cambria Math"/>
              </a:rPr>
              <a:t>f</a:t>
            </a:r>
            <a:r>
              <a:rPr sz="1250" b="0" i="0" dirty="0">
                <a:solidFill>
                  <a:srgbClr val="000000"/>
                </a:solidFill>
                <a:latin typeface="Cambria Math"/>
              </a:rPr>
              <a:t>, </a:t>
            </a:r>
            <a:r>
              <a:rPr sz="1250" b="0" i="1" dirty="0">
                <a:solidFill>
                  <a:srgbClr val="000000"/>
                </a:solidFill>
                <a:latin typeface="Cambria Math"/>
              </a:rPr>
              <a:t>t</a:t>
            </a:r>
            <a:r>
              <a:rPr sz="1250" b="0" i="0" dirty="0">
                <a:solidFill>
                  <a:srgbClr val="000000"/>
                </a:solidFill>
                <a:latin typeface="Cambria Math"/>
              </a:rPr>
              <a:t>) ∧ activates(</a:t>
            </a:r>
            <a:r>
              <a:rPr sz="1250" b="0" i="1" dirty="0">
                <a:solidFill>
                  <a:srgbClr val="000000"/>
                </a:solidFill>
                <a:latin typeface="Cambria Math"/>
              </a:rPr>
              <a:t>e</a:t>
            </a:r>
            <a:r>
              <a:rPr sz="1250" b="0" i="0" dirty="0">
                <a:solidFill>
                  <a:srgbClr val="000000"/>
                </a:solidFill>
                <a:latin typeface="Cambria Math"/>
              </a:rPr>
              <a:t>, </a:t>
            </a:r>
            <a:r>
              <a:rPr sz="1250" b="0" i="1" dirty="0">
                <a:solidFill>
                  <a:srgbClr val="000000"/>
                </a:solidFill>
                <a:latin typeface="Cambria Math"/>
              </a:rPr>
              <a:t>f</a:t>
            </a:r>
            <a:r>
              <a:rPr sz="1250" b="0" i="0" dirty="0">
                <a:solidFill>
                  <a:srgbClr val="000000"/>
                </a:solidFill>
                <a:latin typeface="Cambria Math"/>
              </a:rPr>
              <a:t>) → ∃</a:t>
            </a:r>
            <a:r>
              <a:rPr sz="1250" b="0" i="1" dirty="0" err="1">
                <a:solidFill>
                  <a:srgbClr val="000000"/>
                </a:solidFill>
                <a:latin typeface="Cambria Math"/>
              </a:rPr>
              <a:t>ρ</a:t>
            </a:r>
            <a:r>
              <a:rPr sz="1250" b="0" i="0" baseline="-25000" dirty="0" err="1">
                <a:solidFill>
                  <a:srgbClr val="000000"/>
                </a:solidFill>
                <a:latin typeface="Cambria Math"/>
              </a:rPr>
              <a:t>F</a:t>
            </a:r>
            <a:r>
              <a:rPr sz="1250" b="0" i="0" dirty="0">
                <a:solidFill>
                  <a:srgbClr val="000000"/>
                </a:solidFill>
                <a:latin typeface="Cambria Math"/>
              </a:rPr>
              <a:t>, </a:t>
            </a:r>
            <a:r>
              <a:rPr sz="1250" b="0" i="1" dirty="0">
                <a:solidFill>
                  <a:srgbClr val="000000"/>
                </a:solidFill>
                <a:latin typeface="Cambria Math"/>
              </a:rPr>
              <a:t>d</a:t>
            </a:r>
            <a:r>
              <a:rPr sz="1250" b="0" i="0" dirty="0">
                <a:solidFill>
                  <a:srgbClr val="000000"/>
                </a:solidFill>
                <a:latin typeface="Cambria Math"/>
              </a:rPr>
              <a:t>, </a:t>
            </a:r>
            <a:r>
              <a:rPr sz="1250" b="0" i="1" dirty="0">
                <a:solidFill>
                  <a:srgbClr val="000000"/>
                </a:solidFill>
                <a:latin typeface="Cambria Math"/>
              </a:rPr>
              <a:t>c</a:t>
            </a:r>
            <a:r>
              <a:rPr sz="1250" b="0" i="0" dirty="0">
                <a:solidFill>
                  <a:srgbClr val="000000"/>
                </a:solidFill>
                <a:latin typeface="Cambria Math"/>
              </a:rPr>
              <a:t>. Rel(</a:t>
            </a:r>
            <a:r>
              <a:rPr sz="1250" b="0" i="1" dirty="0" err="1">
                <a:solidFill>
                  <a:srgbClr val="000000"/>
                </a:solidFill>
                <a:latin typeface="Cambria Math"/>
              </a:rPr>
              <a:t>ρ</a:t>
            </a:r>
            <a:r>
              <a:rPr sz="1250" b="0" i="0" baseline="-25000" dirty="0" err="1">
                <a:solidFill>
                  <a:srgbClr val="000000"/>
                </a:solidFill>
                <a:latin typeface="Cambria Math"/>
              </a:rPr>
              <a:t>F</a:t>
            </a:r>
            <a:r>
              <a:rPr sz="1250" b="0" i="0" dirty="0">
                <a:solidFill>
                  <a:srgbClr val="000000"/>
                </a:solidFill>
                <a:latin typeface="Cambria Math"/>
              </a:rPr>
              <a:t>)</a:t>
            </a:r>
          </a:p>
          <a:p>
            <a:pPr marL="0" indent="0">
              <a:spcBef>
                <a:spcPts val="100"/>
              </a:spcBef>
              <a:buNone/>
            </a:pPr>
            <a:r>
              <a:rPr sz="1250" b="0" i="0" dirty="0">
                <a:solidFill>
                  <a:srgbClr val="000000"/>
                </a:solidFill>
                <a:latin typeface="Cambria Math"/>
              </a:rPr>
              <a:t>   ∧ founds(</a:t>
            </a:r>
            <a:r>
              <a:rPr sz="1250" b="0" i="1" dirty="0">
                <a:solidFill>
                  <a:srgbClr val="000000"/>
                </a:solidFill>
                <a:latin typeface="Cambria Math"/>
              </a:rPr>
              <a:t>e</a:t>
            </a:r>
            <a:r>
              <a:rPr sz="1250" b="0" i="0" dirty="0">
                <a:solidFill>
                  <a:srgbClr val="000000"/>
                </a:solidFill>
                <a:latin typeface="Cambria Math"/>
              </a:rPr>
              <a:t>, </a:t>
            </a:r>
            <a:r>
              <a:rPr sz="1250" b="0" i="1" dirty="0" err="1">
                <a:solidFill>
                  <a:srgbClr val="000000"/>
                </a:solidFill>
                <a:latin typeface="Cambria Math"/>
              </a:rPr>
              <a:t>ρ</a:t>
            </a:r>
            <a:r>
              <a:rPr sz="1250" b="0" i="0" baseline="-25000" dirty="0" err="1">
                <a:solidFill>
                  <a:srgbClr val="000000"/>
                </a:solidFill>
                <a:latin typeface="Cambria Math"/>
              </a:rPr>
              <a:t>F</a:t>
            </a:r>
            <a:r>
              <a:rPr sz="1250" b="0" i="0" dirty="0">
                <a:solidFill>
                  <a:srgbClr val="000000"/>
                </a:solidFill>
                <a:latin typeface="Cambria Math"/>
              </a:rPr>
              <a:t>, </a:t>
            </a:r>
            <a:r>
              <a:rPr sz="1250" b="0" i="1" dirty="0">
                <a:solidFill>
                  <a:srgbClr val="000000"/>
                </a:solidFill>
                <a:latin typeface="Cambria Math"/>
              </a:rPr>
              <a:t>f</a:t>
            </a:r>
            <a:r>
              <a:rPr sz="1250" b="0" i="0" dirty="0">
                <a:solidFill>
                  <a:srgbClr val="000000"/>
                </a:solidFill>
                <a:latin typeface="Cambria Math"/>
              </a:rPr>
              <a:t>) ∧ </a:t>
            </a:r>
            <a:r>
              <a:rPr sz="1250" b="0" i="0" dirty="0">
                <a:solidFill>
                  <a:srgbClr val="137A62"/>
                </a:solidFill>
                <a:latin typeface="Cambria Math"/>
              </a:rPr>
              <a:t>Duty</a:t>
            </a:r>
            <a:r>
              <a:rPr sz="1250" b="0" i="0" dirty="0">
                <a:solidFill>
                  <a:srgbClr val="000000"/>
                </a:solidFill>
                <a:latin typeface="Cambria Math"/>
              </a:rPr>
              <a:t>(</a:t>
            </a:r>
            <a:r>
              <a:rPr sz="1250" b="0" i="1" dirty="0">
                <a:solidFill>
                  <a:srgbClr val="000000"/>
                </a:solidFill>
                <a:latin typeface="Cambria Math"/>
              </a:rPr>
              <a:t>d</a:t>
            </a:r>
            <a:r>
              <a:rPr sz="1250" b="0" i="0" dirty="0">
                <a:solidFill>
                  <a:srgbClr val="000000"/>
                </a:solidFill>
                <a:latin typeface="Cambria Math"/>
              </a:rPr>
              <a:t>) ∧ bearer(</a:t>
            </a:r>
            <a:r>
              <a:rPr sz="1250" b="0" i="1" dirty="0">
                <a:solidFill>
                  <a:srgbClr val="000000"/>
                </a:solidFill>
                <a:latin typeface="Cambria Math"/>
              </a:rPr>
              <a:t>d</a:t>
            </a:r>
            <a:r>
              <a:rPr sz="1250" b="0" i="0" dirty="0">
                <a:solidFill>
                  <a:srgbClr val="000000"/>
                </a:solidFill>
                <a:latin typeface="Cambria Math"/>
              </a:rPr>
              <a:t>, </a:t>
            </a:r>
            <a:r>
              <a:rPr sz="1250" b="0" i="1" dirty="0">
                <a:solidFill>
                  <a:srgbClr val="000000"/>
                </a:solidFill>
                <a:latin typeface="Cambria Math"/>
              </a:rPr>
              <a:t>x</a:t>
            </a:r>
            <a:r>
              <a:rPr sz="1250" b="0" i="0" dirty="0">
                <a:solidFill>
                  <a:srgbClr val="000000"/>
                </a:solidFill>
                <a:latin typeface="Cambria Math"/>
              </a:rPr>
              <a:t>) ∧ </a:t>
            </a:r>
            <a:r>
              <a:rPr sz="1250" b="0" i="0" dirty="0" err="1">
                <a:solidFill>
                  <a:srgbClr val="000000"/>
                </a:solidFill>
                <a:latin typeface="Cambria Math"/>
              </a:rPr>
              <a:t>cnt</a:t>
            </a:r>
            <a:r>
              <a:rPr sz="1250" b="0" i="0" dirty="0">
                <a:solidFill>
                  <a:srgbClr val="000000"/>
                </a:solidFill>
                <a:latin typeface="Cambria Math"/>
              </a:rPr>
              <a:t>(</a:t>
            </a:r>
            <a:r>
              <a:rPr sz="1250" b="0" i="1" dirty="0">
                <a:solidFill>
                  <a:srgbClr val="000000"/>
                </a:solidFill>
                <a:latin typeface="Cambria Math"/>
              </a:rPr>
              <a:t>d</a:t>
            </a:r>
            <a:r>
              <a:rPr sz="1250" b="0" i="0" dirty="0">
                <a:solidFill>
                  <a:srgbClr val="000000"/>
                </a:solidFill>
                <a:latin typeface="Cambria Math"/>
              </a:rPr>
              <a:t>, </a:t>
            </a:r>
            <a:r>
              <a:rPr sz="1250" b="0" i="0" dirty="0" err="1">
                <a:solidFill>
                  <a:srgbClr val="000000"/>
                </a:solidFill>
                <a:latin typeface="Cambria Math"/>
              </a:rPr>
              <a:t>rfr</a:t>
            </a:r>
            <a:r>
              <a:rPr sz="1250" b="0" i="0" dirty="0">
                <a:solidFill>
                  <a:srgbClr val="000000"/>
                </a:solidFill>
                <a:latin typeface="Cambria Math"/>
              </a:rPr>
              <a:t>(</a:t>
            </a:r>
            <a:r>
              <a:rPr sz="1250" b="0" i="1" dirty="0">
                <a:solidFill>
                  <a:srgbClr val="000000"/>
                </a:solidFill>
                <a:latin typeface="Cambria Math"/>
              </a:rPr>
              <a:t>a</a:t>
            </a:r>
            <a:r>
              <a:rPr sz="1250" b="0" i="0" dirty="0">
                <a:solidFill>
                  <a:srgbClr val="000000"/>
                </a:solidFill>
                <a:latin typeface="Cambria Math"/>
              </a:rPr>
              <a:t>), </a:t>
            </a:r>
            <a:r>
              <a:rPr sz="1250" b="0" i="1" dirty="0">
                <a:solidFill>
                  <a:srgbClr val="000000"/>
                </a:solidFill>
                <a:latin typeface="Cambria Math"/>
              </a:rPr>
              <a:t>t</a:t>
            </a:r>
            <a:r>
              <a:rPr sz="1250" b="0" i="0" dirty="0">
                <a:solidFill>
                  <a:srgbClr val="000000"/>
                </a:solidFill>
                <a:latin typeface="Cambria Math"/>
              </a:rPr>
              <a:t>)</a:t>
            </a:r>
          </a:p>
          <a:p>
            <a:pPr marL="0" indent="0">
              <a:spcBef>
                <a:spcPts val="100"/>
              </a:spcBef>
              <a:buNone/>
            </a:pPr>
            <a:r>
              <a:rPr sz="1250" b="0" i="0" dirty="0">
                <a:solidFill>
                  <a:srgbClr val="000000"/>
                </a:solidFill>
                <a:latin typeface="Cambria Math"/>
              </a:rPr>
              <a:t>   ∧ </a:t>
            </a:r>
            <a:r>
              <a:rPr sz="1250" b="0" i="0" dirty="0" err="1">
                <a:solidFill>
                  <a:srgbClr val="000000"/>
                </a:solidFill>
                <a:latin typeface="Cambria Math"/>
              </a:rPr>
              <a:t>partOf</a:t>
            </a:r>
            <a:r>
              <a:rPr sz="1250" b="0" i="0" dirty="0">
                <a:solidFill>
                  <a:srgbClr val="000000"/>
                </a:solidFill>
                <a:latin typeface="Cambria Math"/>
              </a:rPr>
              <a:t>(</a:t>
            </a:r>
            <a:r>
              <a:rPr sz="1250" b="0" i="1" dirty="0">
                <a:solidFill>
                  <a:srgbClr val="000000"/>
                </a:solidFill>
                <a:latin typeface="Cambria Math"/>
              </a:rPr>
              <a:t>d</a:t>
            </a:r>
            <a:r>
              <a:rPr sz="1250" b="0" i="0" dirty="0">
                <a:solidFill>
                  <a:srgbClr val="000000"/>
                </a:solidFill>
                <a:latin typeface="Cambria Math"/>
              </a:rPr>
              <a:t>, </a:t>
            </a:r>
            <a:r>
              <a:rPr sz="1250" b="0" i="1" dirty="0" err="1">
                <a:solidFill>
                  <a:srgbClr val="000000"/>
                </a:solidFill>
                <a:latin typeface="Cambria Math"/>
              </a:rPr>
              <a:t>ρ</a:t>
            </a:r>
            <a:r>
              <a:rPr sz="1250" b="0" i="0" baseline="-25000" dirty="0" err="1">
                <a:solidFill>
                  <a:srgbClr val="000000"/>
                </a:solidFill>
                <a:latin typeface="Cambria Math"/>
              </a:rPr>
              <a:t>F</a:t>
            </a:r>
            <a:r>
              <a:rPr sz="1250" b="0" i="0" dirty="0">
                <a:solidFill>
                  <a:srgbClr val="000000"/>
                </a:solidFill>
                <a:latin typeface="Cambria Math"/>
              </a:rPr>
              <a:t>) ∧ </a:t>
            </a:r>
            <a:r>
              <a:rPr sz="1250" b="0" i="0" dirty="0">
                <a:solidFill>
                  <a:srgbClr val="137A62"/>
                </a:solidFill>
                <a:latin typeface="Cambria Math"/>
              </a:rPr>
              <a:t>Right</a:t>
            </a:r>
            <a:r>
              <a:rPr sz="1250" b="0" i="0" dirty="0">
                <a:solidFill>
                  <a:srgbClr val="000000"/>
                </a:solidFill>
                <a:latin typeface="Cambria Math"/>
              </a:rPr>
              <a:t>(</a:t>
            </a:r>
            <a:r>
              <a:rPr sz="1250" b="0" i="1" dirty="0">
                <a:solidFill>
                  <a:srgbClr val="000000"/>
                </a:solidFill>
                <a:latin typeface="Cambria Math"/>
              </a:rPr>
              <a:t>c</a:t>
            </a:r>
            <a:r>
              <a:rPr sz="1250" b="0" i="0" dirty="0">
                <a:solidFill>
                  <a:srgbClr val="000000"/>
                </a:solidFill>
                <a:latin typeface="Cambria Math"/>
              </a:rPr>
              <a:t>) ∧ bearer(</a:t>
            </a:r>
            <a:r>
              <a:rPr sz="1250" b="0" i="1" dirty="0">
                <a:solidFill>
                  <a:srgbClr val="000000"/>
                </a:solidFill>
                <a:latin typeface="Cambria Math"/>
              </a:rPr>
              <a:t>c</a:t>
            </a:r>
            <a:r>
              <a:rPr sz="1250" b="0" i="0" dirty="0">
                <a:solidFill>
                  <a:srgbClr val="000000"/>
                </a:solidFill>
                <a:latin typeface="Cambria Math"/>
              </a:rPr>
              <a:t>, </a:t>
            </a:r>
            <a:r>
              <a:rPr sz="1250" b="0" i="1" dirty="0">
                <a:solidFill>
                  <a:srgbClr val="000000"/>
                </a:solidFill>
                <a:latin typeface="Cambria Math"/>
              </a:rPr>
              <a:t>y</a:t>
            </a:r>
            <a:r>
              <a:rPr sz="1250" b="0" i="0" dirty="0">
                <a:solidFill>
                  <a:srgbClr val="000000"/>
                </a:solidFill>
                <a:latin typeface="Cambria Math"/>
              </a:rPr>
              <a:t>) ∧ </a:t>
            </a:r>
            <a:r>
              <a:rPr sz="1250" b="0" i="0" dirty="0" err="1">
                <a:solidFill>
                  <a:srgbClr val="000000"/>
                </a:solidFill>
                <a:latin typeface="Cambria Math"/>
              </a:rPr>
              <a:t>cnt</a:t>
            </a:r>
            <a:r>
              <a:rPr sz="1250" b="0" i="0" dirty="0">
                <a:solidFill>
                  <a:srgbClr val="000000"/>
                </a:solidFill>
                <a:latin typeface="Cambria Math"/>
              </a:rPr>
              <a:t>(</a:t>
            </a:r>
            <a:r>
              <a:rPr sz="1250" b="0" i="1" dirty="0">
                <a:solidFill>
                  <a:srgbClr val="000000"/>
                </a:solidFill>
                <a:latin typeface="Cambria Math"/>
              </a:rPr>
              <a:t>c</a:t>
            </a:r>
            <a:r>
              <a:rPr sz="1250" b="0" i="0" dirty="0">
                <a:solidFill>
                  <a:srgbClr val="000000"/>
                </a:solidFill>
                <a:latin typeface="Cambria Math"/>
              </a:rPr>
              <a:t>, </a:t>
            </a:r>
            <a:r>
              <a:rPr sz="1250" b="0" i="0" dirty="0" err="1">
                <a:solidFill>
                  <a:srgbClr val="000000"/>
                </a:solidFill>
                <a:latin typeface="Cambria Math"/>
              </a:rPr>
              <a:t>rfr</a:t>
            </a:r>
            <a:r>
              <a:rPr sz="1250" b="0" i="0" dirty="0">
                <a:solidFill>
                  <a:srgbClr val="000000"/>
                </a:solidFill>
                <a:latin typeface="Cambria Math"/>
              </a:rPr>
              <a:t>(</a:t>
            </a:r>
            <a:r>
              <a:rPr sz="1250" b="0" i="1" dirty="0">
                <a:solidFill>
                  <a:srgbClr val="000000"/>
                </a:solidFill>
                <a:latin typeface="Cambria Math"/>
              </a:rPr>
              <a:t>a</a:t>
            </a:r>
            <a:r>
              <a:rPr sz="1250" b="0" i="0" dirty="0">
                <a:solidFill>
                  <a:srgbClr val="000000"/>
                </a:solidFill>
                <a:latin typeface="Cambria Math"/>
              </a:rPr>
              <a:t>), </a:t>
            </a:r>
            <a:r>
              <a:rPr sz="1250" b="0" i="1" dirty="0">
                <a:solidFill>
                  <a:srgbClr val="000000"/>
                </a:solidFill>
                <a:latin typeface="Cambria Math"/>
              </a:rPr>
              <a:t>t</a:t>
            </a:r>
            <a:r>
              <a:rPr sz="1250" b="0" i="0" dirty="0">
                <a:solidFill>
                  <a:srgbClr val="000000"/>
                </a:solidFill>
                <a:latin typeface="Cambria Math"/>
              </a:rPr>
              <a:t>)</a:t>
            </a:r>
          </a:p>
          <a:p>
            <a:pPr marL="0" indent="0">
              <a:spcBef>
                <a:spcPts val="100"/>
              </a:spcBef>
              <a:buNone/>
            </a:pPr>
            <a:r>
              <a:rPr sz="1250" b="0" i="0" dirty="0">
                <a:solidFill>
                  <a:srgbClr val="000000"/>
                </a:solidFill>
                <a:latin typeface="Cambria Math"/>
              </a:rPr>
              <a:t>   ∧ </a:t>
            </a:r>
            <a:r>
              <a:rPr sz="1250" b="0" i="0" dirty="0" err="1">
                <a:solidFill>
                  <a:srgbClr val="000000"/>
                </a:solidFill>
                <a:latin typeface="Cambria Math"/>
              </a:rPr>
              <a:t>partOf</a:t>
            </a:r>
            <a:r>
              <a:rPr sz="1250" b="0" i="0" dirty="0">
                <a:solidFill>
                  <a:srgbClr val="000000"/>
                </a:solidFill>
                <a:latin typeface="Cambria Math"/>
              </a:rPr>
              <a:t>(</a:t>
            </a:r>
            <a:r>
              <a:rPr sz="1250" b="0" i="1" dirty="0">
                <a:solidFill>
                  <a:srgbClr val="000000"/>
                </a:solidFill>
                <a:latin typeface="Cambria Math"/>
              </a:rPr>
              <a:t>c</a:t>
            </a:r>
            <a:r>
              <a:rPr sz="1250" b="0" i="0" dirty="0">
                <a:solidFill>
                  <a:srgbClr val="000000"/>
                </a:solidFill>
                <a:latin typeface="Cambria Math"/>
              </a:rPr>
              <a:t>, </a:t>
            </a:r>
            <a:r>
              <a:rPr sz="1250" b="0" i="1" dirty="0" err="1">
                <a:solidFill>
                  <a:srgbClr val="000000"/>
                </a:solidFill>
                <a:latin typeface="Cambria Math"/>
              </a:rPr>
              <a:t>ρ</a:t>
            </a:r>
            <a:r>
              <a:rPr sz="1250" b="0" i="0" baseline="-25000" dirty="0" err="1">
                <a:solidFill>
                  <a:srgbClr val="000000"/>
                </a:solidFill>
                <a:latin typeface="Cambria Math"/>
              </a:rPr>
              <a:t>F</a:t>
            </a:r>
            <a:r>
              <a:rPr sz="1250" b="0" i="0" dirty="0">
                <a:solidFill>
                  <a:srgbClr val="000000"/>
                </a:solidFill>
                <a:latin typeface="Cambria Math"/>
              </a:rPr>
              <a:t>)</a:t>
            </a:r>
          </a:p>
        </p:txBody>
      </p:sp>
      <p:sp>
        <p:nvSpPr>
          <p:cNvPr id="4" name="TextBox 3"/>
          <p:cNvSpPr txBox="1"/>
          <p:nvPr/>
        </p:nvSpPr>
        <p:spPr>
          <a:xfrm>
            <a:off x="6278727" y="1325880"/>
            <a:ext cx="5364327" cy="4892040"/>
          </a:xfrm>
          <a:prstGeom prst="rect">
            <a:avLst/>
          </a:prstGeom>
          <a:noFill/>
        </p:spPr>
        <p:txBody>
          <a:bodyPr wrap="square" lIns="0" tIns="0" rIns="0" bIns="0" anchor="t">
            <a:noAutofit/>
          </a:bodyPr>
          <a:lstStyle/>
          <a:p>
            <a:pPr marL="0" indent="0">
              <a:spcBef>
                <a:spcPts val="0"/>
              </a:spcBef>
              <a:buNone/>
            </a:pPr>
            <a:r>
              <a:rPr sz="1300" b="1">
                <a:solidFill>
                  <a:srgbClr val="000000"/>
                </a:solidFill>
              </a:rPr>
              <a:t>Ax. 5.4  Prohibition relator (remedy)</a:t>
            </a:r>
          </a:p>
          <a:p>
            <a:pPr marL="0" indent="0">
              <a:spcBef>
                <a:spcPts val="300"/>
              </a:spcBef>
              <a:buNone/>
            </a:pPr>
            <a:r>
              <a:rPr sz="1250" b="0" i="0">
                <a:solidFill>
                  <a:srgbClr val="000000"/>
                </a:solidFill>
                <a:latin typeface="Cambria Math"/>
              </a:rPr>
              <a:t>∀</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a:t>
            </a:r>
            <a:r>
              <a:rPr sz="1250" b="0" i="1">
                <a:solidFill>
                  <a:srgbClr val="000000"/>
                </a:solidFill>
                <a:latin typeface="Cambria Math"/>
              </a:rPr>
              <a:t>e</a:t>
            </a:r>
            <a:r>
              <a:rPr sz="1250" b="0" i="0">
                <a:solidFill>
                  <a:srgbClr val="000000"/>
                </a:solidFill>
                <a:latin typeface="Cambria Math"/>
              </a:rPr>
              <a:t>. Proh(</a:t>
            </a:r>
            <a:r>
              <a:rPr sz="1250" b="0" i="1">
                <a:solidFill>
                  <a:srgbClr val="000000"/>
                </a:solidFill>
                <a:latin typeface="Cambria Math"/>
              </a:rPr>
              <a:t>f</a:t>
            </a:r>
            <a:r>
              <a:rPr sz="1250" b="0" i="0">
                <a:solidFill>
                  <a:srgbClr val="000000"/>
                </a:solidFill>
                <a:latin typeface="Cambria Math"/>
              </a:rPr>
              <a:t>) ∧ has</a:t>
            </a:r>
            <a:r>
              <a:rPr sz="1250" b="0" i="0" baseline="-25000">
                <a:solidFill>
                  <a:srgbClr val="000000"/>
                </a:solidFill>
                <a:latin typeface="Cambria Math"/>
              </a:rPr>
              <a:t>rem</a:t>
            </a:r>
            <a:r>
              <a:rPr sz="1250" b="0" i="0">
                <a:solidFill>
                  <a:srgbClr val="000000"/>
                </a:solidFill>
                <a:latin typeface="Cambria Math"/>
              </a:rPr>
              <a:t>(</a:t>
            </a:r>
            <a:r>
              <a:rPr sz="1250" b="0" i="1">
                <a:solidFill>
                  <a:srgbClr val="000000"/>
                </a:solidFill>
                <a:latin typeface="Cambria Math"/>
              </a:rPr>
              <a:t>f</a:t>
            </a:r>
            <a:r>
              <a:rPr sz="1250" b="0" i="0">
                <a:solidFill>
                  <a:srgbClr val="000000"/>
                </a:solidFill>
                <a:latin typeface="Cambria Math"/>
              </a:rPr>
              <a:t>) ∧ aee(</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 aer(</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a:t>
            </a:r>
          </a:p>
          <a:p>
            <a:pPr marL="0" indent="0">
              <a:spcBef>
                <a:spcPts val="100"/>
              </a:spcBef>
              <a:buNone/>
            </a:pPr>
            <a:r>
              <a:rPr sz="1250" b="0" i="0">
                <a:solidFill>
                  <a:srgbClr val="000000"/>
                </a:solidFill>
                <a:latin typeface="Cambria Math"/>
              </a:rPr>
              <a:t>   ∧ act(</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 tgt(</a:t>
            </a:r>
            <a:r>
              <a:rPr sz="1250" b="0" i="1">
                <a:solidFill>
                  <a:srgbClr val="000000"/>
                </a:solidFill>
                <a:latin typeface="Cambria Math"/>
              </a:rPr>
              <a:t>f</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activates(</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f</a:t>
            </a:r>
            <a:r>
              <a:rPr sz="1250" b="0" i="0">
                <a:solidFill>
                  <a:srgbClr val="000000"/>
                </a:solidFill>
                <a:latin typeface="Cambria Math"/>
              </a:rPr>
              <a:t>) → ∃</a:t>
            </a:r>
            <a:r>
              <a:rPr sz="1250" b="0" i="1">
                <a:solidFill>
                  <a:srgbClr val="000000"/>
                </a:solidFill>
                <a:latin typeface="Cambria Math"/>
              </a:rPr>
              <a:t>ρ</a:t>
            </a:r>
            <a:r>
              <a:rPr sz="1250" b="0" i="0" baseline="-25000">
                <a:solidFill>
                  <a:srgbClr val="000000"/>
                </a:solidFill>
                <a:latin typeface="Cambria Math"/>
              </a:rPr>
              <a:t>R</a:t>
            </a:r>
            <a:r>
              <a:rPr sz="1250" b="0" i="0">
                <a:solidFill>
                  <a:srgbClr val="000000"/>
                </a:solidFill>
                <a:latin typeface="Cambria Math"/>
              </a:rPr>
              <a:t>, </a:t>
            </a:r>
            <a:r>
              <a:rPr sz="1250" b="0" i="1">
                <a:solidFill>
                  <a:srgbClr val="000000"/>
                </a:solidFill>
                <a:latin typeface="Cambria Math"/>
              </a:rPr>
              <a:t>pw</a:t>
            </a:r>
            <a:r>
              <a:rPr sz="1250" b="0" i="0">
                <a:solidFill>
                  <a:srgbClr val="000000"/>
                </a:solidFill>
                <a:latin typeface="Cambria Math"/>
              </a:rPr>
              <a:t>, </a:t>
            </a:r>
            <a:r>
              <a:rPr sz="1250" b="0" i="1">
                <a:solidFill>
                  <a:srgbClr val="000000"/>
                </a:solidFill>
                <a:latin typeface="Cambria Math"/>
              </a:rPr>
              <a:t>s</a:t>
            </a:r>
            <a:r>
              <a:rPr sz="1250" b="0" i="0">
                <a:solidFill>
                  <a:srgbClr val="000000"/>
                </a:solidFill>
                <a:latin typeface="Cambria Math"/>
              </a:rPr>
              <a:t>.</a:t>
            </a:r>
          </a:p>
          <a:p>
            <a:pPr marL="0" indent="0">
              <a:spcBef>
                <a:spcPts val="100"/>
              </a:spcBef>
              <a:buNone/>
            </a:pPr>
            <a:r>
              <a:rPr sz="1250" b="0" i="0">
                <a:solidFill>
                  <a:srgbClr val="000000"/>
                </a:solidFill>
                <a:latin typeface="Cambria Math"/>
              </a:rPr>
              <a:t>   Rel(</a:t>
            </a:r>
            <a:r>
              <a:rPr sz="1250" b="0" i="1">
                <a:solidFill>
                  <a:srgbClr val="000000"/>
                </a:solidFill>
                <a:latin typeface="Cambria Math"/>
              </a:rPr>
              <a:t>ρ</a:t>
            </a:r>
            <a:r>
              <a:rPr sz="1250" b="0" i="0" baseline="-25000">
                <a:solidFill>
                  <a:srgbClr val="000000"/>
                </a:solidFill>
                <a:latin typeface="Cambria Math"/>
              </a:rPr>
              <a:t>R</a:t>
            </a:r>
            <a:r>
              <a:rPr sz="1250" b="0" i="0">
                <a:solidFill>
                  <a:srgbClr val="000000"/>
                </a:solidFill>
                <a:latin typeface="Cambria Math"/>
              </a:rPr>
              <a:t>) ∧ founds</a:t>
            </a:r>
            <a:r>
              <a:rPr sz="1250" b="0" i="0" baseline="-25000">
                <a:solidFill>
                  <a:srgbClr val="000000"/>
                </a:solidFill>
                <a:latin typeface="Cambria Math"/>
              </a:rPr>
              <a:t>rem</a:t>
            </a:r>
            <a:r>
              <a:rPr sz="1250" b="0" i="0">
                <a:solidFill>
                  <a:srgbClr val="000000"/>
                </a:solidFill>
                <a:latin typeface="Cambria Math"/>
              </a:rPr>
              <a:t>(</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R</a:t>
            </a:r>
            <a:r>
              <a:rPr sz="1250" b="0" i="0">
                <a:solidFill>
                  <a:srgbClr val="000000"/>
                </a:solidFill>
                <a:latin typeface="Cambria Math"/>
              </a:rPr>
              <a:t>, </a:t>
            </a:r>
            <a:r>
              <a:rPr sz="1250" b="0" i="1">
                <a:solidFill>
                  <a:srgbClr val="000000"/>
                </a:solidFill>
                <a:latin typeface="Cambria Math"/>
              </a:rPr>
              <a:t>f</a:t>
            </a:r>
            <a:r>
              <a:rPr sz="1250" b="0" i="0">
                <a:solidFill>
                  <a:srgbClr val="000000"/>
                </a:solidFill>
                <a:latin typeface="Cambria Math"/>
              </a:rPr>
              <a:t>) ∧ </a:t>
            </a:r>
            <a:r>
              <a:rPr sz="1250" b="0" i="0">
                <a:solidFill>
                  <a:srgbClr val="00549F"/>
                </a:solidFill>
                <a:latin typeface="Cambria Math"/>
              </a:rPr>
              <a:t>Power</a:t>
            </a:r>
            <a:r>
              <a:rPr sz="1250" b="0" i="0">
                <a:solidFill>
                  <a:srgbClr val="000000"/>
                </a:solidFill>
                <a:latin typeface="Cambria Math"/>
              </a:rPr>
              <a:t>(</a:t>
            </a:r>
            <a:r>
              <a:rPr sz="1250" b="0" i="1">
                <a:solidFill>
                  <a:srgbClr val="000000"/>
                </a:solidFill>
                <a:latin typeface="Cambria Math"/>
              </a:rPr>
              <a:t>pw</a:t>
            </a:r>
            <a:r>
              <a:rPr sz="1250" b="0" i="0">
                <a:solidFill>
                  <a:srgbClr val="000000"/>
                </a:solidFill>
                <a:latin typeface="Cambria Math"/>
              </a:rPr>
              <a:t>) ∧ bearer(</a:t>
            </a:r>
            <a:r>
              <a:rPr sz="1250" b="0" i="1">
                <a:solidFill>
                  <a:srgbClr val="000000"/>
                </a:solidFill>
                <a:latin typeface="Cambria Math"/>
              </a:rPr>
              <a:t>pw</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a:t>
            </a:r>
          </a:p>
          <a:p>
            <a:pPr marL="0" indent="0">
              <a:spcBef>
                <a:spcPts val="100"/>
              </a:spcBef>
              <a:buNone/>
            </a:pPr>
            <a:r>
              <a:rPr sz="1250" b="0" i="0">
                <a:solidFill>
                  <a:srgbClr val="000000"/>
                </a:solidFill>
                <a:latin typeface="Cambria Math"/>
              </a:rPr>
              <a:t>   ∧ cnt(</a:t>
            </a:r>
            <a:r>
              <a:rPr sz="1250" b="0" i="1">
                <a:solidFill>
                  <a:srgbClr val="000000"/>
                </a:solidFill>
                <a:latin typeface="Cambria Math"/>
              </a:rPr>
              <a:t>pw</a:t>
            </a:r>
            <a:r>
              <a:rPr sz="1250" b="0" i="0">
                <a:solidFill>
                  <a:srgbClr val="000000"/>
                </a:solidFill>
                <a:latin typeface="Cambria Math"/>
              </a:rPr>
              <a:t>, decl(</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partOf(</a:t>
            </a:r>
            <a:r>
              <a:rPr sz="1250" b="0" i="1">
                <a:solidFill>
                  <a:srgbClr val="000000"/>
                </a:solidFill>
                <a:latin typeface="Cambria Math"/>
              </a:rPr>
              <a:t>pw</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R</a:t>
            </a:r>
            <a:r>
              <a:rPr sz="1250" b="0" i="0">
                <a:solidFill>
                  <a:srgbClr val="000000"/>
                </a:solidFill>
                <a:latin typeface="Cambria Math"/>
              </a:rPr>
              <a:t>) ∧ </a:t>
            </a:r>
            <a:r>
              <a:rPr sz="1250" b="0" i="0">
                <a:solidFill>
                  <a:srgbClr val="00549F"/>
                </a:solidFill>
                <a:latin typeface="Cambria Math"/>
              </a:rPr>
              <a:t>Subj</a:t>
            </a:r>
            <a:r>
              <a:rPr sz="1250" b="0" i="0">
                <a:solidFill>
                  <a:srgbClr val="000000"/>
                </a:solidFill>
                <a:latin typeface="Cambria Math"/>
              </a:rPr>
              <a:t>(</a:t>
            </a:r>
            <a:r>
              <a:rPr sz="1250" b="0" i="1">
                <a:solidFill>
                  <a:srgbClr val="000000"/>
                </a:solidFill>
                <a:latin typeface="Cambria Math"/>
              </a:rPr>
              <a:t>s</a:t>
            </a:r>
            <a:r>
              <a:rPr sz="1250" b="0" i="0">
                <a:solidFill>
                  <a:srgbClr val="000000"/>
                </a:solidFill>
                <a:latin typeface="Cambria Math"/>
              </a:rPr>
              <a:t>)</a:t>
            </a:r>
          </a:p>
          <a:p>
            <a:pPr marL="0" indent="0">
              <a:spcBef>
                <a:spcPts val="100"/>
              </a:spcBef>
              <a:buNone/>
            </a:pPr>
            <a:r>
              <a:rPr sz="1250" b="0" i="0">
                <a:solidFill>
                  <a:srgbClr val="000000"/>
                </a:solidFill>
                <a:latin typeface="Cambria Math"/>
              </a:rPr>
              <a:t>   ∧ bearer(</a:t>
            </a:r>
            <a:r>
              <a:rPr sz="1250" b="0" i="1">
                <a:solidFill>
                  <a:srgbClr val="000000"/>
                </a:solidFill>
                <a:latin typeface="Cambria Math"/>
              </a:rPr>
              <a:t>s</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 cnt(</a:t>
            </a:r>
            <a:r>
              <a:rPr sz="1250" b="0" i="1">
                <a:solidFill>
                  <a:srgbClr val="000000"/>
                </a:solidFill>
                <a:latin typeface="Cambria Math"/>
              </a:rPr>
              <a:t>s</a:t>
            </a:r>
            <a:r>
              <a:rPr sz="1250" b="0" i="0">
                <a:solidFill>
                  <a:srgbClr val="000000"/>
                </a:solidFill>
                <a:latin typeface="Cambria Math"/>
              </a:rPr>
              <a:t>, decl(</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partOf(</a:t>
            </a:r>
            <a:r>
              <a:rPr sz="1250" b="0" i="1">
                <a:solidFill>
                  <a:srgbClr val="000000"/>
                </a:solidFill>
                <a:latin typeface="Cambria Math"/>
              </a:rPr>
              <a:t>s</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R</a:t>
            </a:r>
            <a:r>
              <a:rPr sz="1250" b="0" i="0">
                <a:solidFill>
                  <a:srgbClr val="000000"/>
                </a:solidFill>
                <a:latin typeface="Cambria Math"/>
              </a:rPr>
              <a:t>)</a:t>
            </a:r>
          </a:p>
          <a:p>
            <a:pPr marL="0" indent="0">
              <a:spcBef>
                <a:spcPts val="1200"/>
              </a:spcBef>
              <a:buNone/>
            </a:pPr>
            <a:r>
              <a:rPr sz="1300" b="1">
                <a:solidFill>
                  <a:srgbClr val="000000"/>
                </a:solidFill>
              </a:rPr>
              <a:t>Ax. 5.5  Obligation relator</a:t>
            </a:r>
          </a:p>
          <a:p>
            <a:pPr marL="0" indent="0">
              <a:spcBef>
                <a:spcPts val="300"/>
              </a:spcBef>
              <a:buNone/>
            </a:pPr>
            <a:r>
              <a:rPr sz="1250" b="0" i="0">
                <a:solidFill>
                  <a:srgbClr val="000000"/>
                </a:solidFill>
                <a:latin typeface="Cambria Math"/>
              </a:rPr>
              <a:t>∀</a:t>
            </a:r>
            <a:r>
              <a:rPr sz="1250" b="0" i="1">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a:t>
            </a:r>
            <a:r>
              <a:rPr sz="1250" b="0" i="1">
                <a:solidFill>
                  <a:srgbClr val="000000"/>
                </a:solidFill>
                <a:latin typeface="Cambria Math"/>
              </a:rPr>
              <a:t>e</a:t>
            </a:r>
            <a:r>
              <a:rPr sz="1250" b="0" i="0">
                <a:solidFill>
                  <a:srgbClr val="000000"/>
                </a:solidFill>
                <a:latin typeface="Cambria Math"/>
              </a:rPr>
              <a:t>. obl(</a:t>
            </a:r>
            <a:r>
              <a:rPr sz="1250" b="0" i="1">
                <a:solidFill>
                  <a:srgbClr val="000000"/>
                </a:solidFill>
                <a:latin typeface="Cambria Math"/>
              </a:rPr>
              <a:t>d</a:t>
            </a:r>
            <a:r>
              <a:rPr sz="1250" b="0" i="0">
                <a:solidFill>
                  <a:srgbClr val="000000"/>
                </a:solidFill>
                <a:latin typeface="Cambria Math"/>
              </a:rPr>
              <a:t>) ∧ aee(</a:t>
            </a:r>
            <a:r>
              <a:rPr sz="1250" b="0" i="1">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 aer(</a:t>
            </a:r>
            <a:r>
              <a:rPr sz="1250" b="0" i="1">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 act(</a:t>
            </a:r>
            <a:r>
              <a:rPr sz="1250" b="0" i="1">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a:t>
            </a:r>
          </a:p>
          <a:p>
            <a:pPr marL="0" indent="0">
              <a:spcBef>
                <a:spcPts val="100"/>
              </a:spcBef>
              <a:buNone/>
            </a:pPr>
            <a:r>
              <a:rPr sz="1250" b="0" i="0">
                <a:solidFill>
                  <a:srgbClr val="000000"/>
                </a:solidFill>
                <a:latin typeface="Cambria Math"/>
              </a:rPr>
              <a:t>   ∧ tgt(</a:t>
            </a:r>
            <a:r>
              <a:rPr sz="1250" b="0" i="1">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 ∧ activates(</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d</a:t>
            </a:r>
            <a:r>
              <a:rPr sz="1250" b="0" i="0">
                <a:solidFill>
                  <a:srgbClr val="000000"/>
                </a:solidFill>
                <a:latin typeface="Cambria Math"/>
              </a:rPr>
              <a:t>) → ∃</a:t>
            </a:r>
            <a:r>
              <a:rPr sz="1250" b="0" i="1">
                <a:solidFill>
                  <a:srgbClr val="000000"/>
                </a:solidFill>
                <a:latin typeface="Cambria Math"/>
              </a:rPr>
              <a:t>ρ</a:t>
            </a:r>
            <a:r>
              <a:rPr sz="1250" b="0" i="0" baseline="-25000">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du</a:t>
            </a:r>
            <a:r>
              <a:rPr sz="1250" b="0" i="0">
                <a:solidFill>
                  <a:srgbClr val="000000"/>
                </a:solidFill>
                <a:latin typeface="Cambria Math"/>
              </a:rPr>
              <a:t>, </a:t>
            </a:r>
            <a:r>
              <a:rPr sz="1250" b="0" i="1">
                <a:solidFill>
                  <a:srgbClr val="000000"/>
                </a:solidFill>
                <a:latin typeface="Cambria Math"/>
              </a:rPr>
              <a:t>c</a:t>
            </a:r>
            <a:r>
              <a:rPr sz="1250" b="0" i="0">
                <a:solidFill>
                  <a:srgbClr val="000000"/>
                </a:solidFill>
                <a:latin typeface="Cambria Math"/>
              </a:rPr>
              <a:t>. Rel(</a:t>
            </a:r>
            <a:r>
              <a:rPr sz="1250" b="0" i="1">
                <a:solidFill>
                  <a:srgbClr val="000000"/>
                </a:solidFill>
                <a:latin typeface="Cambria Math"/>
              </a:rPr>
              <a:t>ρ</a:t>
            </a:r>
            <a:r>
              <a:rPr sz="1250" b="0" i="0" baseline="-25000">
                <a:solidFill>
                  <a:srgbClr val="000000"/>
                </a:solidFill>
                <a:latin typeface="Cambria Math"/>
              </a:rPr>
              <a:t>D</a:t>
            </a:r>
            <a:r>
              <a:rPr sz="1250" b="0" i="0">
                <a:solidFill>
                  <a:srgbClr val="000000"/>
                </a:solidFill>
                <a:latin typeface="Cambria Math"/>
              </a:rPr>
              <a:t>)</a:t>
            </a:r>
          </a:p>
          <a:p>
            <a:pPr marL="0" indent="0">
              <a:spcBef>
                <a:spcPts val="100"/>
              </a:spcBef>
              <a:buNone/>
            </a:pPr>
            <a:r>
              <a:rPr sz="1250" b="0" i="0">
                <a:solidFill>
                  <a:srgbClr val="000000"/>
                </a:solidFill>
                <a:latin typeface="Cambria Math"/>
              </a:rPr>
              <a:t>   ∧ founds(</a:t>
            </a:r>
            <a:r>
              <a:rPr sz="1250" b="0" i="1">
                <a:solidFill>
                  <a:srgbClr val="000000"/>
                </a:solidFill>
                <a:latin typeface="Cambria Math"/>
              </a:rPr>
              <a:t>e</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D</a:t>
            </a:r>
            <a:r>
              <a:rPr sz="1250" b="0" i="0">
                <a:solidFill>
                  <a:srgbClr val="000000"/>
                </a:solidFill>
                <a:latin typeface="Cambria Math"/>
              </a:rPr>
              <a:t>, </a:t>
            </a:r>
            <a:r>
              <a:rPr sz="1250" b="0" i="1">
                <a:solidFill>
                  <a:srgbClr val="000000"/>
                </a:solidFill>
                <a:latin typeface="Cambria Math"/>
              </a:rPr>
              <a:t>d</a:t>
            </a:r>
            <a:r>
              <a:rPr sz="1250" b="0" i="0">
                <a:solidFill>
                  <a:srgbClr val="000000"/>
                </a:solidFill>
                <a:latin typeface="Cambria Math"/>
              </a:rPr>
              <a:t>) ∧ </a:t>
            </a:r>
            <a:r>
              <a:rPr sz="1250" b="0" i="0">
                <a:solidFill>
                  <a:srgbClr val="137A62"/>
                </a:solidFill>
                <a:latin typeface="Cambria Math"/>
              </a:rPr>
              <a:t>Duty</a:t>
            </a:r>
            <a:r>
              <a:rPr sz="1250" b="0" i="0">
                <a:solidFill>
                  <a:srgbClr val="000000"/>
                </a:solidFill>
                <a:latin typeface="Cambria Math"/>
              </a:rPr>
              <a:t>(</a:t>
            </a:r>
            <a:r>
              <a:rPr sz="1250" b="0" i="1">
                <a:solidFill>
                  <a:srgbClr val="000000"/>
                </a:solidFill>
                <a:latin typeface="Cambria Math"/>
              </a:rPr>
              <a:t>du</a:t>
            </a:r>
            <a:r>
              <a:rPr sz="1250" b="0" i="0">
                <a:solidFill>
                  <a:srgbClr val="000000"/>
                </a:solidFill>
                <a:latin typeface="Cambria Math"/>
              </a:rPr>
              <a:t>) ∧ bearer(</a:t>
            </a:r>
            <a:r>
              <a:rPr sz="1250" b="0" i="1">
                <a:solidFill>
                  <a:srgbClr val="000000"/>
                </a:solidFill>
                <a:latin typeface="Cambria Math"/>
              </a:rPr>
              <a:t>du</a:t>
            </a:r>
            <a:r>
              <a:rPr sz="1250" b="0" i="0">
                <a:solidFill>
                  <a:srgbClr val="000000"/>
                </a:solidFill>
                <a:latin typeface="Cambria Math"/>
              </a:rPr>
              <a:t>, </a:t>
            </a:r>
            <a:r>
              <a:rPr sz="1250" b="0" i="1">
                <a:solidFill>
                  <a:srgbClr val="000000"/>
                </a:solidFill>
                <a:latin typeface="Cambria Math"/>
              </a:rPr>
              <a:t>x</a:t>
            </a:r>
            <a:r>
              <a:rPr sz="1250" b="0" i="0">
                <a:solidFill>
                  <a:srgbClr val="000000"/>
                </a:solidFill>
                <a:latin typeface="Cambria Math"/>
              </a:rPr>
              <a:t>) ∧ cnt(</a:t>
            </a:r>
            <a:r>
              <a:rPr sz="1250" b="0" i="1">
                <a:solidFill>
                  <a:srgbClr val="000000"/>
                </a:solidFill>
                <a:latin typeface="Cambria Math"/>
              </a:rPr>
              <a:t>du</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a:t>
            </a:r>
          </a:p>
          <a:p>
            <a:pPr marL="0" indent="0">
              <a:spcBef>
                <a:spcPts val="100"/>
              </a:spcBef>
              <a:buNone/>
            </a:pPr>
            <a:r>
              <a:rPr sz="1250" b="0" i="0">
                <a:solidFill>
                  <a:srgbClr val="000000"/>
                </a:solidFill>
                <a:latin typeface="Cambria Math"/>
              </a:rPr>
              <a:t>   ∧ partOf(</a:t>
            </a:r>
            <a:r>
              <a:rPr sz="1250" b="0" i="1">
                <a:solidFill>
                  <a:srgbClr val="000000"/>
                </a:solidFill>
                <a:latin typeface="Cambria Math"/>
              </a:rPr>
              <a:t>du</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D</a:t>
            </a:r>
            <a:r>
              <a:rPr sz="1250" b="0" i="0">
                <a:solidFill>
                  <a:srgbClr val="000000"/>
                </a:solidFill>
                <a:latin typeface="Cambria Math"/>
              </a:rPr>
              <a:t>) ∧ </a:t>
            </a:r>
            <a:r>
              <a:rPr sz="1250" b="0" i="0">
                <a:solidFill>
                  <a:srgbClr val="137A62"/>
                </a:solidFill>
                <a:latin typeface="Cambria Math"/>
              </a:rPr>
              <a:t>Right</a:t>
            </a:r>
            <a:r>
              <a:rPr sz="1250" b="0" i="0">
                <a:solidFill>
                  <a:srgbClr val="000000"/>
                </a:solidFill>
                <a:latin typeface="Cambria Math"/>
              </a:rPr>
              <a:t>(</a:t>
            </a:r>
            <a:r>
              <a:rPr sz="1250" b="0" i="1">
                <a:solidFill>
                  <a:srgbClr val="000000"/>
                </a:solidFill>
                <a:latin typeface="Cambria Math"/>
              </a:rPr>
              <a:t>c</a:t>
            </a:r>
            <a:r>
              <a:rPr sz="1250" b="0" i="0">
                <a:solidFill>
                  <a:srgbClr val="000000"/>
                </a:solidFill>
                <a:latin typeface="Cambria Math"/>
              </a:rPr>
              <a:t>) ∧ bearer(</a:t>
            </a:r>
            <a:r>
              <a:rPr sz="1250" b="0" i="1">
                <a:solidFill>
                  <a:srgbClr val="000000"/>
                </a:solidFill>
                <a:latin typeface="Cambria Math"/>
              </a:rPr>
              <a:t>c</a:t>
            </a:r>
            <a:r>
              <a:rPr sz="1250" b="0" i="0">
                <a:solidFill>
                  <a:srgbClr val="000000"/>
                </a:solidFill>
                <a:latin typeface="Cambria Math"/>
              </a:rPr>
              <a:t>, </a:t>
            </a:r>
            <a:r>
              <a:rPr sz="1250" b="0" i="1">
                <a:solidFill>
                  <a:srgbClr val="000000"/>
                </a:solidFill>
                <a:latin typeface="Cambria Math"/>
              </a:rPr>
              <a:t>y</a:t>
            </a:r>
            <a:r>
              <a:rPr sz="1250" b="0" i="0">
                <a:solidFill>
                  <a:srgbClr val="000000"/>
                </a:solidFill>
                <a:latin typeface="Cambria Math"/>
              </a:rPr>
              <a:t>) ∧ cnt(</a:t>
            </a:r>
            <a:r>
              <a:rPr sz="1250" b="0" i="1">
                <a:solidFill>
                  <a:srgbClr val="000000"/>
                </a:solidFill>
                <a:latin typeface="Cambria Math"/>
              </a:rPr>
              <a:t>c</a:t>
            </a:r>
            <a:r>
              <a:rPr sz="1250" b="0" i="0">
                <a:solidFill>
                  <a:srgbClr val="000000"/>
                </a:solidFill>
                <a:latin typeface="Cambria Math"/>
              </a:rPr>
              <a:t>, </a:t>
            </a:r>
            <a:r>
              <a:rPr sz="1250" b="0" i="1">
                <a:solidFill>
                  <a:srgbClr val="000000"/>
                </a:solidFill>
                <a:latin typeface="Cambria Math"/>
              </a:rPr>
              <a:t>a</a:t>
            </a:r>
            <a:r>
              <a:rPr sz="1250" b="0" i="0">
                <a:solidFill>
                  <a:srgbClr val="000000"/>
                </a:solidFill>
                <a:latin typeface="Cambria Math"/>
              </a:rPr>
              <a:t>, </a:t>
            </a:r>
            <a:r>
              <a:rPr sz="1250" b="0" i="1">
                <a:solidFill>
                  <a:srgbClr val="000000"/>
                </a:solidFill>
                <a:latin typeface="Cambria Math"/>
              </a:rPr>
              <a:t>t</a:t>
            </a:r>
            <a:r>
              <a:rPr sz="1250" b="0" i="0">
                <a:solidFill>
                  <a:srgbClr val="000000"/>
                </a:solidFill>
                <a:latin typeface="Cambria Math"/>
              </a:rPr>
              <a:t>)</a:t>
            </a:r>
          </a:p>
          <a:p>
            <a:pPr marL="0" indent="0">
              <a:spcBef>
                <a:spcPts val="100"/>
              </a:spcBef>
              <a:buNone/>
            </a:pPr>
            <a:r>
              <a:rPr sz="1250" b="0" i="0">
                <a:solidFill>
                  <a:srgbClr val="000000"/>
                </a:solidFill>
                <a:latin typeface="Cambria Math"/>
              </a:rPr>
              <a:t>   ∧ partOf(</a:t>
            </a:r>
            <a:r>
              <a:rPr sz="1250" b="0" i="1">
                <a:solidFill>
                  <a:srgbClr val="000000"/>
                </a:solidFill>
                <a:latin typeface="Cambria Math"/>
              </a:rPr>
              <a:t>c</a:t>
            </a:r>
            <a:r>
              <a:rPr sz="1250" b="0" i="0">
                <a:solidFill>
                  <a:srgbClr val="000000"/>
                </a:solidFill>
                <a:latin typeface="Cambria Math"/>
              </a:rPr>
              <a:t>, </a:t>
            </a:r>
            <a:r>
              <a:rPr sz="1250" b="0" i="1">
                <a:solidFill>
                  <a:srgbClr val="000000"/>
                </a:solidFill>
                <a:latin typeface="Cambria Math"/>
              </a:rPr>
              <a:t>ρ</a:t>
            </a:r>
            <a:r>
              <a:rPr sz="1250" b="0" i="0" baseline="-25000">
                <a:solidFill>
                  <a:srgbClr val="000000"/>
                </a:solidFill>
                <a:latin typeface="Cambria Math"/>
              </a:rPr>
              <a:t>D</a:t>
            </a:r>
            <a:r>
              <a:rPr sz="1250" b="0" i="0">
                <a:solidFill>
                  <a:srgbClr val="000000"/>
                </a:solidFill>
                <a:latin typeface="Cambria Math"/>
              </a:rPr>
              <a:t>)</a:t>
            </a:r>
          </a:p>
        </p:txBody>
      </p:sp>
      <p:sp>
        <p:nvSpPr>
          <p:cNvPr id="5" name="TextBox 4"/>
          <p:cNvSpPr txBox="1"/>
          <p:nvPr/>
        </p:nvSpPr>
        <p:spPr>
          <a:xfrm>
            <a:off x="6278727" y="4846320"/>
            <a:ext cx="5364327" cy="914400"/>
          </a:xfrm>
          <a:prstGeom prst="rect">
            <a:avLst/>
          </a:prstGeom>
          <a:noFill/>
        </p:spPr>
        <p:txBody>
          <a:bodyPr wrap="square" lIns="0" tIns="0" rIns="0" bIns="0" anchor="t">
            <a:noAutofit/>
          </a:bodyPr>
          <a:lstStyle/>
          <a:p>
            <a:pPr marL="0" indent="0">
              <a:buNone/>
            </a:pPr>
            <a:r>
              <a:rPr sz="1300" b="1">
                <a:solidFill>
                  <a:srgbClr val="000000"/>
                </a:solidFill>
              </a:rPr>
              <a:t>Note. </a:t>
            </a:r>
            <a:r>
              <a:rPr sz="1300">
                <a:solidFill>
                  <a:srgbClr val="5F6B76"/>
                </a:solidFill>
              </a:rPr>
              <a:t>obl (the ODRL Duty rule) is distinct from Duty (the UFO-L position). Classical FOL with reified positions, not a modal logic.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Backup: structural axioms 5.6 to 5.11</a:t>
            </a:r>
          </a:p>
        </p:txBody>
      </p:sp>
      <p:sp>
        <p:nvSpPr>
          <p:cNvPr id="3" name="TextBox 2"/>
          <p:cNvSpPr txBox="1"/>
          <p:nvPr/>
        </p:nvSpPr>
        <p:spPr>
          <a:xfrm>
            <a:off x="548640" y="1325880"/>
            <a:ext cx="5364327" cy="4892040"/>
          </a:xfrm>
          <a:prstGeom prst="rect">
            <a:avLst/>
          </a:prstGeom>
          <a:noFill/>
        </p:spPr>
        <p:txBody>
          <a:bodyPr wrap="square" lIns="0" tIns="0" rIns="0" bIns="0" anchor="t">
            <a:noAutofit/>
          </a:bodyPr>
          <a:lstStyle/>
          <a:p>
            <a:pPr marL="0" indent="0">
              <a:spcBef>
                <a:spcPts val="0"/>
              </a:spcBef>
              <a:buNone/>
            </a:pPr>
            <a:r>
              <a:rPr sz="1300" b="1">
                <a:solidFill>
                  <a:srgbClr val="000000"/>
                </a:solidFill>
              </a:rPr>
              <a:t>Ax. 5.6  Unique founding, for each founding mode fd</a:t>
            </a:r>
          </a:p>
          <a:p>
            <a:pPr marL="0" indent="0">
              <a:spcBef>
                <a:spcPts val="300"/>
              </a:spcBef>
              <a:buNone/>
            </a:pPr>
            <a:r>
              <a:rPr sz="1300" b="0" i="0">
                <a:solidFill>
                  <a:srgbClr val="000000"/>
                </a:solidFill>
                <a:latin typeface="Cambria Math"/>
              </a:rPr>
              <a:t>∀</a:t>
            </a:r>
            <a:r>
              <a:rPr sz="1300" b="0" i="1">
                <a:solidFill>
                  <a:srgbClr val="000000"/>
                </a:solidFill>
                <a:latin typeface="Cambria Math"/>
              </a:rPr>
              <a:t>r</a:t>
            </a:r>
            <a:r>
              <a:rPr sz="1300" b="0" i="0">
                <a:solidFill>
                  <a:srgbClr val="000000"/>
                </a:solidFill>
                <a:latin typeface="Cambria Math"/>
              </a:rPr>
              <a:t>, </a:t>
            </a:r>
            <a:r>
              <a:rPr sz="1300" b="0" i="1">
                <a:solidFill>
                  <a:srgbClr val="000000"/>
                </a:solidFill>
                <a:latin typeface="Cambria Math"/>
              </a:rPr>
              <a:t>ρ</a:t>
            </a:r>
            <a:r>
              <a:rPr sz="1300" b="0" i="0" baseline="-25000">
                <a:solidFill>
                  <a:srgbClr val="000000"/>
                </a:solidFill>
                <a:latin typeface="Cambria Math"/>
              </a:rPr>
              <a:t>1</a:t>
            </a:r>
            <a:r>
              <a:rPr sz="1300" b="0" i="0">
                <a:solidFill>
                  <a:srgbClr val="000000"/>
                </a:solidFill>
                <a:latin typeface="Cambria Math"/>
              </a:rPr>
              <a:t>, </a:t>
            </a:r>
            <a:r>
              <a:rPr sz="1300" b="0" i="1">
                <a:solidFill>
                  <a:srgbClr val="000000"/>
                </a:solidFill>
                <a:latin typeface="Cambria Math"/>
              </a:rPr>
              <a:t>ρ</a:t>
            </a:r>
            <a:r>
              <a:rPr sz="1300" b="0" i="0" baseline="-25000">
                <a:solidFill>
                  <a:srgbClr val="000000"/>
                </a:solidFill>
                <a:latin typeface="Cambria Math"/>
              </a:rPr>
              <a:t>2</a:t>
            </a:r>
            <a:r>
              <a:rPr sz="1300" b="0" i="0">
                <a:solidFill>
                  <a:srgbClr val="000000"/>
                </a:solidFill>
                <a:latin typeface="Cambria Math"/>
              </a:rPr>
              <a:t>, </a:t>
            </a:r>
            <a:r>
              <a:rPr sz="1300" b="0" i="1">
                <a:solidFill>
                  <a:srgbClr val="000000"/>
                </a:solidFill>
                <a:latin typeface="Cambria Math"/>
              </a:rPr>
              <a:t>e</a:t>
            </a:r>
            <a:r>
              <a:rPr sz="1300" b="0" i="0">
                <a:solidFill>
                  <a:srgbClr val="000000"/>
                </a:solidFill>
                <a:latin typeface="Cambria Math"/>
              </a:rPr>
              <a:t>. fd(</a:t>
            </a:r>
            <a:r>
              <a:rPr sz="1300" b="0" i="1">
                <a:solidFill>
                  <a:srgbClr val="000000"/>
                </a:solidFill>
                <a:latin typeface="Cambria Math"/>
              </a:rPr>
              <a:t>e</a:t>
            </a:r>
            <a:r>
              <a:rPr sz="1300" b="0" i="0">
                <a:solidFill>
                  <a:srgbClr val="000000"/>
                </a:solidFill>
                <a:latin typeface="Cambria Math"/>
              </a:rPr>
              <a:t>, </a:t>
            </a:r>
            <a:r>
              <a:rPr sz="1300" b="0" i="1">
                <a:solidFill>
                  <a:srgbClr val="000000"/>
                </a:solidFill>
                <a:latin typeface="Cambria Math"/>
              </a:rPr>
              <a:t>ρ</a:t>
            </a:r>
            <a:r>
              <a:rPr sz="1300" b="0" i="0" baseline="-25000">
                <a:solidFill>
                  <a:srgbClr val="000000"/>
                </a:solidFill>
                <a:latin typeface="Cambria Math"/>
              </a:rPr>
              <a:t>1</a:t>
            </a:r>
            <a:r>
              <a:rPr sz="1300" b="0" i="0">
                <a:solidFill>
                  <a:srgbClr val="000000"/>
                </a:solidFill>
                <a:latin typeface="Cambria Math"/>
              </a:rPr>
              <a:t>, </a:t>
            </a:r>
            <a:r>
              <a:rPr sz="1300" b="0" i="1">
                <a:solidFill>
                  <a:srgbClr val="000000"/>
                </a:solidFill>
                <a:latin typeface="Cambria Math"/>
              </a:rPr>
              <a:t>r</a:t>
            </a:r>
            <a:r>
              <a:rPr sz="1300" b="0" i="0">
                <a:solidFill>
                  <a:srgbClr val="000000"/>
                </a:solidFill>
                <a:latin typeface="Cambria Math"/>
              </a:rPr>
              <a:t>) ∧ fd(</a:t>
            </a:r>
            <a:r>
              <a:rPr sz="1300" b="0" i="1">
                <a:solidFill>
                  <a:srgbClr val="000000"/>
                </a:solidFill>
                <a:latin typeface="Cambria Math"/>
              </a:rPr>
              <a:t>e</a:t>
            </a:r>
            <a:r>
              <a:rPr sz="1300" b="0" i="0">
                <a:solidFill>
                  <a:srgbClr val="000000"/>
                </a:solidFill>
                <a:latin typeface="Cambria Math"/>
              </a:rPr>
              <a:t>, </a:t>
            </a:r>
            <a:r>
              <a:rPr sz="1300" b="0" i="1">
                <a:solidFill>
                  <a:srgbClr val="000000"/>
                </a:solidFill>
                <a:latin typeface="Cambria Math"/>
              </a:rPr>
              <a:t>ρ</a:t>
            </a:r>
            <a:r>
              <a:rPr sz="1300" b="0" i="0" baseline="-25000">
                <a:solidFill>
                  <a:srgbClr val="000000"/>
                </a:solidFill>
                <a:latin typeface="Cambria Math"/>
              </a:rPr>
              <a:t>2</a:t>
            </a:r>
            <a:r>
              <a:rPr sz="1300" b="0" i="0">
                <a:solidFill>
                  <a:srgbClr val="000000"/>
                </a:solidFill>
                <a:latin typeface="Cambria Math"/>
              </a:rPr>
              <a:t>, </a:t>
            </a:r>
            <a:r>
              <a:rPr sz="1300" b="0" i="1">
                <a:solidFill>
                  <a:srgbClr val="000000"/>
                </a:solidFill>
                <a:latin typeface="Cambria Math"/>
              </a:rPr>
              <a:t>r</a:t>
            </a:r>
            <a:r>
              <a:rPr sz="1300" b="0" i="0">
                <a:solidFill>
                  <a:srgbClr val="000000"/>
                </a:solidFill>
                <a:latin typeface="Cambria Math"/>
              </a:rPr>
              <a:t>) → </a:t>
            </a:r>
            <a:r>
              <a:rPr sz="1300" b="0" i="1">
                <a:solidFill>
                  <a:srgbClr val="000000"/>
                </a:solidFill>
                <a:latin typeface="Cambria Math"/>
              </a:rPr>
              <a:t>ρ</a:t>
            </a:r>
            <a:r>
              <a:rPr sz="1300" b="0" i="0" baseline="-25000">
                <a:solidFill>
                  <a:srgbClr val="000000"/>
                </a:solidFill>
                <a:latin typeface="Cambria Math"/>
              </a:rPr>
              <a:t>1</a:t>
            </a:r>
            <a:r>
              <a:rPr sz="1300" b="0" i="0">
                <a:solidFill>
                  <a:srgbClr val="000000"/>
                </a:solidFill>
                <a:latin typeface="Cambria Math"/>
              </a:rPr>
              <a:t> = </a:t>
            </a:r>
            <a:r>
              <a:rPr sz="1300" b="0" i="1">
                <a:solidFill>
                  <a:srgbClr val="000000"/>
                </a:solidFill>
                <a:latin typeface="Cambria Math"/>
              </a:rPr>
              <a:t>ρ</a:t>
            </a:r>
            <a:r>
              <a:rPr sz="1300" b="0" i="0" baseline="-25000">
                <a:solidFill>
                  <a:srgbClr val="000000"/>
                </a:solidFill>
                <a:latin typeface="Cambria Math"/>
              </a:rPr>
              <a:t>2</a:t>
            </a:r>
          </a:p>
          <a:p>
            <a:pPr marL="0" indent="0">
              <a:spcBef>
                <a:spcPts val="100"/>
              </a:spcBef>
              <a:buNone/>
            </a:pPr>
            <a:r>
              <a:rPr sz="1300" b="0" i="0">
                <a:solidFill>
                  <a:srgbClr val="000000"/>
                </a:solidFill>
                <a:latin typeface="Cambria Math"/>
              </a:rPr>
              <a:t>∀</a:t>
            </a:r>
            <a:r>
              <a:rPr sz="1300" b="0" i="1">
                <a:solidFill>
                  <a:srgbClr val="000000"/>
                </a:solidFill>
                <a:latin typeface="Cambria Math"/>
              </a:rPr>
              <a:t>r</a:t>
            </a:r>
            <a:r>
              <a:rPr sz="1300" b="0" i="0">
                <a:solidFill>
                  <a:srgbClr val="000000"/>
                </a:solidFill>
                <a:latin typeface="Cambria Math"/>
              </a:rPr>
              <a:t>, </a:t>
            </a:r>
            <a:r>
              <a:rPr sz="1300" b="0" i="1">
                <a:solidFill>
                  <a:srgbClr val="000000"/>
                </a:solidFill>
                <a:latin typeface="Cambria Math"/>
              </a:rPr>
              <a:t>e</a:t>
            </a:r>
            <a:r>
              <a:rPr sz="1300" b="0" i="0" baseline="-25000">
                <a:solidFill>
                  <a:srgbClr val="000000"/>
                </a:solidFill>
                <a:latin typeface="Cambria Math"/>
              </a:rPr>
              <a:t>1</a:t>
            </a:r>
            <a:r>
              <a:rPr sz="1300" b="0" i="0">
                <a:solidFill>
                  <a:srgbClr val="000000"/>
                </a:solidFill>
                <a:latin typeface="Cambria Math"/>
              </a:rPr>
              <a:t>, </a:t>
            </a:r>
            <a:r>
              <a:rPr sz="1300" b="0" i="1">
                <a:solidFill>
                  <a:srgbClr val="000000"/>
                </a:solidFill>
                <a:latin typeface="Cambria Math"/>
              </a:rPr>
              <a:t>e</a:t>
            </a:r>
            <a:r>
              <a:rPr sz="1300" b="0" i="0" baseline="-25000">
                <a:solidFill>
                  <a:srgbClr val="000000"/>
                </a:solidFill>
                <a:latin typeface="Cambria Math"/>
              </a:rPr>
              <a:t>2</a:t>
            </a:r>
            <a:r>
              <a:rPr sz="1300" b="0" i="0">
                <a:solidFill>
                  <a:srgbClr val="000000"/>
                </a:solidFill>
                <a:latin typeface="Cambria Math"/>
              </a:rPr>
              <a:t>, </a:t>
            </a:r>
            <a:r>
              <a:rPr sz="1300" b="0" i="1">
                <a:solidFill>
                  <a:srgbClr val="000000"/>
                </a:solidFill>
                <a:latin typeface="Cambria Math"/>
              </a:rPr>
              <a:t>ρ</a:t>
            </a:r>
            <a:r>
              <a:rPr sz="1300" b="0" i="0">
                <a:solidFill>
                  <a:srgbClr val="000000"/>
                </a:solidFill>
                <a:latin typeface="Cambria Math"/>
              </a:rPr>
              <a:t>. fd(</a:t>
            </a:r>
            <a:r>
              <a:rPr sz="1300" b="0" i="1">
                <a:solidFill>
                  <a:srgbClr val="000000"/>
                </a:solidFill>
                <a:latin typeface="Cambria Math"/>
              </a:rPr>
              <a:t>e</a:t>
            </a:r>
            <a:r>
              <a:rPr sz="1300" b="0" i="0" baseline="-25000">
                <a:solidFill>
                  <a:srgbClr val="000000"/>
                </a:solidFill>
                <a:latin typeface="Cambria Math"/>
              </a:rPr>
              <a:t>1</a:t>
            </a:r>
            <a:r>
              <a:rPr sz="1300" b="0" i="0">
                <a:solidFill>
                  <a:srgbClr val="000000"/>
                </a:solidFill>
                <a:latin typeface="Cambria Math"/>
              </a:rPr>
              <a:t>, </a:t>
            </a:r>
            <a:r>
              <a:rPr sz="1300" b="0" i="1">
                <a:solidFill>
                  <a:srgbClr val="000000"/>
                </a:solidFill>
                <a:latin typeface="Cambria Math"/>
              </a:rPr>
              <a:t>ρ</a:t>
            </a:r>
            <a:r>
              <a:rPr sz="1300" b="0" i="0">
                <a:solidFill>
                  <a:srgbClr val="000000"/>
                </a:solidFill>
                <a:latin typeface="Cambria Math"/>
              </a:rPr>
              <a:t>, </a:t>
            </a:r>
            <a:r>
              <a:rPr sz="1300" b="0" i="1">
                <a:solidFill>
                  <a:srgbClr val="000000"/>
                </a:solidFill>
                <a:latin typeface="Cambria Math"/>
              </a:rPr>
              <a:t>r</a:t>
            </a:r>
            <a:r>
              <a:rPr sz="1300" b="0" i="0">
                <a:solidFill>
                  <a:srgbClr val="000000"/>
                </a:solidFill>
                <a:latin typeface="Cambria Math"/>
              </a:rPr>
              <a:t>) ∧ fd(</a:t>
            </a:r>
            <a:r>
              <a:rPr sz="1300" b="0" i="1">
                <a:solidFill>
                  <a:srgbClr val="000000"/>
                </a:solidFill>
                <a:latin typeface="Cambria Math"/>
              </a:rPr>
              <a:t>e</a:t>
            </a:r>
            <a:r>
              <a:rPr sz="1300" b="0" i="0" baseline="-25000">
                <a:solidFill>
                  <a:srgbClr val="000000"/>
                </a:solidFill>
                <a:latin typeface="Cambria Math"/>
              </a:rPr>
              <a:t>2</a:t>
            </a:r>
            <a:r>
              <a:rPr sz="1300" b="0" i="0">
                <a:solidFill>
                  <a:srgbClr val="000000"/>
                </a:solidFill>
                <a:latin typeface="Cambria Math"/>
              </a:rPr>
              <a:t>, </a:t>
            </a:r>
            <a:r>
              <a:rPr sz="1300" b="0" i="1">
                <a:solidFill>
                  <a:srgbClr val="000000"/>
                </a:solidFill>
                <a:latin typeface="Cambria Math"/>
              </a:rPr>
              <a:t>ρ</a:t>
            </a:r>
            <a:r>
              <a:rPr sz="1300" b="0" i="0">
                <a:solidFill>
                  <a:srgbClr val="000000"/>
                </a:solidFill>
                <a:latin typeface="Cambria Math"/>
              </a:rPr>
              <a:t>, </a:t>
            </a:r>
            <a:r>
              <a:rPr sz="1300" b="0" i="1">
                <a:solidFill>
                  <a:srgbClr val="000000"/>
                </a:solidFill>
                <a:latin typeface="Cambria Math"/>
              </a:rPr>
              <a:t>r</a:t>
            </a:r>
            <a:r>
              <a:rPr sz="1300" b="0" i="0">
                <a:solidFill>
                  <a:srgbClr val="000000"/>
                </a:solidFill>
                <a:latin typeface="Cambria Math"/>
              </a:rPr>
              <a:t>) → </a:t>
            </a:r>
            <a:r>
              <a:rPr sz="1300" b="0" i="1">
                <a:solidFill>
                  <a:srgbClr val="000000"/>
                </a:solidFill>
                <a:latin typeface="Cambria Math"/>
              </a:rPr>
              <a:t>e</a:t>
            </a:r>
            <a:r>
              <a:rPr sz="1300" b="0" i="0" baseline="-25000">
                <a:solidFill>
                  <a:srgbClr val="000000"/>
                </a:solidFill>
                <a:latin typeface="Cambria Math"/>
              </a:rPr>
              <a:t>1</a:t>
            </a:r>
            <a:r>
              <a:rPr sz="1300" b="0" i="0">
                <a:solidFill>
                  <a:srgbClr val="000000"/>
                </a:solidFill>
                <a:latin typeface="Cambria Math"/>
              </a:rPr>
              <a:t> = </a:t>
            </a:r>
            <a:r>
              <a:rPr sz="1300" b="0" i="1">
                <a:solidFill>
                  <a:srgbClr val="000000"/>
                </a:solidFill>
                <a:latin typeface="Cambria Math"/>
              </a:rPr>
              <a:t>e</a:t>
            </a:r>
            <a:r>
              <a:rPr sz="1300" b="0" i="0" baseline="-25000">
                <a:solidFill>
                  <a:srgbClr val="000000"/>
                </a:solidFill>
                <a:latin typeface="Cambria Math"/>
              </a:rPr>
              <a:t>2</a:t>
            </a:r>
          </a:p>
          <a:p>
            <a:pPr marL="0" indent="0">
              <a:spcBef>
                <a:spcPts val="1200"/>
              </a:spcBef>
              <a:buNone/>
            </a:pPr>
            <a:r>
              <a:rPr sz="1300" b="1">
                <a:solidFill>
                  <a:srgbClr val="000000"/>
                </a:solidFill>
              </a:rPr>
              <a:t>Ax. 5.7  Relator typing</a:t>
            </a:r>
          </a:p>
          <a:p>
            <a:pPr marL="0" indent="0">
              <a:spcBef>
                <a:spcPts val="300"/>
              </a:spcBef>
              <a:buNone/>
            </a:pPr>
            <a:r>
              <a:rPr sz="1300" b="0" i="0">
                <a:solidFill>
                  <a:srgbClr val="000000"/>
                </a:solidFill>
                <a:latin typeface="Cambria Math"/>
              </a:rPr>
              <a:t>∀</a:t>
            </a:r>
            <a:r>
              <a:rPr sz="1300" b="0" i="1">
                <a:solidFill>
                  <a:srgbClr val="000000"/>
                </a:solidFill>
                <a:latin typeface="Cambria Math"/>
              </a:rPr>
              <a:t>e</a:t>
            </a:r>
            <a:r>
              <a:rPr sz="1300" b="0" i="0">
                <a:solidFill>
                  <a:srgbClr val="000000"/>
                </a:solidFill>
                <a:latin typeface="Cambria Math"/>
              </a:rPr>
              <a:t>, </a:t>
            </a:r>
            <a:r>
              <a:rPr sz="1300" b="0" i="1">
                <a:solidFill>
                  <a:srgbClr val="000000"/>
                </a:solidFill>
                <a:latin typeface="Cambria Math"/>
              </a:rPr>
              <a:t>ρ</a:t>
            </a:r>
            <a:r>
              <a:rPr sz="1300" b="0" i="0">
                <a:solidFill>
                  <a:srgbClr val="000000"/>
                </a:solidFill>
                <a:latin typeface="Cambria Math"/>
              </a:rPr>
              <a:t>, </a:t>
            </a:r>
            <a:r>
              <a:rPr sz="1300" b="0" i="1">
                <a:solidFill>
                  <a:srgbClr val="000000"/>
                </a:solidFill>
                <a:latin typeface="Cambria Math"/>
              </a:rPr>
              <a:t>r</a:t>
            </a:r>
            <a:r>
              <a:rPr sz="1300" b="0" i="0">
                <a:solidFill>
                  <a:srgbClr val="000000"/>
                </a:solidFill>
                <a:latin typeface="Cambria Math"/>
              </a:rPr>
              <a:t>. fd(</a:t>
            </a:r>
            <a:r>
              <a:rPr sz="1300" b="0" i="1">
                <a:solidFill>
                  <a:srgbClr val="000000"/>
                </a:solidFill>
                <a:latin typeface="Cambria Math"/>
              </a:rPr>
              <a:t>e</a:t>
            </a:r>
            <a:r>
              <a:rPr sz="1300" b="0" i="0">
                <a:solidFill>
                  <a:srgbClr val="000000"/>
                </a:solidFill>
                <a:latin typeface="Cambria Math"/>
              </a:rPr>
              <a:t>, </a:t>
            </a:r>
            <a:r>
              <a:rPr sz="1300" b="0" i="1">
                <a:solidFill>
                  <a:srgbClr val="000000"/>
                </a:solidFill>
                <a:latin typeface="Cambria Math"/>
              </a:rPr>
              <a:t>ρ</a:t>
            </a:r>
            <a:r>
              <a:rPr sz="1300" b="0" i="0">
                <a:solidFill>
                  <a:srgbClr val="000000"/>
                </a:solidFill>
                <a:latin typeface="Cambria Math"/>
              </a:rPr>
              <a:t>, </a:t>
            </a:r>
            <a:r>
              <a:rPr sz="1300" b="0" i="1">
                <a:solidFill>
                  <a:srgbClr val="000000"/>
                </a:solidFill>
                <a:latin typeface="Cambria Math"/>
              </a:rPr>
              <a:t>r</a:t>
            </a:r>
            <a:r>
              <a:rPr sz="1300" b="0" i="0">
                <a:solidFill>
                  <a:srgbClr val="000000"/>
                </a:solidFill>
                <a:latin typeface="Cambria Math"/>
              </a:rPr>
              <a:t>) ∧ </a:t>
            </a:r>
            <a:r>
              <a:rPr sz="1300" b="0" i="1">
                <a:solidFill>
                  <a:srgbClr val="000000"/>
                </a:solidFill>
                <a:latin typeface="Cambria Math"/>
              </a:rPr>
              <a:t>G</a:t>
            </a:r>
            <a:r>
              <a:rPr sz="1300" b="0" i="0">
                <a:solidFill>
                  <a:srgbClr val="000000"/>
                </a:solidFill>
                <a:latin typeface="Cambria Math"/>
              </a:rPr>
              <a:t>(</a:t>
            </a:r>
            <a:r>
              <a:rPr sz="1300" b="0" i="1">
                <a:solidFill>
                  <a:srgbClr val="000000"/>
                </a:solidFill>
                <a:latin typeface="Cambria Math"/>
              </a:rPr>
              <a:t>r</a:t>
            </a:r>
            <a:r>
              <a:rPr sz="1300" b="0" i="0">
                <a:solidFill>
                  <a:srgbClr val="000000"/>
                </a:solidFill>
                <a:latin typeface="Cambria Math"/>
              </a:rPr>
              <a:t>) → ODRLRel(</a:t>
            </a:r>
            <a:r>
              <a:rPr sz="1300" b="0" i="1">
                <a:solidFill>
                  <a:srgbClr val="000000"/>
                </a:solidFill>
                <a:latin typeface="Cambria Math"/>
              </a:rPr>
              <a:t>ρ</a:t>
            </a:r>
            <a:r>
              <a:rPr sz="1300" b="0" i="0">
                <a:solidFill>
                  <a:srgbClr val="000000"/>
                </a:solidFill>
                <a:latin typeface="Cambria Math"/>
              </a:rPr>
              <a:t>), where (fd, </a:t>
            </a:r>
            <a:r>
              <a:rPr sz="1300" b="0" i="1">
                <a:solidFill>
                  <a:srgbClr val="000000"/>
                </a:solidFill>
                <a:latin typeface="Cambria Math"/>
              </a:rPr>
              <a:t>G</a:t>
            </a:r>
            <a:r>
              <a:rPr sz="1300" b="0" i="0">
                <a:solidFill>
                  <a:srgbClr val="000000"/>
                </a:solidFill>
                <a:latin typeface="Cambria Math"/>
              </a:rPr>
              <a:t>) ∈</a:t>
            </a:r>
          </a:p>
          <a:p>
            <a:pPr marL="0" indent="0">
              <a:spcBef>
                <a:spcPts val="100"/>
              </a:spcBef>
              <a:buNone/>
            </a:pPr>
            <a:r>
              <a:rPr sz="1300" b="0" i="0">
                <a:solidFill>
                  <a:srgbClr val="000000"/>
                </a:solidFill>
                <a:latin typeface="Cambria Math"/>
              </a:rPr>
              <a:t>   {(founds, </a:t>
            </a:r>
            <a:r>
              <a:rPr sz="1300" b="0" i="1">
                <a:solidFill>
                  <a:srgbClr val="000000"/>
                </a:solidFill>
                <a:latin typeface="Cambria Math"/>
              </a:rPr>
              <a:t>P</a:t>
            </a:r>
            <a:r>
              <a:rPr sz="1300" b="0" i="0">
                <a:solidFill>
                  <a:srgbClr val="000000"/>
                </a:solidFill>
                <a:latin typeface="Cambria Math"/>
              </a:rPr>
              <a:t> ∨ Proh ∨ obl), (founds</a:t>
            </a:r>
            <a:r>
              <a:rPr sz="1300" b="0" i="0" baseline="-25000">
                <a:solidFill>
                  <a:srgbClr val="000000"/>
                </a:solidFill>
                <a:latin typeface="Cambria Math"/>
              </a:rPr>
              <a:t>rem</a:t>
            </a:r>
            <a:r>
              <a:rPr sz="1300" b="0" i="0">
                <a:solidFill>
                  <a:srgbClr val="000000"/>
                </a:solidFill>
                <a:latin typeface="Cambria Math"/>
              </a:rPr>
              <a:t>, Proh), (founds</a:t>
            </a:r>
            <a:r>
              <a:rPr sz="1300" b="0" i="0" baseline="-25000">
                <a:solidFill>
                  <a:srgbClr val="000000"/>
                </a:solidFill>
                <a:latin typeface="Cambria Math"/>
              </a:rPr>
              <a:t>imm</a:t>
            </a:r>
            <a:r>
              <a:rPr sz="1300" b="0" i="0">
                <a:solidFill>
                  <a:srgbClr val="000000"/>
                </a:solidFill>
                <a:latin typeface="Cambria Math"/>
              </a:rPr>
              <a:t>, </a:t>
            </a:r>
            <a:r>
              <a:rPr sz="1300" b="0" i="1">
                <a:solidFill>
                  <a:srgbClr val="000000"/>
                </a:solidFill>
                <a:latin typeface="Cambria Math"/>
              </a:rPr>
              <a:t>P</a:t>
            </a:r>
            <a:r>
              <a:rPr sz="1300" b="0" i="0">
                <a:solidFill>
                  <a:srgbClr val="000000"/>
                </a:solidFill>
                <a:latin typeface="Cambria Math"/>
              </a:rPr>
              <a:t>)}</a:t>
            </a:r>
          </a:p>
          <a:p>
            <a:pPr marL="0" indent="0">
              <a:spcBef>
                <a:spcPts val="1200"/>
              </a:spcBef>
              <a:buNone/>
            </a:pPr>
            <a:r>
              <a:rPr sz="1300" b="1">
                <a:solidFill>
                  <a:srgbClr val="000000"/>
                </a:solidFill>
              </a:rPr>
              <a:t>Ax. 5.8  An ODRL relator is a relator</a:t>
            </a:r>
          </a:p>
          <a:p>
            <a:pPr marL="0" indent="0">
              <a:spcBef>
                <a:spcPts val="300"/>
              </a:spcBef>
              <a:buNone/>
            </a:pPr>
            <a:r>
              <a:rPr sz="1300" b="0" i="0">
                <a:solidFill>
                  <a:srgbClr val="000000"/>
                </a:solidFill>
                <a:latin typeface="Cambria Math"/>
              </a:rPr>
              <a:t>∀</a:t>
            </a:r>
            <a:r>
              <a:rPr sz="1300" b="0" i="1">
                <a:solidFill>
                  <a:srgbClr val="000000"/>
                </a:solidFill>
                <a:latin typeface="Cambria Math"/>
              </a:rPr>
              <a:t>ρ</a:t>
            </a:r>
            <a:r>
              <a:rPr sz="1300" b="0" i="0">
                <a:solidFill>
                  <a:srgbClr val="000000"/>
                </a:solidFill>
                <a:latin typeface="Cambria Math"/>
              </a:rPr>
              <a:t>. ODRLRel(</a:t>
            </a:r>
            <a:r>
              <a:rPr sz="1300" b="0" i="1">
                <a:solidFill>
                  <a:srgbClr val="000000"/>
                </a:solidFill>
                <a:latin typeface="Cambria Math"/>
              </a:rPr>
              <a:t>ρ</a:t>
            </a:r>
            <a:r>
              <a:rPr sz="1300" b="0" i="0">
                <a:solidFill>
                  <a:srgbClr val="000000"/>
                </a:solidFill>
                <a:latin typeface="Cambria Math"/>
              </a:rPr>
              <a:t>) → Rel(</a:t>
            </a:r>
            <a:r>
              <a:rPr sz="1300" b="0" i="1">
                <a:solidFill>
                  <a:srgbClr val="000000"/>
                </a:solidFill>
                <a:latin typeface="Cambria Math"/>
              </a:rPr>
              <a:t>ρ</a:t>
            </a:r>
            <a:r>
              <a:rPr sz="1300" b="0" i="0">
                <a:solidFill>
                  <a:srgbClr val="000000"/>
                </a:solidFill>
                <a:latin typeface="Cambria Math"/>
              </a:rPr>
              <a:t>)</a:t>
            </a:r>
          </a:p>
          <a:p>
            <a:pPr marL="0" indent="0">
              <a:spcBef>
                <a:spcPts val="1200"/>
              </a:spcBef>
              <a:buNone/>
            </a:pPr>
            <a:r>
              <a:rPr sz="1300" b="1">
                <a:solidFill>
                  <a:srgbClr val="000000"/>
                </a:solidFill>
              </a:rPr>
              <a:t>Def. 5.2  Position instantiation</a:t>
            </a:r>
          </a:p>
          <a:p>
            <a:pPr marL="0" indent="0">
              <a:spcBef>
                <a:spcPts val="300"/>
              </a:spcBef>
              <a:buNone/>
            </a:pPr>
            <a:r>
              <a:rPr sz="1300" b="0" i="0">
                <a:solidFill>
                  <a:srgbClr val="000000"/>
                </a:solidFill>
                <a:latin typeface="Cambria Math"/>
              </a:rPr>
              <a:t>Pos(</a:t>
            </a:r>
            <a:r>
              <a:rPr sz="1300" b="0" i="1">
                <a:solidFill>
                  <a:srgbClr val="000000"/>
                </a:solidFill>
                <a:latin typeface="Cambria Math"/>
              </a:rPr>
              <a:t>π</a:t>
            </a:r>
            <a:r>
              <a:rPr sz="1300" b="0" i="0">
                <a:solidFill>
                  <a:srgbClr val="000000"/>
                </a:solidFill>
                <a:latin typeface="Cambria Math"/>
              </a:rPr>
              <a:t>, </a:t>
            </a:r>
            <a:r>
              <a:rPr sz="1300" b="0" i="1">
                <a:solidFill>
                  <a:srgbClr val="000000"/>
                </a:solidFill>
                <a:latin typeface="Cambria Math"/>
              </a:rPr>
              <a:t>e</a:t>
            </a:r>
            <a:r>
              <a:rPr sz="1300" b="0" i="0">
                <a:solidFill>
                  <a:srgbClr val="000000"/>
                </a:solidFill>
                <a:latin typeface="Cambria Math"/>
              </a:rPr>
              <a:t>) = { </a:t>
            </a:r>
            <a:r>
              <a:rPr sz="1300" b="0" i="1">
                <a:solidFill>
                  <a:srgbClr val="000000"/>
                </a:solidFill>
                <a:latin typeface="Cambria Math"/>
              </a:rPr>
              <a:t>q</a:t>
            </a:r>
            <a:r>
              <a:rPr sz="1300" b="0" i="0">
                <a:solidFill>
                  <a:srgbClr val="000000"/>
                </a:solidFill>
                <a:latin typeface="Cambria Math"/>
              </a:rPr>
              <a:t> | </a:t>
            </a:r>
            <a:r>
              <a:rPr sz="1300" b="0" i="1">
                <a:solidFill>
                  <a:srgbClr val="000000"/>
                </a:solidFill>
                <a:latin typeface="Cambria Math"/>
              </a:rPr>
              <a:t>A</a:t>
            </a:r>
            <a:r>
              <a:rPr sz="1300" b="0" i="0">
                <a:solidFill>
                  <a:srgbClr val="000000"/>
                </a:solidFill>
                <a:latin typeface="Cambria Math"/>
              </a:rPr>
              <a:t> ∪ {activates(</a:t>
            </a:r>
            <a:r>
              <a:rPr sz="1300" b="0" i="1">
                <a:solidFill>
                  <a:srgbClr val="000000"/>
                </a:solidFill>
                <a:latin typeface="Cambria Math"/>
              </a:rPr>
              <a:t>e</a:t>
            </a:r>
            <a:r>
              <a:rPr sz="1300" b="0" i="0">
                <a:solidFill>
                  <a:srgbClr val="000000"/>
                </a:solidFill>
                <a:latin typeface="Cambria Math"/>
              </a:rPr>
              <a:t>, </a:t>
            </a:r>
            <a:r>
              <a:rPr sz="1300" b="0" i="1">
                <a:solidFill>
                  <a:srgbClr val="000000"/>
                </a:solidFill>
                <a:latin typeface="Cambria Math"/>
              </a:rPr>
              <a:t>r</a:t>
            </a:r>
            <a:r>
              <a:rPr sz="1300" b="0" i="0">
                <a:solidFill>
                  <a:srgbClr val="000000"/>
                </a:solidFill>
                <a:latin typeface="Cambria Math"/>
              </a:rPr>
              <a:t>) | </a:t>
            </a:r>
            <a:r>
              <a:rPr sz="1300" b="0" i="1">
                <a:solidFill>
                  <a:srgbClr val="000000"/>
                </a:solidFill>
                <a:latin typeface="Cambria Math"/>
              </a:rPr>
              <a:t>r</a:t>
            </a:r>
            <a:r>
              <a:rPr sz="1300" b="0" i="0">
                <a:solidFill>
                  <a:srgbClr val="000000"/>
                </a:solidFill>
                <a:latin typeface="Cambria Math"/>
              </a:rPr>
              <a:t> ∈ </a:t>
            </a:r>
            <a:r>
              <a:rPr sz="1300" b="0" i="1">
                <a:solidFill>
                  <a:srgbClr val="000000"/>
                </a:solidFill>
                <a:latin typeface="Cambria Math"/>
              </a:rPr>
              <a:t>π</a:t>
            </a:r>
            <a:r>
              <a:rPr sz="1300" b="0" i="0">
                <a:solidFill>
                  <a:srgbClr val="000000"/>
                </a:solidFill>
                <a:latin typeface="Cambria Math"/>
              </a:rPr>
              <a:t>} ⊨ </a:t>
            </a:r>
            <a:r>
              <a:rPr sz="1300" b="0" i="1">
                <a:solidFill>
                  <a:srgbClr val="000000"/>
                </a:solidFill>
                <a:latin typeface="Cambria Math"/>
              </a:rPr>
              <a:t>q</a:t>
            </a:r>
            <a:r>
              <a:rPr sz="1300" b="0" i="0">
                <a:solidFill>
                  <a:srgbClr val="000000"/>
                </a:solidFill>
                <a:latin typeface="Cambria Math"/>
              </a:rPr>
              <a:t> }</a:t>
            </a:r>
          </a:p>
        </p:txBody>
      </p:sp>
      <p:sp>
        <p:nvSpPr>
          <p:cNvPr id="4" name="TextBox 3"/>
          <p:cNvSpPr txBox="1"/>
          <p:nvPr/>
        </p:nvSpPr>
        <p:spPr>
          <a:xfrm>
            <a:off x="6278727" y="1325880"/>
            <a:ext cx="5364327" cy="4892040"/>
          </a:xfrm>
          <a:prstGeom prst="rect">
            <a:avLst/>
          </a:prstGeom>
          <a:noFill/>
        </p:spPr>
        <p:txBody>
          <a:bodyPr wrap="square" lIns="0" tIns="0" rIns="0" bIns="0" anchor="t">
            <a:noAutofit/>
          </a:bodyPr>
          <a:lstStyle/>
          <a:p>
            <a:pPr marL="0" indent="0">
              <a:spcBef>
                <a:spcPts val="0"/>
              </a:spcBef>
              <a:buNone/>
            </a:pPr>
            <a:r>
              <a:rPr sz="1300" b="1">
                <a:solidFill>
                  <a:srgbClr val="000000"/>
                </a:solidFill>
              </a:rPr>
              <a:t>Ax. 5.9  Correlativity, for ODRLRel(ρ)</a:t>
            </a:r>
          </a:p>
          <a:p>
            <a:pPr marL="0" indent="0">
              <a:spcBef>
                <a:spcPts val="300"/>
              </a:spcBef>
              <a:buNone/>
            </a:pPr>
            <a:r>
              <a:rPr sz="1300" b="0" i="0">
                <a:solidFill>
                  <a:srgbClr val="000000"/>
                </a:solidFill>
                <a:latin typeface="Cambria Math"/>
              </a:rPr>
              <a:t>(∃!</a:t>
            </a:r>
            <a:r>
              <a:rPr sz="1300" b="0" i="1">
                <a:solidFill>
                  <a:srgbClr val="000000"/>
                </a:solidFill>
                <a:latin typeface="Cambria Math"/>
              </a:rPr>
              <a:t>u</a:t>
            </a:r>
            <a:r>
              <a:rPr sz="1300" b="0" i="0">
                <a:solidFill>
                  <a:srgbClr val="000000"/>
                </a:solidFill>
                <a:latin typeface="Cambria Math"/>
              </a:rPr>
              <a:t>. </a:t>
            </a:r>
            <a:r>
              <a:rPr sz="1300" b="0" i="1">
                <a:solidFill>
                  <a:srgbClr val="000000"/>
                </a:solidFill>
                <a:latin typeface="Cambria Math"/>
              </a:rPr>
              <a:t>X</a:t>
            </a:r>
            <a:r>
              <a:rPr sz="1300" b="0" i="0">
                <a:solidFill>
                  <a:srgbClr val="000000"/>
                </a:solidFill>
                <a:latin typeface="Cambria Math"/>
              </a:rPr>
              <a:t>(</a:t>
            </a:r>
            <a:r>
              <a:rPr sz="1300" b="0" i="1">
                <a:solidFill>
                  <a:srgbClr val="000000"/>
                </a:solidFill>
                <a:latin typeface="Cambria Math"/>
              </a:rPr>
              <a:t>u</a:t>
            </a:r>
            <a:r>
              <a:rPr sz="1300" b="0" i="0">
                <a:solidFill>
                  <a:srgbClr val="000000"/>
                </a:solidFill>
                <a:latin typeface="Cambria Math"/>
              </a:rPr>
              <a:t>) ∧ partOf(</a:t>
            </a:r>
            <a:r>
              <a:rPr sz="1300" b="0" i="1">
                <a:solidFill>
                  <a:srgbClr val="000000"/>
                </a:solidFill>
                <a:latin typeface="Cambria Math"/>
              </a:rPr>
              <a:t>u</a:t>
            </a:r>
            <a:r>
              <a:rPr sz="1300" b="0" i="0">
                <a:solidFill>
                  <a:srgbClr val="000000"/>
                </a:solidFill>
                <a:latin typeface="Cambria Math"/>
              </a:rPr>
              <a:t>, </a:t>
            </a:r>
            <a:r>
              <a:rPr sz="1300" b="0" i="1">
                <a:solidFill>
                  <a:srgbClr val="000000"/>
                </a:solidFill>
                <a:latin typeface="Cambria Math"/>
              </a:rPr>
              <a:t>ρ</a:t>
            </a:r>
            <a:r>
              <a:rPr sz="1300" b="0" i="0">
                <a:solidFill>
                  <a:srgbClr val="000000"/>
                </a:solidFill>
                <a:latin typeface="Cambria Math"/>
              </a:rPr>
              <a:t>) ∧ cnt(</a:t>
            </a:r>
            <a:r>
              <a:rPr sz="1300" b="0" i="1">
                <a:solidFill>
                  <a:srgbClr val="000000"/>
                </a:solidFill>
                <a:latin typeface="Cambria Math"/>
              </a:rPr>
              <a:t>u</a:t>
            </a:r>
            <a:r>
              <a:rPr sz="1300" b="0" i="0">
                <a:solidFill>
                  <a:srgbClr val="000000"/>
                </a:solidFill>
                <a:latin typeface="Cambria Math"/>
              </a:rPr>
              <a:t>, </a:t>
            </a:r>
            <a:r>
              <a:rPr sz="1300" b="0" i="1">
                <a:solidFill>
                  <a:srgbClr val="000000"/>
                </a:solidFill>
                <a:latin typeface="Cambria Math"/>
              </a:rPr>
              <a:t>a</a:t>
            </a:r>
            <a:r>
              <a:rPr sz="1300" b="0" i="0">
                <a:solidFill>
                  <a:srgbClr val="000000"/>
                </a:solidFill>
                <a:latin typeface="Cambria Math"/>
              </a:rPr>
              <a:t>, </a:t>
            </a:r>
            <a:r>
              <a:rPr sz="1300" b="0" i="1">
                <a:solidFill>
                  <a:srgbClr val="000000"/>
                </a:solidFill>
                <a:latin typeface="Cambria Math"/>
              </a:rPr>
              <a:t>t</a:t>
            </a:r>
            <a:r>
              <a:rPr sz="1300" b="0" i="0">
                <a:solidFill>
                  <a:srgbClr val="000000"/>
                </a:solidFill>
                <a:latin typeface="Cambria Math"/>
              </a:rPr>
              <a:t>))</a:t>
            </a:r>
          </a:p>
          <a:p>
            <a:pPr marL="0" indent="0">
              <a:spcBef>
                <a:spcPts val="100"/>
              </a:spcBef>
              <a:buNone/>
            </a:pPr>
            <a:r>
              <a:rPr sz="1300" b="0" i="0">
                <a:solidFill>
                  <a:srgbClr val="000000"/>
                </a:solidFill>
                <a:latin typeface="Cambria Math"/>
              </a:rPr>
              <a:t>   ↔ (∃!</a:t>
            </a:r>
            <a:r>
              <a:rPr sz="1300" b="0" i="1">
                <a:solidFill>
                  <a:srgbClr val="000000"/>
                </a:solidFill>
                <a:latin typeface="Cambria Math"/>
              </a:rPr>
              <a:t>v</a:t>
            </a:r>
            <a:r>
              <a:rPr sz="1300" b="0" i="0">
                <a:solidFill>
                  <a:srgbClr val="000000"/>
                </a:solidFill>
                <a:latin typeface="Cambria Math"/>
              </a:rPr>
              <a:t>. </a:t>
            </a:r>
            <a:r>
              <a:rPr sz="1300" b="0" i="1">
                <a:solidFill>
                  <a:srgbClr val="000000"/>
                </a:solidFill>
                <a:latin typeface="Cambria Math"/>
              </a:rPr>
              <a:t>Y</a:t>
            </a:r>
            <a:r>
              <a:rPr sz="1300" b="0" i="0">
                <a:solidFill>
                  <a:srgbClr val="000000"/>
                </a:solidFill>
                <a:latin typeface="Cambria Math"/>
              </a:rPr>
              <a:t>(</a:t>
            </a:r>
            <a:r>
              <a:rPr sz="1300" b="0" i="1">
                <a:solidFill>
                  <a:srgbClr val="000000"/>
                </a:solidFill>
                <a:latin typeface="Cambria Math"/>
              </a:rPr>
              <a:t>v</a:t>
            </a:r>
            <a:r>
              <a:rPr sz="1300" b="0" i="0">
                <a:solidFill>
                  <a:srgbClr val="000000"/>
                </a:solidFill>
                <a:latin typeface="Cambria Math"/>
              </a:rPr>
              <a:t>) ∧ partOf(</a:t>
            </a:r>
            <a:r>
              <a:rPr sz="1300" b="0" i="1">
                <a:solidFill>
                  <a:srgbClr val="000000"/>
                </a:solidFill>
                <a:latin typeface="Cambria Math"/>
              </a:rPr>
              <a:t>v</a:t>
            </a:r>
            <a:r>
              <a:rPr sz="1300" b="0" i="0">
                <a:solidFill>
                  <a:srgbClr val="000000"/>
                </a:solidFill>
                <a:latin typeface="Cambria Math"/>
              </a:rPr>
              <a:t>, </a:t>
            </a:r>
            <a:r>
              <a:rPr sz="1300" b="0" i="1">
                <a:solidFill>
                  <a:srgbClr val="000000"/>
                </a:solidFill>
                <a:latin typeface="Cambria Math"/>
              </a:rPr>
              <a:t>ρ</a:t>
            </a:r>
            <a:r>
              <a:rPr sz="1300" b="0" i="0">
                <a:solidFill>
                  <a:srgbClr val="000000"/>
                </a:solidFill>
                <a:latin typeface="Cambria Math"/>
              </a:rPr>
              <a:t>) ∧ cnt(</a:t>
            </a:r>
            <a:r>
              <a:rPr sz="1300" b="0" i="1">
                <a:solidFill>
                  <a:srgbClr val="000000"/>
                </a:solidFill>
                <a:latin typeface="Cambria Math"/>
              </a:rPr>
              <a:t>v</a:t>
            </a:r>
            <a:r>
              <a:rPr sz="1300" b="0" i="0">
                <a:solidFill>
                  <a:srgbClr val="000000"/>
                </a:solidFill>
                <a:latin typeface="Cambria Math"/>
              </a:rPr>
              <a:t>, </a:t>
            </a:r>
            <a:r>
              <a:rPr sz="1300" b="0" i="1">
                <a:solidFill>
                  <a:srgbClr val="000000"/>
                </a:solidFill>
                <a:latin typeface="Cambria Math"/>
              </a:rPr>
              <a:t>a</a:t>
            </a:r>
            <a:r>
              <a:rPr sz="1300" b="0" i="0">
                <a:solidFill>
                  <a:srgbClr val="000000"/>
                </a:solidFill>
                <a:latin typeface="Cambria Math"/>
              </a:rPr>
              <a:t>, </a:t>
            </a:r>
            <a:r>
              <a:rPr sz="1300" b="0" i="1">
                <a:solidFill>
                  <a:srgbClr val="000000"/>
                </a:solidFill>
                <a:latin typeface="Cambria Math"/>
              </a:rPr>
              <a:t>t</a:t>
            </a:r>
            <a:r>
              <a:rPr sz="1300" b="0" i="0">
                <a:solidFill>
                  <a:srgbClr val="000000"/>
                </a:solidFill>
                <a:latin typeface="Cambria Math"/>
              </a:rPr>
              <a:t>)),  (</a:t>
            </a:r>
            <a:r>
              <a:rPr sz="1300" b="0" i="1">
                <a:solidFill>
                  <a:srgbClr val="000000"/>
                </a:solidFill>
                <a:latin typeface="Cambria Math"/>
              </a:rPr>
              <a:t>X</a:t>
            </a:r>
            <a:r>
              <a:rPr sz="1300" b="0" i="0">
                <a:solidFill>
                  <a:srgbClr val="000000"/>
                </a:solidFill>
                <a:latin typeface="Cambria Math"/>
              </a:rPr>
              <a:t>, </a:t>
            </a:r>
            <a:r>
              <a:rPr sz="1300" b="0" i="1">
                <a:solidFill>
                  <a:srgbClr val="000000"/>
                </a:solidFill>
                <a:latin typeface="Cambria Math"/>
              </a:rPr>
              <a:t>Y</a:t>
            </a:r>
            <a:r>
              <a:rPr sz="1300" b="0" i="0">
                <a:solidFill>
                  <a:srgbClr val="000000"/>
                </a:solidFill>
                <a:latin typeface="Cambria Math"/>
              </a:rPr>
              <a:t>) ∈</a:t>
            </a:r>
          </a:p>
          <a:p>
            <a:pPr marL="0" indent="0">
              <a:spcBef>
                <a:spcPts val="100"/>
              </a:spcBef>
              <a:buNone/>
            </a:pPr>
            <a:r>
              <a:rPr sz="1300" b="0" i="0">
                <a:solidFill>
                  <a:srgbClr val="000000"/>
                </a:solidFill>
                <a:latin typeface="Cambria Math"/>
              </a:rPr>
              <a:t>   {(</a:t>
            </a:r>
            <a:r>
              <a:rPr sz="1300" b="0" i="0">
                <a:solidFill>
                  <a:srgbClr val="137A62"/>
                </a:solidFill>
                <a:latin typeface="Cambria Math"/>
              </a:rPr>
              <a:t>Permission</a:t>
            </a:r>
            <a:r>
              <a:rPr sz="1300" b="0" i="0">
                <a:solidFill>
                  <a:srgbClr val="000000"/>
                </a:solidFill>
                <a:latin typeface="Cambria Math"/>
              </a:rPr>
              <a:t>, </a:t>
            </a:r>
            <a:r>
              <a:rPr sz="1300" b="0" i="0">
                <a:solidFill>
                  <a:srgbClr val="137A62"/>
                </a:solidFill>
                <a:latin typeface="Cambria Math"/>
              </a:rPr>
              <a:t>NoRight</a:t>
            </a:r>
            <a:r>
              <a:rPr sz="1300" b="0" i="0">
                <a:solidFill>
                  <a:srgbClr val="000000"/>
                </a:solidFill>
                <a:latin typeface="Cambria Math"/>
              </a:rPr>
              <a:t>), (</a:t>
            </a:r>
            <a:r>
              <a:rPr sz="1300" b="0" i="0">
                <a:solidFill>
                  <a:srgbClr val="137A62"/>
                </a:solidFill>
                <a:latin typeface="Cambria Math"/>
              </a:rPr>
              <a:t>Duty</a:t>
            </a:r>
            <a:r>
              <a:rPr sz="1300" b="0" i="0">
                <a:solidFill>
                  <a:srgbClr val="000000"/>
                </a:solidFill>
                <a:latin typeface="Cambria Math"/>
              </a:rPr>
              <a:t>, </a:t>
            </a:r>
            <a:r>
              <a:rPr sz="1300" b="0" i="0">
                <a:solidFill>
                  <a:srgbClr val="137A62"/>
                </a:solidFill>
                <a:latin typeface="Cambria Math"/>
              </a:rPr>
              <a:t>Right</a:t>
            </a:r>
            <a:r>
              <a:rPr sz="1300" b="0" i="0">
                <a:solidFill>
                  <a:srgbClr val="000000"/>
                </a:solidFill>
                <a:latin typeface="Cambria Math"/>
              </a:rPr>
              <a:t>),</a:t>
            </a:r>
          </a:p>
          <a:p>
            <a:pPr marL="0" indent="0">
              <a:spcBef>
                <a:spcPts val="100"/>
              </a:spcBef>
              <a:buNone/>
            </a:pPr>
            <a:r>
              <a:rPr sz="1300" b="0" i="0">
                <a:solidFill>
                  <a:srgbClr val="000000"/>
                </a:solidFill>
                <a:latin typeface="Cambria Math"/>
              </a:rPr>
              <a:t>    (</a:t>
            </a:r>
            <a:r>
              <a:rPr sz="1300" b="0" i="0">
                <a:solidFill>
                  <a:srgbClr val="00549F"/>
                </a:solidFill>
                <a:latin typeface="Cambria Math"/>
              </a:rPr>
              <a:t>Power</a:t>
            </a:r>
            <a:r>
              <a:rPr sz="1300" b="0" i="0">
                <a:solidFill>
                  <a:srgbClr val="000000"/>
                </a:solidFill>
                <a:latin typeface="Cambria Math"/>
              </a:rPr>
              <a:t>, </a:t>
            </a:r>
            <a:r>
              <a:rPr sz="1300" b="0" i="0">
                <a:solidFill>
                  <a:srgbClr val="00549F"/>
                </a:solidFill>
                <a:latin typeface="Cambria Math"/>
              </a:rPr>
              <a:t>Subj</a:t>
            </a:r>
            <a:r>
              <a:rPr sz="1300" b="0" i="0">
                <a:solidFill>
                  <a:srgbClr val="000000"/>
                </a:solidFill>
                <a:latin typeface="Cambria Math"/>
              </a:rPr>
              <a:t>), (</a:t>
            </a:r>
            <a:r>
              <a:rPr sz="1300" b="0" i="0">
                <a:solidFill>
                  <a:srgbClr val="00549F"/>
                </a:solidFill>
                <a:latin typeface="Cambria Math"/>
              </a:rPr>
              <a:t>Immunity</a:t>
            </a:r>
            <a:r>
              <a:rPr sz="1300" b="0" i="0">
                <a:solidFill>
                  <a:srgbClr val="000000"/>
                </a:solidFill>
                <a:latin typeface="Cambria Math"/>
              </a:rPr>
              <a:t>, </a:t>
            </a:r>
            <a:r>
              <a:rPr sz="1300" b="0" i="0">
                <a:solidFill>
                  <a:srgbClr val="00549F"/>
                </a:solidFill>
                <a:latin typeface="Cambria Math"/>
              </a:rPr>
              <a:t>Disability</a:t>
            </a:r>
            <a:r>
              <a:rPr sz="1300" b="0" i="0">
                <a:solidFill>
                  <a:srgbClr val="000000"/>
                </a:solidFill>
                <a:latin typeface="Cambria Math"/>
              </a:rPr>
              <a:t>)}</a:t>
            </a:r>
          </a:p>
          <a:p>
            <a:pPr marL="0" indent="0">
              <a:spcBef>
                <a:spcPts val="1200"/>
              </a:spcBef>
              <a:buNone/>
            </a:pPr>
            <a:r>
              <a:rPr sz="1300" b="1">
                <a:solidFill>
                  <a:srgbClr val="000000"/>
                </a:solidFill>
              </a:rPr>
              <a:t>Ax. 5.10  Normative position incompatibility</a:t>
            </a:r>
          </a:p>
          <a:p>
            <a:pPr marL="0" indent="0">
              <a:spcBef>
                <a:spcPts val="300"/>
              </a:spcBef>
              <a:buNone/>
            </a:pPr>
            <a:r>
              <a:rPr sz="1300" b="0" i="0">
                <a:solidFill>
                  <a:srgbClr val="000000"/>
                </a:solidFill>
                <a:latin typeface="Cambria Math"/>
              </a:rPr>
              <a:t>∀</a:t>
            </a:r>
            <a:r>
              <a:rPr sz="1300" b="0" i="1">
                <a:solidFill>
                  <a:srgbClr val="000000"/>
                </a:solidFill>
                <a:latin typeface="Cambria Math"/>
              </a:rPr>
              <a:t>l</a:t>
            </a:r>
            <a:r>
              <a:rPr sz="1300" b="0" i="0">
                <a:solidFill>
                  <a:srgbClr val="000000"/>
                </a:solidFill>
                <a:latin typeface="Cambria Math"/>
              </a:rPr>
              <a:t>, </a:t>
            </a:r>
            <a:r>
              <a:rPr sz="1300" b="0" i="1">
                <a:solidFill>
                  <a:srgbClr val="000000"/>
                </a:solidFill>
                <a:latin typeface="Cambria Math"/>
              </a:rPr>
              <a:t>d</a:t>
            </a:r>
            <a:r>
              <a:rPr sz="1300" b="0" i="0">
                <a:solidFill>
                  <a:srgbClr val="000000"/>
                </a:solidFill>
                <a:latin typeface="Cambria Math"/>
              </a:rPr>
              <a:t>, </a:t>
            </a:r>
            <a:r>
              <a:rPr sz="1300" b="0" i="1">
                <a:solidFill>
                  <a:srgbClr val="000000"/>
                </a:solidFill>
                <a:latin typeface="Cambria Math"/>
              </a:rPr>
              <a:t>x</a:t>
            </a:r>
            <a:r>
              <a:rPr sz="1300" b="0" i="0">
                <a:solidFill>
                  <a:srgbClr val="000000"/>
                </a:solidFill>
                <a:latin typeface="Cambria Math"/>
              </a:rPr>
              <a:t>, </a:t>
            </a:r>
            <a:r>
              <a:rPr sz="1300" b="0" i="1">
                <a:solidFill>
                  <a:srgbClr val="000000"/>
                </a:solidFill>
                <a:latin typeface="Cambria Math"/>
              </a:rPr>
              <a:t>a</a:t>
            </a:r>
            <a:r>
              <a:rPr sz="1300" b="0" i="0">
                <a:solidFill>
                  <a:srgbClr val="000000"/>
                </a:solidFill>
                <a:latin typeface="Cambria Math"/>
              </a:rPr>
              <a:t>, </a:t>
            </a:r>
            <a:r>
              <a:rPr sz="1300" b="0" i="1">
                <a:solidFill>
                  <a:srgbClr val="000000"/>
                </a:solidFill>
                <a:latin typeface="Cambria Math"/>
              </a:rPr>
              <a:t>t</a:t>
            </a:r>
            <a:r>
              <a:rPr sz="1300" b="0" i="0">
                <a:solidFill>
                  <a:srgbClr val="000000"/>
                </a:solidFill>
                <a:latin typeface="Cambria Math"/>
              </a:rPr>
              <a:t>. </a:t>
            </a:r>
            <a:r>
              <a:rPr sz="1300" b="0" i="0">
                <a:solidFill>
                  <a:srgbClr val="137A62"/>
                </a:solidFill>
                <a:latin typeface="Cambria Math"/>
              </a:rPr>
              <a:t>Permission</a:t>
            </a:r>
            <a:r>
              <a:rPr sz="1300" b="0" i="0">
                <a:solidFill>
                  <a:srgbClr val="000000"/>
                </a:solidFill>
                <a:latin typeface="Cambria Math"/>
              </a:rPr>
              <a:t>(</a:t>
            </a:r>
            <a:r>
              <a:rPr sz="1300" b="0" i="1">
                <a:solidFill>
                  <a:srgbClr val="000000"/>
                </a:solidFill>
                <a:latin typeface="Cambria Math"/>
              </a:rPr>
              <a:t>l</a:t>
            </a:r>
            <a:r>
              <a:rPr sz="1300" b="0" i="0">
                <a:solidFill>
                  <a:srgbClr val="000000"/>
                </a:solidFill>
                <a:latin typeface="Cambria Math"/>
              </a:rPr>
              <a:t>) ∧ bearer(</a:t>
            </a:r>
            <a:r>
              <a:rPr sz="1300" b="0" i="1">
                <a:solidFill>
                  <a:srgbClr val="000000"/>
                </a:solidFill>
                <a:latin typeface="Cambria Math"/>
              </a:rPr>
              <a:t>l</a:t>
            </a:r>
            <a:r>
              <a:rPr sz="1300" b="0" i="0">
                <a:solidFill>
                  <a:srgbClr val="000000"/>
                </a:solidFill>
                <a:latin typeface="Cambria Math"/>
              </a:rPr>
              <a:t>, </a:t>
            </a:r>
            <a:r>
              <a:rPr sz="1300" b="0" i="1">
                <a:solidFill>
                  <a:srgbClr val="000000"/>
                </a:solidFill>
                <a:latin typeface="Cambria Math"/>
              </a:rPr>
              <a:t>x</a:t>
            </a:r>
            <a:r>
              <a:rPr sz="1300" b="0" i="0">
                <a:solidFill>
                  <a:srgbClr val="000000"/>
                </a:solidFill>
                <a:latin typeface="Cambria Math"/>
              </a:rPr>
              <a:t>) ∧ cnt(</a:t>
            </a:r>
            <a:r>
              <a:rPr sz="1300" b="0" i="1">
                <a:solidFill>
                  <a:srgbClr val="000000"/>
                </a:solidFill>
                <a:latin typeface="Cambria Math"/>
              </a:rPr>
              <a:t>l</a:t>
            </a:r>
            <a:r>
              <a:rPr sz="1300" b="0" i="0">
                <a:solidFill>
                  <a:srgbClr val="000000"/>
                </a:solidFill>
                <a:latin typeface="Cambria Math"/>
              </a:rPr>
              <a:t>, </a:t>
            </a:r>
            <a:r>
              <a:rPr sz="1300" b="0" i="1">
                <a:solidFill>
                  <a:srgbClr val="000000"/>
                </a:solidFill>
                <a:latin typeface="Cambria Math"/>
              </a:rPr>
              <a:t>a</a:t>
            </a:r>
            <a:r>
              <a:rPr sz="1300" b="0" i="0">
                <a:solidFill>
                  <a:srgbClr val="000000"/>
                </a:solidFill>
                <a:latin typeface="Cambria Math"/>
              </a:rPr>
              <a:t>, </a:t>
            </a:r>
            <a:r>
              <a:rPr sz="1300" b="0" i="1">
                <a:solidFill>
                  <a:srgbClr val="000000"/>
                </a:solidFill>
                <a:latin typeface="Cambria Math"/>
              </a:rPr>
              <a:t>t</a:t>
            </a:r>
            <a:r>
              <a:rPr sz="1300" b="0" i="0">
                <a:solidFill>
                  <a:srgbClr val="000000"/>
                </a:solidFill>
                <a:latin typeface="Cambria Math"/>
              </a:rPr>
              <a:t>)</a:t>
            </a:r>
          </a:p>
          <a:p>
            <a:pPr marL="0" indent="0">
              <a:spcBef>
                <a:spcPts val="100"/>
              </a:spcBef>
              <a:buNone/>
            </a:pPr>
            <a:r>
              <a:rPr sz="1300" b="0" i="0">
                <a:solidFill>
                  <a:srgbClr val="000000"/>
                </a:solidFill>
                <a:latin typeface="Cambria Math"/>
              </a:rPr>
              <a:t>   ∧ </a:t>
            </a:r>
            <a:r>
              <a:rPr sz="1300" b="0" i="0">
                <a:solidFill>
                  <a:srgbClr val="137A62"/>
                </a:solidFill>
                <a:latin typeface="Cambria Math"/>
              </a:rPr>
              <a:t>Duty</a:t>
            </a:r>
            <a:r>
              <a:rPr sz="1300" b="0" i="0">
                <a:solidFill>
                  <a:srgbClr val="000000"/>
                </a:solidFill>
                <a:latin typeface="Cambria Math"/>
              </a:rPr>
              <a:t>(</a:t>
            </a:r>
            <a:r>
              <a:rPr sz="1300" b="0" i="1">
                <a:solidFill>
                  <a:srgbClr val="000000"/>
                </a:solidFill>
                <a:latin typeface="Cambria Math"/>
              </a:rPr>
              <a:t>d</a:t>
            </a:r>
            <a:r>
              <a:rPr sz="1300" b="0" i="0">
                <a:solidFill>
                  <a:srgbClr val="000000"/>
                </a:solidFill>
                <a:latin typeface="Cambria Math"/>
              </a:rPr>
              <a:t>) ∧ bearer(</a:t>
            </a:r>
            <a:r>
              <a:rPr sz="1300" b="0" i="1">
                <a:solidFill>
                  <a:srgbClr val="000000"/>
                </a:solidFill>
                <a:latin typeface="Cambria Math"/>
              </a:rPr>
              <a:t>d</a:t>
            </a:r>
            <a:r>
              <a:rPr sz="1300" b="0" i="0">
                <a:solidFill>
                  <a:srgbClr val="000000"/>
                </a:solidFill>
                <a:latin typeface="Cambria Math"/>
              </a:rPr>
              <a:t>, </a:t>
            </a:r>
            <a:r>
              <a:rPr sz="1300" b="0" i="1">
                <a:solidFill>
                  <a:srgbClr val="000000"/>
                </a:solidFill>
                <a:latin typeface="Cambria Math"/>
              </a:rPr>
              <a:t>x</a:t>
            </a:r>
            <a:r>
              <a:rPr sz="1300" b="0" i="0">
                <a:solidFill>
                  <a:srgbClr val="000000"/>
                </a:solidFill>
                <a:latin typeface="Cambria Math"/>
              </a:rPr>
              <a:t>) ∧ cnt(</a:t>
            </a:r>
            <a:r>
              <a:rPr sz="1300" b="0" i="1">
                <a:solidFill>
                  <a:srgbClr val="000000"/>
                </a:solidFill>
                <a:latin typeface="Cambria Math"/>
              </a:rPr>
              <a:t>d</a:t>
            </a:r>
            <a:r>
              <a:rPr sz="1300" b="0" i="0">
                <a:solidFill>
                  <a:srgbClr val="000000"/>
                </a:solidFill>
                <a:latin typeface="Cambria Math"/>
              </a:rPr>
              <a:t>, rfr(</a:t>
            </a:r>
            <a:r>
              <a:rPr sz="1300" b="0" i="1">
                <a:solidFill>
                  <a:srgbClr val="000000"/>
                </a:solidFill>
                <a:latin typeface="Cambria Math"/>
              </a:rPr>
              <a:t>a</a:t>
            </a:r>
            <a:r>
              <a:rPr sz="1300" b="0" i="0">
                <a:solidFill>
                  <a:srgbClr val="000000"/>
                </a:solidFill>
                <a:latin typeface="Cambria Math"/>
              </a:rPr>
              <a:t>), </a:t>
            </a:r>
            <a:r>
              <a:rPr sz="1300" b="0" i="1">
                <a:solidFill>
                  <a:srgbClr val="000000"/>
                </a:solidFill>
                <a:latin typeface="Cambria Math"/>
              </a:rPr>
              <a:t>t</a:t>
            </a:r>
            <a:r>
              <a:rPr sz="1300" b="0" i="0">
                <a:solidFill>
                  <a:srgbClr val="000000"/>
                </a:solidFill>
                <a:latin typeface="Cambria Math"/>
              </a:rPr>
              <a:t>) → ⊥</a:t>
            </a:r>
          </a:p>
          <a:p>
            <a:pPr marL="0" indent="0">
              <a:spcBef>
                <a:spcPts val="1200"/>
              </a:spcBef>
              <a:buNone/>
            </a:pPr>
            <a:r>
              <a:rPr sz="1300" b="1">
                <a:solidFill>
                  <a:srgbClr val="000000"/>
                </a:solidFill>
              </a:rPr>
              <a:t>Ax. 5.11  Disability precludes prohibition creation</a:t>
            </a:r>
          </a:p>
          <a:p>
            <a:pPr marL="0" indent="0">
              <a:spcBef>
                <a:spcPts val="300"/>
              </a:spcBef>
              <a:buNone/>
            </a:pPr>
            <a:r>
              <a:rPr sz="1300" b="0" i="0">
                <a:solidFill>
                  <a:srgbClr val="000000"/>
                </a:solidFill>
                <a:latin typeface="Cambria Math"/>
              </a:rPr>
              <a:t>∀</a:t>
            </a:r>
            <a:r>
              <a:rPr sz="1300" b="0" i="1">
                <a:solidFill>
                  <a:srgbClr val="000000"/>
                </a:solidFill>
                <a:latin typeface="Cambria Math"/>
              </a:rPr>
              <a:t>f</a:t>
            </a:r>
            <a:r>
              <a:rPr sz="1300" b="0" i="0">
                <a:solidFill>
                  <a:srgbClr val="000000"/>
                </a:solidFill>
                <a:latin typeface="Cambria Math"/>
              </a:rPr>
              <a:t>, </a:t>
            </a:r>
            <a:r>
              <a:rPr sz="1300" b="0" i="1">
                <a:solidFill>
                  <a:srgbClr val="000000"/>
                </a:solidFill>
                <a:latin typeface="Cambria Math"/>
              </a:rPr>
              <a:t>x</a:t>
            </a:r>
            <a:r>
              <a:rPr sz="1300" b="0" i="0">
                <a:solidFill>
                  <a:srgbClr val="000000"/>
                </a:solidFill>
                <a:latin typeface="Cambria Math"/>
              </a:rPr>
              <a:t>, </a:t>
            </a:r>
            <a:r>
              <a:rPr sz="1300" b="0" i="1">
                <a:solidFill>
                  <a:srgbClr val="000000"/>
                </a:solidFill>
                <a:latin typeface="Cambria Math"/>
              </a:rPr>
              <a:t>y</a:t>
            </a:r>
            <a:r>
              <a:rPr sz="1300" b="0" i="0">
                <a:solidFill>
                  <a:srgbClr val="000000"/>
                </a:solidFill>
                <a:latin typeface="Cambria Math"/>
              </a:rPr>
              <a:t>, </a:t>
            </a:r>
            <a:r>
              <a:rPr sz="1300" b="0" i="1">
                <a:solidFill>
                  <a:srgbClr val="000000"/>
                </a:solidFill>
                <a:latin typeface="Cambria Math"/>
              </a:rPr>
              <a:t>a</a:t>
            </a:r>
            <a:r>
              <a:rPr sz="1300" b="0" i="0">
                <a:solidFill>
                  <a:srgbClr val="000000"/>
                </a:solidFill>
                <a:latin typeface="Cambria Math"/>
              </a:rPr>
              <a:t>, </a:t>
            </a:r>
            <a:r>
              <a:rPr sz="1300" b="0" i="1">
                <a:solidFill>
                  <a:srgbClr val="000000"/>
                </a:solidFill>
                <a:latin typeface="Cambria Math"/>
              </a:rPr>
              <a:t>t</a:t>
            </a:r>
            <a:r>
              <a:rPr sz="1300" b="0" i="0">
                <a:solidFill>
                  <a:srgbClr val="000000"/>
                </a:solidFill>
                <a:latin typeface="Cambria Math"/>
              </a:rPr>
              <a:t>. Proh(</a:t>
            </a:r>
            <a:r>
              <a:rPr sz="1300" b="0" i="1">
                <a:solidFill>
                  <a:srgbClr val="000000"/>
                </a:solidFill>
                <a:latin typeface="Cambria Math"/>
              </a:rPr>
              <a:t>f</a:t>
            </a:r>
            <a:r>
              <a:rPr sz="1300" b="0" i="0">
                <a:solidFill>
                  <a:srgbClr val="000000"/>
                </a:solidFill>
                <a:latin typeface="Cambria Math"/>
              </a:rPr>
              <a:t>) ∧ aee(</a:t>
            </a:r>
            <a:r>
              <a:rPr sz="1300" b="0" i="1">
                <a:solidFill>
                  <a:srgbClr val="000000"/>
                </a:solidFill>
                <a:latin typeface="Cambria Math"/>
              </a:rPr>
              <a:t>f</a:t>
            </a:r>
            <a:r>
              <a:rPr sz="1300" b="0" i="0">
                <a:solidFill>
                  <a:srgbClr val="000000"/>
                </a:solidFill>
                <a:latin typeface="Cambria Math"/>
              </a:rPr>
              <a:t>, </a:t>
            </a:r>
            <a:r>
              <a:rPr sz="1300" b="0" i="1">
                <a:solidFill>
                  <a:srgbClr val="000000"/>
                </a:solidFill>
                <a:latin typeface="Cambria Math"/>
              </a:rPr>
              <a:t>x</a:t>
            </a:r>
            <a:r>
              <a:rPr sz="1300" b="0" i="0">
                <a:solidFill>
                  <a:srgbClr val="000000"/>
                </a:solidFill>
                <a:latin typeface="Cambria Math"/>
              </a:rPr>
              <a:t>) ∧ aer(</a:t>
            </a:r>
            <a:r>
              <a:rPr sz="1300" b="0" i="1">
                <a:solidFill>
                  <a:srgbClr val="000000"/>
                </a:solidFill>
                <a:latin typeface="Cambria Math"/>
              </a:rPr>
              <a:t>f</a:t>
            </a:r>
            <a:r>
              <a:rPr sz="1300" b="0" i="0">
                <a:solidFill>
                  <a:srgbClr val="000000"/>
                </a:solidFill>
                <a:latin typeface="Cambria Math"/>
              </a:rPr>
              <a:t>, </a:t>
            </a:r>
            <a:r>
              <a:rPr sz="1300" b="0" i="1">
                <a:solidFill>
                  <a:srgbClr val="000000"/>
                </a:solidFill>
                <a:latin typeface="Cambria Math"/>
              </a:rPr>
              <a:t>y</a:t>
            </a:r>
            <a:r>
              <a:rPr sz="1300" b="0" i="0">
                <a:solidFill>
                  <a:srgbClr val="000000"/>
                </a:solidFill>
                <a:latin typeface="Cambria Math"/>
              </a:rPr>
              <a:t>) ∧ act(</a:t>
            </a:r>
            <a:r>
              <a:rPr sz="1300" b="0" i="1">
                <a:solidFill>
                  <a:srgbClr val="000000"/>
                </a:solidFill>
                <a:latin typeface="Cambria Math"/>
              </a:rPr>
              <a:t>f</a:t>
            </a:r>
            <a:r>
              <a:rPr sz="1300" b="0" i="0">
                <a:solidFill>
                  <a:srgbClr val="000000"/>
                </a:solidFill>
                <a:latin typeface="Cambria Math"/>
              </a:rPr>
              <a:t>, </a:t>
            </a:r>
            <a:r>
              <a:rPr sz="1300" b="0" i="1">
                <a:solidFill>
                  <a:srgbClr val="000000"/>
                </a:solidFill>
                <a:latin typeface="Cambria Math"/>
              </a:rPr>
              <a:t>a</a:t>
            </a:r>
            <a:r>
              <a:rPr sz="1300" b="0" i="0">
                <a:solidFill>
                  <a:srgbClr val="000000"/>
                </a:solidFill>
                <a:latin typeface="Cambria Math"/>
              </a:rPr>
              <a:t>) ∧ tgt(</a:t>
            </a:r>
            <a:r>
              <a:rPr sz="1300" b="0" i="1">
                <a:solidFill>
                  <a:srgbClr val="000000"/>
                </a:solidFill>
                <a:latin typeface="Cambria Math"/>
              </a:rPr>
              <a:t>f</a:t>
            </a:r>
            <a:r>
              <a:rPr sz="1300" b="0" i="0">
                <a:solidFill>
                  <a:srgbClr val="000000"/>
                </a:solidFill>
                <a:latin typeface="Cambria Math"/>
              </a:rPr>
              <a:t>, </a:t>
            </a:r>
            <a:r>
              <a:rPr sz="1300" b="0" i="1">
                <a:solidFill>
                  <a:srgbClr val="000000"/>
                </a:solidFill>
                <a:latin typeface="Cambria Math"/>
              </a:rPr>
              <a:t>t</a:t>
            </a:r>
            <a:r>
              <a:rPr sz="1300" b="0" i="0">
                <a:solidFill>
                  <a:srgbClr val="000000"/>
                </a:solidFill>
                <a:latin typeface="Cambria Math"/>
              </a:rPr>
              <a:t>)</a:t>
            </a:r>
          </a:p>
          <a:p>
            <a:pPr marL="0" indent="0">
              <a:spcBef>
                <a:spcPts val="100"/>
              </a:spcBef>
              <a:buNone/>
            </a:pPr>
            <a:r>
              <a:rPr sz="1300" b="0" i="0">
                <a:solidFill>
                  <a:srgbClr val="000000"/>
                </a:solidFill>
                <a:latin typeface="Cambria Math"/>
              </a:rPr>
              <a:t>   → ¬∃</a:t>
            </a:r>
            <a:r>
              <a:rPr sz="1300" b="0" i="1">
                <a:solidFill>
                  <a:srgbClr val="000000"/>
                </a:solidFill>
                <a:latin typeface="Cambria Math"/>
              </a:rPr>
              <a:t>db</a:t>
            </a:r>
            <a:r>
              <a:rPr sz="1300" b="0" i="0">
                <a:solidFill>
                  <a:srgbClr val="000000"/>
                </a:solidFill>
                <a:latin typeface="Cambria Math"/>
              </a:rPr>
              <a:t>. </a:t>
            </a:r>
            <a:r>
              <a:rPr sz="1300" b="0" i="0">
                <a:solidFill>
                  <a:srgbClr val="00549F"/>
                </a:solidFill>
                <a:latin typeface="Cambria Math"/>
              </a:rPr>
              <a:t>Disability</a:t>
            </a:r>
            <a:r>
              <a:rPr sz="1300" b="0" i="0">
                <a:solidFill>
                  <a:srgbClr val="000000"/>
                </a:solidFill>
                <a:latin typeface="Cambria Math"/>
              </a:rPr>
              <a:t>(</a:t>
            </a:r>
            <a:r>
              <a:rPr sz="1300" b="0" i="1">
                <a:solidFill>
                  <a:srgbClr val="000000"/>
                </a:solidFill>
                <a:latin typeface="Cambria Math"/>
              </a:rPr>
              <a:t>db</a:t>
            </a:r>
            <a:r>
              <a:rPr sz="1300" b="0" i="0">
                <a:solidFill>
                  <a:srgbClr val="000000"/>
                </a:solidFill>
                <a:latin typeface="Cambria Math"/>
              </a:rPr>
              <a:t>) ∧ bearer(</a:t>
            </a:r>
            <a:r>
              <a:rPr sz="1300" b="0" i="1">
                <a:solidFill>
                  <a:srgbClr val="000000"/>
                </a:solidFill>
                <a:latin typeface="Cambria Math"/>
              </a:rPr>
              <a:t>db</a:t>
            </a:r>
            <a:r>
              <a:rPr sz="1300" b="0" i="0">
                <a:solidFill>
                  <a:srgbClr val="000000"/>
                </a:solidFill>
                <a:latin typeface="Cambria Math"/>
              </a:rPr>
              <a:t>, </a:t>
            </a:r>
            <a:r>
              <a:rPr sz="1300" b="0" i="1">
                <a:solidFill>
                  <a:srgbClr val="000000"/>
                </a:solidFill>
                <a:latin typeface="Cambria Math"/>
              </a:rPr>
              <a:t>y</a:t>
            </a:r>
            <a:r>
              <a:rPr sz="1300" b="0" i="0">
                <a:solidFill>
                  <a:srgbClr val="000000"/>
                </a:solidFill>
                <a:latin typeface="Cambria Math"/>
              </a:rPr>
              <a:t>) ∧ cnt(</a:t>
            </a:r>
            <a:r>
              <a:rPr sz="1300" b="0" i="1">
                <a:solidFill>
                  <a:srgbClr val="000000"/>
                </a:solidFill>
                <a:latin typeface="Cambria Math"/>
              </a:rPr>
              <a:t>db</a:t>
            </a:r>
            <a:r>
              <a:rPr sz="1300" b="0" i="0">
                <a:solidFill>
                  <a:srgbClr val="000000"/>
                </a:solidFill>
                <a:latin typeface="Cambria Math"/>
              </a:rPr>
              <a:t>, </a:t>
            </a:r>
            <a:r>
              <a:rPr sz="1300" b="0" i="1">
                <a:solidFill>
                  <a:srgbClr val="000000"/>
                </a:solidFill>
                <a:latin typeface="Cambria Math"/>
              </a:rPr>
              <a:t>a</a:t>
            </a:r>
            <a:r>
              <a:rPr sz="1300" b="0" i="0">
                <a:solidFill>
                  <a:srgbClr val="000000"/>
                </a:solidFill>
                <a:latin typeface="Cambria Math"/>
              </a:rPr>
              <a:t>, </a:t>
            </a:r>
            <a:r>
              <a:rPr sz="1300" b="0" i="1">
                <a:solidFill>
                  <a:srgbClr val="000000"/>
                </a:solidFill>
                <a:latin typeface="Cambria Math"/>
              </a:rPr>
              <a:t>t</a:t>
            </a:r>
            <a:r>
              <a:rPr sz="1300" b="0" i="0">
                <a:solidFill>
                  <a:srgbClr val="000000"/>
                </a:solidFill>
                <a:latin typeface="Cambria Math"/>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Backup: the behaviour parameter (P1) and delegation (P2)</a:t>
            </a:r>
          </a:p>
        </p:txBody>
      </p:sp>
      <p:sp>
        <p:nvSpPr>
          <p:cNvPr id="3" name="Content Placeholder 2"/>
          <p:cNvSpPr>
            <a:spLocks noGrp="1"/>
          </p:cNvSpPr>
          <p:nvPr>
            <p:ph idx="1"/>
          </p:nvPr>
        </p:nvSpPr>
        <p:spPr/>
        <p:txBody>
          <a:bodyPr>
            <a:noAutofit/>
          </a:bodyPr>
          <a:lstStyle/>
          <a:p>
            <a:r>
              <a:rPr sz="1800" b="1"/>
              <a:t>Prop. 5.1 (open-world vacuum). </a:t>
            </a:r>
            <a:r>
              <a:rPr sz="1800"/>
              <a:t>Under open, an action not regulated by any rule gets no Permission, No Right, Duty or Right, for any bearer.</a:t>
            </a:r>
          </a:p>
          <a:p>
            <a:r>
              <a:rPr sz="1800" b="1"/>
              <a:t>closed: </a:t>
            </a:r>
            <a:r>
              <a:rPr sz="1800"/>
              <a:t>a declared permission founds </a:t>
            </a:r>
            <a:r>
              <a:rPr sz="1800" b="0" i="1">
                <a:latin typeface="Cambria Math"/>
              </a:rPr>
              <a:t>ρ</a:t>
            </a:r>
            <a:r>
              <a:rPr sz="1800" b="0" i="0" baseline="-25000">
                <a:latin typeface="Cambria Math"/>
              </a:rPr>
              <a:t>P</a:t>
            </a:r>
            <a:r>
              <a:rPr sz="1800"/>
              <a:t> (Permission, No Right), unprotected against later change</a:t>
            </a:r>
          </a:p>
          <a:p>
            <a:r>
              <a:rPr sz="1800" b="1"/>
              <a:t>closed + </a:t>
            </a:r>
            <a:r>
              <a:rPr sz="1800">
                <a:latin typeface="Consolas"/>
              </a:rPr>
              <a:t>odrl-l:stronglyPermitted</a:t>
            </a:r>
            <a:r>
              <a:rPr sz="1800" b="1"/>
              <a:t>: </a:t>
            </a:r>
            <a:r>
              <a:rPr sz="1800" b="0" i="1">
                <a:latin typeface="Cambria Math"/>
              </a:rPr>
              <a:t>ρ</a:t>
            </a:r>
            <a:r>
              <a:rPr sz="1800" b="0" i="0" baseline="-25000">
                <a:latin typeface="Cambria Math"/>
              </a:rPr>
              <a:t>P</a:t>
            </a:r>
            <a:r>
              <a:rPr sz="1800"/>
              <a:t> and </a:t>
            </a:r>
            <a:r>
              <a:rPr sz="1800" b="0" i="1">
                <a:latin typeface="Cambria Math"/>
              </a:rPr>
              <a:t>ρ</a:t>
            </a:r>
            <a:r>
              <a:rPr sz="1800" b="0" i="0" baseline="-25000">
                <a:latin typeface="Cambria Math"/>
              </a:rPr>
              <a:t>I</a:t>
            </a:r>
            <a:r>
              <a:rPr sz="1800"/>
              <a:t> (adds Immunity, Disability); persists under later change (Thm. 4.1)</a:t>
            </a:r>
          </a:p>
          <a:p>
            <a:pPr>
              <a:spcBef>
                <a:spcPts val="600"/>
              </a:spcBef>
            </a:pPr>
            <a:r>
              <a:rPr sz="1800"/>
              <a:t>So the parameter chooses between different normative situations; it is not a configuration switch</a:t>
            </a:r>
          </a:p>
          <a:p>
            <a:pPr>
              <a:spcBef>
                <a:spcPts val="2200"/>
              </a:spcBef>
            </a:pPr>
            <a:r>
              <a:rPr sz="1800" b="1"/>
              <a:t>Delegation (P2). </a:t>
            </a:r>
            <a:r>
              <a:rPr sz="1800"/>
              <a:t>The assigner's Power also lets it delegate sanctioning competence to a third party: a normative transfer act creates a new Power/Subjection pair in that agent.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Backup: three OWL approximation limits of odrl-l:</a:t>
            </a:r>
          </a:p>
        </p:txBody>
      </p:sp>
      <p:sp>
        <p:nvSpPr>
          <p:cNvPr id="3" name="Content Placeholder 2"/>
          <p:cNvSpPr>
            <a:spLocks noGrp="1"/>
          </p:cNvSpPr>
          <p:nvPr>
            <p:ph idx="1"/>
          </p:nvPr>
        </p:nvSpPr>
        <p:spPr/>
        <p:txBody>
          <a:bodyPr>
            <a:noAutofit/>
          </a:bodyPr>
          <a:lstStyle/>
          <a:p>
            <a:pPr marL="457200" indent="-457200">
              <a:buClr>
                <a:srgbClr val="0B4F6C"/>
              </a:buClr>
              <a:buFont typeface="+mj-lt"/>
              <a:buAutoNum type="arabicPeriod"/>
            </a:pPr>
            <a:r>
              <a:rPr sz="1900" b="1"/>
              <a:t>No term for the omission. </a:t>
            </a:r>
            <a:r>
              <a:rPr sz="1900" b="0" i="0">
                <a:latin typeface="Cambria Math"/>
              </a:rPr>
              <a:t>rfr(</a:t>
            </a:r>
            <a:r>
              <a:rPr sz="1900" b="0" i="1">
                <a:latin typeface="Cambria Math"/>
              </a:rPr>
              <a:t>a</a:t>
            </a:r>
            <a:r>
              <a:rPr sz="1900" b="0" i="0">
                <a:latin typeface="Cambria Math"/>
              </a:rPr>
              <a:t>)</a:t>
            </a:r>
            <a:r>
              <a:rPr sz="1900"/>
              <a:t> is a function symbol; OWL has none, so forbearance content is not a term.</a:t>
            </a:r>
          </a:p>
          <a:p>
            <a:pPr marL="457200" indent="-457200">
              <a:spcBef>
                <a:spcPts val="1400"/>
              </a:spcBef>
              <a:buClr>
                <a:srgbClr val="0B4F6C"/>
              </a:buClr>
              <a:buFont typeface="+mj-lt"/>
              <a:buAutoNum type="arabicPeriod"/>
            </a:pPr>
            <a:r>
              <a:rPr sz="1900" b="1"/>
              <a:t>stronglyPermitted carries no entailment. </a:t>
            </a:r>
            <a:r>
              <a:rPr sz="1900"/>
              <a:t>Founding the immunity relator (Ax. 5.2) is a rule OWL cannot derive, so the flag is an annotation.</a:t>
            </a:r>
          </a:p>
          <a:p>
            <a:pPr marL="457200" indent="-457200">
              <a:spcBef>
                <a:spcPts val="1400"/>
              </a:spcBef>
              <a:buClr>
                <a:srgbClr val="0B4F6C"/>
              </a:buClr>
              <a:buFont typeface="+mj-lt"/>
              <a:buAutoNum type="arabicPeriod"/>
            </a:pPr>
            <a:r>
              <a:rPr sz="1900" b="1"/>
              <a:t>Correlativity and incompatibility need full FOL. </a:t>
            </a:r>
            <a:r>
              <a:rPr sz="1900"/>
              <a:t>Ax. 5.9 is a unique-existence biconditional; Ax. 5.10 is a contradiction over rfr-related content.</a:t>
            </a:r>
          </a:p>
          <a:p>
            <a:pPr marL="0" indent="0">
              <a:spcBef>
                <a:spcPts val="2600"/>
              </a:spcBef>
              <a:buNone/>
            </a:pPr>
            <a:r>
              <a:rPr sz="1600">
                <a:solidFill>
                  <a:srgbClr val="5F6B76"/>
                </a:solidFill>
              </a:rPr>
              <a:t>All three follow from OWL's lack of function symbols and its decidable fragment. The FOL encodings (TPTP, SMT-LIB, Isabelle/HOL) carry the full theory.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two positions to eight</a:t>
            </a:r>
          </a:p>
        </p:txBody>
      </p:sp>
      <p:graphicFrame>
        <p:nvGraphicFramePr>
          <p:cNvPr id="3" name="Table 2"/>
          <p:cNvGraphicFramePr>
            <a:graphicFrameLocks noGrp="1"/>
          </p:cNvGraphicFramePr>
          <p:nvPr/>
        </p:nvGraphicFramePr>
        <p:xfrm>
          <a:off x="548640" y="1371600"/>
          <a:ext cx="11094415" cy="3182112"/>
        </p:xfrm>
        <a:graphic>
          <a:graphicData uri="http://schemas.openxmlformats.org/drawingml/2006/table">
            <a:tbl>
              <a:tblPr>
                <a:tableStyleId>{2D5ABB26-0587-4C30-8999-92F81FD0307C}</a:tableStyleId>
              </a:tblPr>
              <a:tblGrid>
                <a:gridCol w="31089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785055">
                  <a:extLst>
                    <a:ext uri="{9D8B030D-6E8A-4147-A177-3AD203B41FA5}">
                      <a16:colId xmlns:a16="http://schemas.microsoft.com/office/drawing/2014/main" val="20002"/>
                    </a:ext>
                  </a:extLst>
                </a:gridCol>
              </a:tblGrid>
              <a:tr h="530352">
                <a:tc>
                  <a:txBody>
                    <a:bodyPr/>
                    <a:lstStyle/>
                    <a:p>
                      <a:r>
                        <a:rPr sz="1700" b="1">
                          <a:solidFill>
                            <a:srgbClr val="000000"/>
                          </a:solidFill>
                        </a:rPr>
                        <a:t>ODRL rule</a:t>
                      </a:r>
                    </a:p>
                  </a:txBody>
                  <a:tcPr marT="27432" marB="27432" anchor="ctr">
                    <a:lnL>
                      <a:noFill/>
                    </a:lnL>
                    <a:lnR>
                      <a:noFill/>
                    </a:lnR>
                    <a:lnT w="19050">
                      <a:solidFill>
                        <a:srgbClr val="000000"/>
                      </a:solidFill>
                    </a:lnT>
                    <a:lnB w="9525">
                      <a:solidFill>
                        <a:srgbClr val="000000"/>
                      </a:solidFill>
                    </a:lnB>
                    <a:noFill/>
                  </a:tcPr>
                </a:tc>
                <a:tc>
                  <a:txBody>
                    <a:bodyPr/>
                    <a:lstStyle/>
                    <a:p>
                      <a:r>
                        <a:rPr sz="1700" b="1">
                          <a:solidFill>
                            <a:srgbClr val="000000"/>
                          </a:solidFill>
                        </a:rPr>
                        <a:t>Evaluator sees</a:t>
                      </a:r>
                    </a:p>
                  </a:txBody>
                  <a:tcPr marT="27432" marB="27432" anchor="ctr">
                    <a:lnL>
                      <a:noFill/>
                    </a:lnL>
                    <a:lnR>
                      <a:noFill/>
                    </a:lnR>
                    <a:lnT w="19050">
                      <a:solidFill>
                        <a:srgbClr val="000000"/>
                      </a:solidFill>
                    </a:lnT>
                    <a:lnB w="9525">
                      <a:solidFill>
                        <a:srgbClr val="000000"/>
                      </a:solidFill>
                    </a:lnB>
                    <a:noFill/>
                  </a:tcPr>
                </a:tc>
                <a:tc>
                  <a:txBody>
                    <a:bodyPr/>
                    <a:lstStyle/>
                    <a:p>
                      <a:r>
                        <a:rPr sz="1700" b="1">
                          <a:solidFill>
                            <a:srgbClr val="000000"/>
                          </a:solidFill>
                        </a:rPr>
                        <a:t>Grounding adds</a:t>
                      </a:r>
                    </a:p>
                  </a:txBody>
                  <a:tcPr marT="27432" marB="27432" anchor="ctr">
                    <a:lnL>
                      <a:noFill/>
                    </a:lnL>
                    <a:lnR>
                      <a:noFill/>
                    </a:lnR>
                    <a:lnT w="19050">
                      <a:solidFill>
                        <a:srgbClr val="000000"/>
                      </a:solidFill>
                    </a:lnT>
                    <a:lnB w="9525">
                      <a:solidFill>
                        <a:srgbClr val="000000"/>
                      </a:solidFill>
                    </a:lnB>
                    <a:noFill/>
                  </a:tcPr>
                </a:tc>
                <a:extLst>
                  <a:ext uri="{0D108BD9-81ED-4DB2-BD59-A6C34878D82A}">
                    <a16:rowId xmlns:a16="http://schemas.microsoft.com/office/drawing/2014/main" val="10000"/>
                  </a:ext>
                </a:extLst>
              </a:tr>
              <a:tr h="530352">
                <a:tc>
                  <a:txBody>
                    <a:bodyPr/>
                    <a:lstStyle/>
                    <a:p>
                      <a:r>
                        <a:rPr sz="1700" b="1">
                          <a:solidFill>
                            <a:srgbClr val="000000"/>
                          </a:solidFill>
                        </a:rPr>
                        <a:t>odrl:Permission</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700">
                          <a:solidFill>
                            <a:srgbClr val="000000"/>
                          </a:solidFill>
                        </a:rPr>
                        <a:t>Permission</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700" b="1">
                          <a:solidFill>
                            <a:srgbClr val="137A62"/>
                          </a:solidFill>
                        </a:rPr>
                        <a:t>No Right</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1"/>
                  </a:ext>
                </a:extLst>
              </a:tr>
              <a:tr h="530352">
                <a:tc>
                  <a:txBody>
                    <a:bodyPr/>
                    <a:lstStyle/>
                    <a:p>
                      <a:r>
                        <a:rPr sz="1700" b="1">
                          <a:solidFill>
                            <a:srgbClr val="000000"/>
                          </a:solidFill>
                        </a:rPr>
                        <a:t>odrl:Prohibition</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a:solidFill>
                            <a:srgbClr val="000000"/>
                          </a:solidFill>
                        </a:rPr>
                        <a:t>Duty to Omit</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1">
                          <a:solidFill>
                            <a:srgbClr val="137A62"/>
                          </a:solidFill>
                        </a:rPr>
                        <a:t>Right to Omission</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2"/>
                  </a:ext>
                </a:extLst>
              </a:tr>
              <a:tr h="530352">
                <a:tc>
                  <a:txBody>
                    <a:bodyPr/>
                    <a:lstStyle/>
                    <a:p>
                      <a:r>
                        <a:rPr sz="1700" b="1">
                          <a:solidFill>
                            <a:srgbClr val="000000"/>
                          </a:solidFill>
                        </a:rPr>
                        <a:t>odrl:Duty</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a:solidFill>
                            <a:srgbClr val="000000"/>
                          </a:solidFill>
                        </a:rPr>
                        <a:t>Duty to Act</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1">
                          <a:solidFill>
                            <a:srgbClr val="137A62"/>
                          </a:solidFill>
                        </a:rPr>
                        <a:t>Right to Action</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3"/>
                  </a:ext>
                </a:extLst>
              </a:tr>
              <a:tr h="530352">
                <a:tc>
                  <a:txBody>
                    <a:bodyPr/>
                    <a:lstStyle/>
                    <a:p>
                      <a:r>
                        <a:rPr sz="1700" b="1">
                          <a:solidFill>
                            <a:srgbClr val="000000"/>
                          </a:solidFill>
                        </a:rPr>
                        <a:t>odrl:Prohibition with remedy</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a:solidFill>
                            <a:srgbClr val="000000"/>
                          </a:solidFill>
                        </a:rPr>
                        <a:t>Duty to Omit, </a:t>
                      </a:r>
                      <a:r>
                        <a:rPr sz="1700" b="1" i="1">
                          <a:solidFill>
                            <a:srgbClr val="B9501A"/>
                          </a:solidFill>
                        </a:rPr>
                        <a:t>violated?</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700" b="1">
                          <a:solidFill>
                            <a:srgbClr val="137A62"/>
                          </a:solidFill>
                        </a:rPr>
                        <a:t>Right to Omission</a:t>
                      </a:r>
                      <a:r>
                        <a:rPr sz="1700">
                          <a:solidFill>
                            <a:srgbClr val="000000"/>
                          </a:solidFill>
                        </a:rPr>
                        <a:t>,  </a:t>
                      </a:r>
                      <a:r>
                        <a:rPr sz="1700" b="1">
                          <a:solidFill>
                            <a:srgbClr val="00549F"/>
                          </a:solidFill>
                        </a:rPr>
                        <a:t>Power</a:t>
                      </a:r>
                      <a:r>
                        <a:rPr sz="1700">
                          <a:solidFill>
                            <a:srgbClr val="000000"/>
                          </a:solidFill>
                        </a:rPr>
                        <a:t>,  </a:t>
                      </a:r>
                      <a:r>
                        <a:rPr sz="1700" b="1">
                          <a:solidFill>
                            <a:srgbClr val="00549F"/>
                          </a:solidFill>
                        </a:rPr>
                        <a:t>Subjection</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4"/>
                  </a:ext>
                </a:extLst>
              </a:tr>
              <a:tr h="530352">
                <a:tc>
                  <a:txBody>
                    <a:bodyPr/>
                    <a:lstStyle/>
                    <a:p>
                      <a:r>
                        <a:rPr sz="1700" b="1">
                          <a:solidFill>
                            <a:srgbClr val="000000"/>
                          </a:solidFill>
                        </a:rPr>
                        <a:t>odrl:Permission (strong)</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sz="1700">
                          <a:solidFill>
                            <a:srgbClr val="000000"/>
                          </a:solidFill>
                        </a:rPr>
                        <a:t>Permission, </a:t>
                      </a:r>
                      <a:r>
                        <a:rPr sz="1700" b="1" i="1">
                          <a:solidFill>
                            <a:srgbClr val="B9501A"/>
                          </a:solidFill>
                        </a:rPr>
                        <a:t>unprotected?</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sz="1700" b="1">
                          <a:solidFill>
                            <a:srgbClr val="137A62"/>
                          </a:solidFill>
                        </a:rPr>
                        <a:t>No Right</a:t>
                      </a:r>
                      <a:r>
                        <a:rPr sz="1700">
                          <a:solidFill>
                            <a:srgbClr val="000000"/>
                          </a:solidFill>
                        </a:rPr>
                        <a:t>,  </a:t>
                      </a:r>
                      <a:r>
                        <a:rPr sz="1700" b="1">
                          <a:solidFill>
                            <a:srgbClr val="00549F"/>
                          </a:solidFill>
                        </a:rPr>
                        <a:t>Immunity</a:t>
                      </a:r>
                      <a:r>
                        <a:rPr sz="1700">
                          <a:solidFill>
                            <a:srgbClr val="000000"/>
                          </a:solidFill>
                        </a:rPr>
                        <a:t>,  </a:t>
                      </a:r>
                      <a:r>
                        <a:rPr sz="1700" b="1">
                          <a:solidFill>
                            <a:srgbClr val="00549F"/>
                          </a:solidFill>
                        </a:rPr>
                        <a:t>Disability</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extLst>
                  <a:ext uri="{0D108BD9-81ED-4DB2-BD59-A6C34878D82A}">
                    <a16:rowId xmlns:a16="http://schemas.microsoft.com/office/drawing/2014/main" val="10005"/>
                  </a:ext>
                </a:extLst>
              </a:tr>
            </a:tbl>
          </a:graphicData>
        </a:graphic>
      </p:graphicFrame>
      <p:sp>
        <p:nvSpPr>
          <p:cNvPr id="4" name="TextBox 3"/>
          <p:cNvSpPr txBox="1"/>
          <p:nvPr/>
        </p:nvSpPr>
        <p:spPr>
          <a:xfrm>
            <a:off x="548640" y="4663440"/>
            <a:ext cx="11091672" cy="320040"/>
          </a:xfrm>
          <a:prstGeom prst="rect">
            <a:avLst/>
          </a:prstGeom>
          <a:noFill/>
        </p:spPr>
        <p:txBody>
          <a:bodyPr wrap="square" lIns="0" tIns="0" rIns="0" bIns="0" anchor="t">
            <a:noAutofit/>
          </a:bodyPr>
          <a:lstStyle/>
          <a:p>
            <a:pPr marL="0" indent="0">
              <a:buNone/>
            </a:pPr>
            <a:r>
              <a:rPr sz="1300">
                <a:solidFill>
                  <a:srgbClr val="137A62"/>
                </a:solidFill>
              </a:rPr>
              <a:t>green</a:t>
            </a:r>
            <a:r>
              <a:rPr sz="1300">
                <a:solidFill>
                  <a:srgbClr val="5F6B76"/>
                </a:solidFill>
              </a:rPr>
              <a:t> conduct level,  </a:t>
            </a:r>
            <a:r>
              <a:rPr sz="1300">
                <a:solidFill>
                  <a:srgbClr val="00549F"/>
                </a:solidFill>
              </a:rPr>
              <a:t>blue</a:t>
            </a:r>
            <a:r>
              <a:rPr sz="1300">
                <a:solidFill>
                  <a:srgbClr val="5F6B76"/>
                </a:solidFill>
              </a:rPr>
              <a:t> competence level,  </a:t>
            </a:r>
            <a:r>
              <a:rPr sz="1300">
                <a:solidFill>
                  <a:srgbClr val="B9501A"/>
                </a:solidFill>
              </a:rPr>
              <a:t>?</a:t>
            </a:r>
            <a:r>
              <a:rPr sz="1300">
                <a:solidFill>
                  <a:srgbClr val="5F6B76"/>
                </a:solidFill>
              </a:rPr>
              <a:t> where the evaluator stops</a:t>
            </a:r>
          </a:p>
        </p:txBody>
      </p:sp>
      <p:sp>
        <p:nvSpPr>
          <p:cNvPr id="5" name="TextBox 4"/>
          <p:cNvSpPr txBox="1"/>
          <p:nvPr/>
        </p:nvSpPr>
        <p:spPr>
          <a:xfrm>
            <a:off x="548640" y="5074920"/>
            <a:ext cx="11091672" cy="1097280"/>
          </a:xfrm>
          <a:prstGeom prst="rect">
            <a:avLst/>
          </a:prstGeom>
          <a:noFill/>
        </p:spPr>
        <p:txBody>
          <a:bodyPr wrap="square" lIns="0" tIns="0" rIns="0" bIns="0" anchor="t">
            <a:noAutofit/>
          </a:bodyPr>
          <a:lstStyle/>
          <a:p>
            <a:pPr marL="0" indent="0">
              <a:buNone/>
            </a:pPr>
            <a:r>
              <a:rPr sz="1600" b="1">
                <a:solidFill>
                  <a:srgbClr val="000000"/>
                </a:solidFill>
              </a:rPr>
              <a:t>Proposition 5.2 (sound, not complete). </a:t>
            </a:r>
            <a:r>
              <a:rPr sz="1600">
                <a:solidFill>
                  <a:srgbClr val="000000"/>
                </a:solidFill>
              </a:rPr>
              <a:t>Under closed, if the evaluator permits </a:t>
            </a:r>
            <a:r>
              <a:rPr sz="1600" b="0" i="1">
                <a:solidFill>
                  <a:srgbClr val="000000"/>
                </a:solidFill>
                <a:latin typeface="Cambria Math"/>
              </a:rPr>
              <a:t>a</a:t>
            </a:r>
            <a:r>
              <a:rPr sz="1600">
                <a:solidFill>
                  <a:srgbClr val="000000"/>
                </a:solidFill>
              </a:rPr>
              <a:t>, then </a:t>
            </a:r>
            <a:r>
              <a:rPr sz="1600" b="0" i="0">
                <a:solidFill>
                  <a:srgbClr val="137A62"/>
                </a:solidFill>
                <a:latin typeface="Cambria Math"/>
              </a:rPr>
              <a:t>Permission</a:t>
            </a:r>
            <a:r>
              <a:rPr sz="1600" b="0" i="0">
                <a:solidFill>
                  <a:srgbClr val="000000"/>
                </a:solidFill>
                <a:latin typeface="Cambria Math"/>
              </a:rPr>
              <a:t>(</a:t>
            </a:r>
            <a:r>
              <a:rPr sz="1600" b="0" i="1">
                <a:solidFill>
                  <a:srgbClr val="000000"/>
                </a:solidFill>
                <a:latin typeface="Cambria Math"/>
              </a:rPr>
              <a:t>x</a:t>
            </a:r>
            <a:r>
              <a:rPr sz="1600" b="0" i="0">
                <a:solidFill>
                  <a:srgbClr val="000000"/>
                </a:solidFill>
                <a:latin typeface="Cambria Math"/>
              </a:rPr>
              <a:t>, </a:t>
            </a:r>
            <a:r>
              <a:rPr sz="1600" b="0" i="1">
                <a:solidFill>
                  <a:srgbClr val="000000"/>
                </a:solidFill>
                <a:latin typeface="Cambria Math"/>
              </a:rPr>
              <a:t>a</a:t>
            </a:r>
            <a:r>
              <a:rPr sz="1600" b="0" i="0">
                <a:solidFill>
                  <a:srgbClr val="000000"/>
                </a:solidFill>
                <a:latin typeface="Cambria Math"/>
              </a:rPr>
              <a:t>, </a:t>
            </a:r>
            <a:r>
              <a:rPr sz="1600" b="0" i="1">
                <a:solidFill>
                  <a:srgbClr val="000000"/>
                </a:solidFill>
                <a:latin typeface="Cambria Math"/>
              </a:rPr>
              <a:t>t</a:t>
            </a:r>
            <a:r>
              <a:rPr sz="1600" b="0" i="0">
                <a:solidFill>
                  <a:srgbClr val="000000"/>
                </a:solidFill>
                <a:latin typeface="Cambria Math"/>
              </a:rPr>
              <a:t>) ∈ Pos(</a:t>
            </a:r>
            <a:r>
              <a:rPr sz="1600" b="0" i="1">
                <a:solidFill>
                  <a:srgbClr val="000000"/>
                </a:solidFill>
                <a:latin typeface="Cambria Math"/>
              </a:rPr>
              <a:t>π</a:t>
            </a:r>
            <a:r>
              <a:rPr sz="1600" b="0" i="0">
                <a:solidFill>
                  <a:srgbClr val="000000"/>
                </a:solidFill>
                <a:latin typeface="Cambria Math"/>
              </a:rPr>
              <a:t>, </a:t>
            </a:r>
            <a:r>
              <a:rPr sz="1600" b="0" i="1">
                <a:solidFill>
                  <a:srgbClr val="000000"/>
                </a:solidFill>
                <a:latin typeface="Cambria Math"/>
              </a:rPr>
              <a:t>e</a:t>
            </a:r>
            <a:r>
              <a:rPr sz="1600" b="0" i="0">
                <a:solidFill>
                  <a:srgbClr val="000000"/>
                </a:solidFill>
                <a:latin typeface="Cambria Math"/>
              </a:rPr>
              <a:t>)</a:t>
            </a:r>
            <a:r>
              <a:rPr sz="1600">
                <a:solidFill>
                  <a:srgbClr val="000000"/>
                </a:solidFill>
              </a:rPr>
              <a:t>; prohibitions yield Duty to Omit, with a remedy also Power. </a:t>
            </a:r>
            <a:r>
              <a:rPr sz="1600" b="1">
                <a:solidFill>
                  <a:srgbClr val="000000"/>
                </a:solidFill>
              </a:rPr>
              <a:t>The converse fails: </a:t>
            </a:r>
            <a:r>
              <a:rPr sz="1600">
                <a:solidFill>
                  <a:srgbClr val="000000"/>
                </a:solidFill>
              </a:rPr>
              <a:t>No Right, Right to Omission, Immunity and Disability are entailed but never reported.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Backup: axiom coverage (Table 2, SZS status)</a:t>
            </a:r>
          </a:p>
        </p:txBody>
      </p:sp>
      <p:graphicFrame>
        <p:nvGraphicFramePr>
          <p:cNvPr id="3" name="Table 2"/>
          <p:cNvGraphicFramePr>
            <a:graphicFrameLocks noGrp="1"/>
          </p:cNvGraphicFramePr>
          <p:nvPr/>
        </p:nvGraphicFramePr>
        <p:xfrm>
          <a:off x="548640" y="1325880"/>
          <a:ext cx="11094413" cy="3364992"/>
        </p:xfrm>
        <a:graphic>
          <a:graphicData uri="http://schemas.openxmlformats.org/drawingml/2006/table">
            <a:tbl>
              <a:tblPr>
                <a:tableStyleId>{2D5ABB26-0587-4C30-8999-92F81FD0307C}</a:tableStyleId>
              </a:tblPr>
              <a:tblGrid>
                <a:gridCol w="3749039">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gridCol w="1858975">
                  <a:extLst>
                    <a:ext uri="{9D8B030D-6E8A-4147-A177-3AD203B41FA5}">
                      <a16:colId xmlns:a16="http://schemas.microsoft.com/office/drawing/2014/main" val="20003"/>
                    </a:ext>
                  </a:extLst>
                </a:gridCol>
              </a:tblGrid>
              <a:tr h="420624">
                <a:tc>
                  <a:txBody>
                    <a:bodyPr/>
                    <a:lstStyle/>
                    <a:p>
                      <a:r>
                        <a:rPr sz="1500" b="1">
                          <a:solidFill>
                            <a:srgbClr val="000000"/>
                          </a:solidFill>
                        </a:rPr>
                        <a:t>Axiom</a:t>
                      </a:r>
                    </a:p>
                  </a:txBody>
                  <a:tcPr marT="27432" marB="27432" anchor="ctr">
                    <a:lnL>
                      <a:noFill/>
                    </a:lnL>
                    <a:lnR>
                      <a:noFill/>
                    </a:lnR>
                    <a:lnT w="19050">
                      <a:solidFill>
                        <a:srgbClr val="000000"/>
                      </a:solidFill>
                    </a:lnT>
                    <a:lnB w="9525">
                      <a:solidFill>
                        <a:srgbClr val="000000"/>
                      </a:solidFill>
                    </a:lnB>
                    <a:noFill/>
                  </a:tcPr>
                </a:tc>
                <a:tc>
                  <a:txBody>
                    <a:bodyPr/>
                    <a:lstStyle/>
                    <a:p>
                      <a:r>
                        <a:rPr sz="1500" b="1">
                          <a:solidFill>
                            <a:srgbClr val="000000"/>
                          </a:solidFill>
                        </a:rPr>
                        <a:t>SZS</a:t>
                      </a:r>
                    </a:p>
                  </a:txBody>
                  <a:tcPr marT="27432" marB="27432" anchor="ctr">
                    <a:lnL>
                      <a:noFill/>
                    </a:lnL>
                    <a:lnR>
                      <a:noFill/>
                    </a:lnR>
                    <a:lnT w="19050">
                      <a:solidFill>
                        <a:srgbClr val="000000"/>
                      </a:solidFill>
                    </a:lnT>
                    <a:lnB w="9525">
                      <a:solidFill>
                        <a:srgbClr val="000000"/>
                      </a:solidFill>
                    </a:lnB>
                    <a:noFill/>
                  </a:tcPr>
                </a:tc>
                <a:tc>
                  <a:txBody>
                    <a:bodyPr/>
                    <a:lstStyle/>
                    <a:p>
                      <a:r>
                        <a:rPr sz="1500" b="1">
                          <a:solidFill>
                            <a:srgbClr val="000000"/>
                          </a:solidFill>
                        </a:rPr>
                        <a:t>Axiom</a:t>
                      </a:r>
                    </a:p>
                  </a:txBody>
                  <a:tcPr marT="27432" marB="27432" anchor="ctr">
                    <a:lnL>
                      <a:noFill/>
                    </a:lnL>
                    <a:lnR>
                      <a:noFill/>
                    </a:lnR>
                    <a:lnT w="19050">
                      <a:solidFill>
                        <a:srgbClr val="000000"/>
                      </a:solidFill>
                    </a:lnT>
                    <a:lnB w="9525">
                      <a:solidFill>
                        <a:srgbClr val="000000"/>
                      </a:solidFill>
                    </a:lnB>
                    <a:noFill/>
                  </a:tcPr>
                </a:tc>
                <a:tc>
                  <a:txBody>
                    <a:bodyPr/>
                    <a:lstStyle/>
                    <a:p>
                      <a:r>
                        <a:rPr sz="1500" b="1">
                          <a:solidFill>
                            <a:srgbClr val="000000"/>
                          </a:solidFill>
                        </a:rPr>
                        <a:t>SZS</a:t>
                      </a:r>
                    </a:p>
                  </a:txBody>
                  <a:tcPr marT="27432" marB="27432" anchor="ctr">
                    <a:lnL>
                      <a:noFill/>
                    </a:lnL>
                    <a:lnR>
                      <a:noFill/>
                    </a:lnR>
                    <a:lnT w="19050">
                      <a:solidFill>
                        <a:srgbClr val="000000"/>
                      </a:solidFill>
                    </a:lnT>
                    <a:lnB w="9525">
                      <a:solidFill>
                        <a:srgbClr val="000000"/>
                      </a:solidFill>
                    </a:lnB>
                    <a:noFill/>
                  </a:tcPr>
                </a:tc>
                <a:extLst>
                  <a:ext uri="{0D108BD9-81ED-4DB2-BD59-A6C34878D82A}">
                    <a16:rowId xmlns:a16="http://schemas.microsoft.com/office/drawing/2014/main" val="10000"/>
                  </a:ext>
                </a:extLst>
              </a:tr>
              <a:tr h="420624">
                <a:tc>
                  <a:txBody>
                    <a:bodyPr/>
                    <a:lstStyle/>
                    <a:p>
                      <a:r>
                        <a:rPr sz="1500">
                          <a:solidFill>
                            <a:srgbClr val="000000"/>
                          </a:solidFill>
                        </a:rPr>
                        <a:t>perm-relator-weak (Ax. 5.1)</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500" b="1">
                          <a:solidFill>
                            <a:srgbClr val="0B4F6C"/>
                          </a:solidFill>
                        </a:rPr>
                        <a:t>Thm</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500">
                          <a:solidFill>
                            <a:srgbClr val="000000"/>
                          </a:solidFill>
                        </a:rPr>
                        <a:t>correlativity ×4 (Ax. 5.9)</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500" b="1">
                          <a:solidFill>
                            <a:srgbClr val="0B4F6C"/>
                          </a:solidFill>
                        </a:rPr>
                        <a:t>Thm, Uns</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1"/>
                  </a:ext>
                </a:extLst>
              </a:tr>
              <a:tr h="420624">
                <a:tc>
                  <a:txBody>
                    <a:bodyPr/>
                    <a:lstStyle/>
                    <a:p>
                      <a:r>
                        <a:rPr sz="1500">
                          <a:solidFill>
                            <a:srgbClr val="000000"/>
                          </a:solidFill>
                        </a:rPr>
                        <a:t>perm-relator-strong (Ax. 5.2)</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b="1">
                          <a:solidFill>
                            <a:srgbClr val="0B4F6C"/>
                          </a:solidFill>
                        </a:rPr>
                        <a:t>Thm, Uns</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a:solidFill>
                            <a:srgbClr val="000000"/>
                          </a:solidFill>
                        </a:rPr>
                        <a:t>cross-relator (Ax. 5.10)</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b="1">
                          <a:solidFill>
                            <a:srgbClr val="0B4F6C"/>
                          </a:solidFill>
                        </a:rPr>
                        <a:t>Uns</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2"/>
                  </a:ext>
                </a:extLst>
              </a:tr>
              <a:tr h="420624">
                <a:tc>
                  <a:txBody>
                    <a:bodyPr/>
                    <a:lstStyle/>
                    <a:p>
                      <a:r>
                        <a:rPr sz="1500">
                          <a:solidFill>
                            <a:srgbClr val="000000"/>
                          </a:solidFill>
                        </a:rPr>
                        <a:t>proh-relator-conduct (Ax. 5.3)</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b="1">
                          <a:solidFill>
                            <a:srgbClr val="0B4F6C"/>
                          </a:solidFill>
                        </a:rPr>
                        <a:t>Thm, Uns</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a:solidFill>
                            <a:srgbClr val="000000"/>
                          </a:solidFill>
                        </a:rPr>
                        <a:t>disability-block (Ax. 5.11)</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b="1">
                          <a:solidFill>
                            <a:srgbClr val="0B4F6C"/>
                          </a:solidFill>
                        </a:rPr>
                        <a:t>Uns</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3"/>
                  </a:ext>
                </a:extLst>
              </a:tr>
              <a:tr h="420624">
                <a:tc>
                  <a:txBody>
                    <a:bodyPr/>
                    <a:lstStyle/>
                    <a:p>
                      <a:r>
                        <a:rPr sz="1500">
                          <a:solidFill>
                            <a:srgbClr val="000000"/>
                          </a:solidFill>
                        </a:rPr>
                        <a:t>proh-relator-remedy (Ax. 5.4)</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b="1">
                          <a:solidFill>
                            <a:srgbClr val="0B4F6C"/>
                          </a:solidFill>
                        </a:rPr>
                        <a:t>Thm</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a:solidFill>
                            <a:srgbClr val="000000"/>
                          </a:solidFill>
                        </a:rPr>
                        <a:t>odrl-rel-is-rel (Ax. 5.8)</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b="1">
                          <a:solidFill>
                            <a:srgbClr val="0B4F6C"/>
                          </a:solidFill>
                        </a:rPr>
                        <a:t>Thm</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4"/>
                  </a:ext>
                </a:extLst>
              </a:tr>
              <a:tr h="420624">
                <a:tc>
                  <a:txBody>
                    <a:bodyPr/>
                    <a:lstStyle/>
                    <a:p>
                      <a:r>
                        <a:rPr sz="1500">
                          <a:solidFill>
                            <a:srgbClr val="000000"/>
                          </a:solidFill>
                        </a:rPr>
                        <a:t>obl-relator (Ax. 5.5)</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b="1">
                          <a:solidFill>
                            <a:srgbClr val="0B4F6C"/>
                          </a:solidFill>
                        </a:rPr>
                        <a:t>Thm, Sat</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a:solidFill>
                            <a:srgbClr val="000000"/>
                          </a:solidFill>
                        </a:rPr>
                        <a:t>A1 to A3</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b="1">
                          <a:solidFill>
                            <a:srgbClr val="0B4F6C"/>
                          </a:solidFill>
                        </a:rPr>
                        <a:t>Thm</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5"/>
                  </a:ext>
                </a:extLst>
              </a:tr>
              <a:tr h="420624">
                <a:tc>
                  <a:txBody>
                    <a:bodyPr/>
                    <a:lstStyle/>
                    <a:p>
                      <a:r>
                        <a:rPr sz="1500">
                          <a:solidFill>
                            <a:srgbClr val="000000"/>
                          </a:solidFill>
                        </a:rPr>
                        <a:t>unique-founding ×6 (Ax. 5.6)</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b="1">
                          <a:solidFill>
                            <a:srgbClr val="0B4F6C"/>
                          </a:solidFill>
                        </a:rPr>
                        <a:t>Thm</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a:solidFill>
                            <a:srgbClr val="000000"/>
                          </a:solidFill>
                        </a:rPr>
                        <a:t>consistency</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00" b="1">
                          <a:solidFill>
                            <a:srgbClr val="0B4F6C"/>
                          </a:solidFill>
                        </a:rPr>
                        <a:t>Sat</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6"/>
                  </a:ext>
                </a:extLst>
              </a:tr>
              <a:tr h="420624">
                <a:tc>
                  <a:txBody>
                    <a:bodyPr/>
                    <a:lstStyle/>
                    <a:p>
                      <a:r>
                        <a:rPr sz="1500">
                          <a:solidFill>
                            <a:srgbClr val="000000"/>
                          </a:solidFill>
                        </a:rPr>
                        <a:t>odrl-rel-typing ×3 (Ax. 5.7)</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sz="1500" b="1">
                          <a:solidFill>
                            <a:srgbClr val="0B4F6C"/>
                          </a:solidFill>
                        </a:rPr>
                        <a:t>Thm</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endParaRP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endParaRP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extLst>
                  <a:ext uri="{0D108BD9-81ED-4DB2-BD59-A6C34878D82A}">
                    <a16:rowId xmlns:a16="http://schemas.microsoft.com/office/drawing/2014/main" val="10007"/>
                  </a:ext>
                </a:extLst>
              </a:tr>
            </a:tbl>
          </a:graphicData>
        </a:graphic>
      </p:graphicFrame>
      <p:sp>
        <p:nvSpPr>
          <p:cNvPr id="4" name="TextBox 3"/>
          <p:cNvSpPr txBox="1"/>
          <p:nvPr/>
        </p:nvSpPr>
        <p:spPr>
          <a:xfrm>
            <a:off x="548640" y="4892040"/>
            <a:ext cx="11091672" cy="1280160"/>
          </a:xfrm>
          <a:prstGeom prst="rect">
            <a:avLst/>
          </a:prstGeom>
          <a:noFill/>
        </p:spPr>
        <p:txBody>
          <a:bodyPr wrap="square" lIns="0" tIns="0" rIns="0" bIns="0" anchor="t">
            <a:noAutofit/>
          </a:bodyPr>
          <a:lstStyle/>
          <a:p>
            <a:pPr marL="0" indent="0">
              <a:buNone/>
            </a:pPr>
            <a:r>
              <a:rPr sz="1400">
                <a:solidFill>
                  <a:srgbClr val="5F6B76"/>
                </a:solidFill>
              </a:rPr>
              <a:t>×n: a schema with n FOL instances, each tested by its own problem. Thm = theorem, Uns = unsatisfiable, Sat = satisfiable.</a:t>
            </a:r>
          </a:p>
          <a:p>
            <a:pPr marL="0" indent="0">
              <a:spcBef>
                <a:spcPts val="600"/>
              </a:spcBef>
              <a:buNone/>
            </a:pPr>
            <a:r>
              <a:rPr sz="1400">
                <a:solidFill>
                  <a:srgbClr val="5F6B76"/>
                </a:solidFill>
              </a:rPr>
              <a:t>E has no finite-model finder and omits the 3 satisfiable problems; Z3 times out on them in UF; Vampire's portfolio discharges them.</a:t>
            </a:r>
          </a:p>
          <a:p>
            <a:pPr marL="0" indent="0">
              <a:spcBef>
                <a:spcPts val="600"/>
              </a:spcBef>
              <a:buNone/>
            </a:pPr>
            <a:r>
              <a:rPr sz="1400">
                <a:solidFill>
                  <a:srgbClr val="5F6B76"/>
                </a:solidFill>
              </a:rPr>
              <a:t>Vampire 5.0.0, E 3.2.5, Z3 4.15.4.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Backup: related work and why UFO-L</a:t>
            </a:r>
          </a:p>
        </p:txBody>
      </p:sp>
      <p:graphicFrame>
        <p:nvGraphicFramePr>
          <p:cNvPr id="3" name="Table 2"/>
          <p:cNvGraphicFramePr>
            <a:graphicFrameLocks noGrp="1"/>
          </p:cNvGraphicFramePr>
          <p:nvPr/>
        </p:nvGraphicFramePr>
        <p:xfrm>
          <a:off x="548640" y="1325880"/>
          <a:ext cx="11094415" cy="3334512"/>
        </p:xfrm>
        <a:graphic>
          <a:graphicData uri="http://schemas.openxmlformats.org/drawingml/2006/table">
            <a:tbl>
              <a:tblPr>
                <a:tableStyleId>{2D5ABB26-0587-4C30-8999-92F81FD0307C}</a:tableStyleId>
              </a:tblPr>
              <a:tblGrid>
                <a:gridCol w="38404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230575">
                  <a:extLst>
                    <a:ext uri="{9D8B030D-6E8A-4147-A177-3AD203B41FA5}">
                      <a16:colId xmlns:a16="http://schemas.microsoft.com/office/drawing/2014/main" val="20002"/>
                    </a:ext>
                  </a:extLst>
                </a:gridCol>
              </a:tblGrid>
              <a:tr h="475488">
                <a:tc>
                  <a:txBody>
                    <a:bodyPr/>
                    <a:lstStyle/>
                    <a:p>
                      <a:r>
                        <a:rPr sz="1400" b="1">
                          <a:solidFill>
                            <a:srgbClr val="000000"/>
                          </a:solidFill>
                        </a:rPr>
                        <a:t>Work</a:t>
                      </a:r>
                    </a:p>
                  </a:txBody>
                  <a:tcPr marT="27432" marB="27432" anchor="ctr">
                    <a:lnL>
                      <a:noFill/>
                    </a:lnL>
                    <a:lnR>
                      <a:noFill/>
                    </a:lnR>
                    <a:lnT w="19050">
                      <a:solidFill>
                        <a:srgbClr val="000000"/>
                      </a:solidFill>
                    </a:lnT>
                    <a:lnB w="9525">
                      <a:solidFill>
                        <a:srgbClr val="000000"/>
                      </a:solidFill>
                    </a:lnB>
                    <a:noFill/>
                  </a:tcPr>
                </a:tc>
                <a:tc>
                  <a:txBody>
                    <a:bodyPr/>
                    <a:lstStyle/>
                    <a:p>
                      <a:r>
                        <a:rPr sz="1400" b="1">
                          <a:solidFill>
                            <a:srgbClr val="000000"/>
                          </a:solidFill>
                        </a:rPr>
                        <a:t>Provides</a:t>
                      </a:r>
                    </a:p>
                  </a:txBody>
                  <a:tcPr marT="27432" marB="27432" anchor="ctr">
                    <a:lnL>
                      <a:noFill/>
                    </a:lnL>
                    <a:lnR>
                      <a:noFill/>
                    </a:lnR>
                    <a:lnT w="19050">
                      <a:solidFill>
                        <a:srgbClr val="000000"/>
                      </a:solidFill>
                    </a:lnT>
                    <a:lnB w="9525">
                      <a:solidFill>
                        <a:srgbClr val="000000"/>
                      </a:solidFill>
                    </a:lnB>
                    <a:noFill/>
                  </a:tcPr>
                </a:tc>
                <a:tc>
                  <a:txBody>
                    <a:bodyPr/>
                    <a:lstStyle/>
                    <a:p>
                      <a:r>
                        <a:rPr sz="1400" b="1">
                          <a:solidFill>
                            <a:srgbClr val="000000"/>
                          </a:solidFill>
                        </a:rPr>
                        <a:t>Leaves open</a:t>
                      </a:r>
                    </a:p>
                  </a:txBody>
                  <a:tcPr marT="27432" marB="27432" anchor="ctr">
                    <a:lnL>
                      <a:noFill/>
                    </a:lnL>
                    <a:lnR>
                      <a:noFill/>
                    </a:lnR>
                    <a:lnT w="19050">
                      <a:solidFill>
                        <a:srgbClr val="000000"/>
                      </a:solidFill>
                    </a:lnT>
                    <a:lnB w="9525">
                      <a:solidFill>
                        <a:srgbClr val="000000"/>
                      </a:solidFill>
                    </a:lnB>
                    <a:noFill/>
                  </a:tcPr>
                </a:tc>
                <a:extLst>
                  <a:ext uri="{0D108BD9-81ED-4DB2-BD59-A6C34878D82A}">
                    <a16:rowId xmlns:a16="http://schemas.microsoft.com/office/drawing/2014/main" val="10000"/>
                  </a:ext>
                </a:extLst>
              </a:tr>
              <a:tr h="475488">
                <a:tc>
                  <a:txBody>
                    <a:bodyPr/>
                    <a:lstStyle/>
                    <a:p>
                      <a:r>
                        <a:rPr sz="1400" b="1">
                          <a:solidFill>
                            <a:srgbClr val="000000"/>
                          </a:solidFill>
                        </a:rPr>
                        <a:t>ODRL Formal Semantics (W3C CG draft)</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400">
                          <a:solidFill>
                            <a:srgbClr val="000000"/>
                          </a:solidFill>
                        </a:rPr>
                        <a:t>evaluator behaviour, verdicts</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400">
                          <a:solidFill>
                            <a:srgbClr val="B9501A"/>
                          </a:solidFill>
                        </a:rPr>
                        <a:t>remedy evaluation, authority</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1"/>
                  </a:ext>
                </a:extLst>
              </a:tr>
              <a:tr h="475488">
                <a:tc>
                  <a:txBody>
                    <a:bodyPr/>
                    <a:lstStyle/>
                    <a:p>
                      <a:r>
                        <a:rPr sz="1400" b="1">
                          <a:solidFill>
                            <a:srgbClr val="000000"/>
                          </a:solidFill>
                        </a:rPr>
                        <a:t>Steyskal &amp; Polleres 2015; Bonatti et al. 2025</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400">
                          <a:solidFill>
                            <a:srgbClr val="000000"/>
                          </a:solidFill>
                        </a:rPr>
                        <a:t>formal and trace-based semantics, open/closed world</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400">
                          <a:solidFill>
                            <a:srgbClr val="B9501A"/>
                          </a:solidFill>
                        </a:rPr>
                        <a:t>normative positions, competence level</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2"/>
                  </a:ext>
                </a:extLst>
              </a:tr>
              <a:tr h="475488">
                <a:tc>
                  <a:txBody>
                    <a:bodyPr/>
                    <a:lstStyle/>
                    <a:p>
                      <a:r>
                        <a:rPr sz="1400" b="1">
                          <a:solidFill>
                            <a:srgbClr val="000000"/>
                          </a:solidFill>
                        </a:rPr>
                        <a:t>Salas et al. 2025, 2026</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400">
                          <a:solidFill>
                            <a:srgbClr val="000000"/>
                          </a:solidFill>
                        </a:rPr>
                        <a:t>comparison, query answering, normalisation</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400">
                          <a:solidFill>
                            <a:srgbClr val="B9501A"/>
                          </a:solidFill>
                        </a:rPr>
                        <a:t>normative positions, competence level</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3"/>
                  </a:ext>
                </a:extLst>
              </a:tr>
              <a:tr h="475488">
                <a:tc>
                  <a:txBody>
                    <a:bodyPr/>
                    <a:lstStyle/>
                    <a:p>
                      <a:r>
                        <a:rPr sz="1400" b="1">
                          <a:solidFill>
                            <a:srgbClr val="000000"/>
                          </a:solidFill>
                        </a:rPr>
                        <a:t>De Vos et al. 2019</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400">
                          <a:solidFill>
                            <a:srgbClr val="000000"/>
                          </a:solidFill>
                        </a:rPr>
                        <a:t>ASP with deontic fluents, institutional power</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400">
                          <a:solidFill>
                            <a:srgbClr val="B9501A"/>
                          </a:solidFill>
                        </a:rPr>
                        <a:t>positions between the parties</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4"/>
                  </a:ext>
                </a:extLst>
              </a:tr>
              <a:tr h="475488">
                <a:tc>
                  <a:txBody>
                    <a:bodyPr/>
                    <a:lstStyle/>
                    <a:p>
                      <a:r>
                        <a:rPr sz="1400" b="1">
                          <a:solidFill>
                            <a:srgbClr val="000000"/>
                          </a:solidFill>
                        </a:rPr>
                        <a:t>Oliveira et al. 2024 (LegIOn-IDS)</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400">
                          <a:solidFill>
                            <a:srgbClr val="000000"/>
                          </a:solidFill>
                        </a:rPr>
                        <a:t>ODRL and UFO-L legal moments via OWL equivalences</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400">
                          <a:solidFill>
                            <a:srgbClr val="B9501A"/>
                          </a:solidFill>
                        </a:rPr>
                        <a:t>axioms for correlatives, competence level</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5"/>
                  </a:ext>
                </a:extLst>
              </a:tr>
              <a:tr h="475488">
                <a:tc>
                  <a:txBody>
                    <a:bodyPr/>
                    <a:lstStyle/>
                    <a:p>
                      <a:r>
                        <a:rPr sz="1400" b="1">
                          <a:solidFill>
                            <a:srgbClr val="000000"/>
                          </a:solidFill>
                        </a:rPr>
                        <a:t>Soberana (Cunha et al. 2025)</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sz="1400">
                          <a:solidFill>
                            <a:srgbClr val="000000"/>
                          </a:solidFill>
                        </a:rPr>
                        <a:t>UFO for business ecosystems in data spaces</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sz="1400">
                          <a:solidFill>
                            <a:srgbClr val="B9501A"/>
                          </a:solidFill>
                        </a:rPr>
                        <a:t>the deontic layer of policies</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extLst>
                  <a:ext uri="{0D108BD9-81ED-4DB2-BD59-A6C34878D82A}">
                    <a16:rowId xmlns:a16="http://schemas.microsoft.com/office/drawing/2014/main" val="10006"/>
                  </a:ext>
                </a:extLst>
              </a:tr>
            </a:tbl>
          </a:graphicData>
        </a:graphic>
      </p:graphicFrame>
      <p:sp>
        <p:nvSpPr>
          <p:cNvPr id="4" name="TextBox 3"/>
          <p:cNvSpPr txBox="1"/>
          <p:nvPr/>
        </p:nvSpPr>
        <p:spPr>
          <a:xfrm>
            <a:off x="548640" y="4892040"/>
            <a:ext cx="11091672" cy="1188720"/>
          </a:xfrm>
          <a:prstGeom prst="rect">
            <a:avLst/>
          </a:prstGeom>
          <a:noFill/>
        </p:spPr>
        <p:txBody>
          <a:bodyPr wrap="square" lIns="0" tIns="0" rIns="0" bIns="0" anchor="t">
            <a:noAutofit/>
          </a:bodyPr>
          <a:lstStyle/>
          <a:p>
            <a:pPr marL="0" indent="0">
              <a:buNone/>
            </a:pPr>
            <a:r>
              <a:rPr sz="1600" b="1">
                <a:solidFill>
                  <a:srgbClr val="000000"/>
                </a:solidFill>
              </a:rPr>
              <a:t>Why UFO-L, not BFO or DOLCE? </a:t>
            </a:r>
            <a:r>
              <a:rPr sz="1600">
                <a:solidFill>
                  <a:srgbClr val="000000"/>
                </a:solidFill>
              </a:rPr>
              <a:t>BFO and DOLCE give general ontological structure but do not model legal positions themselves. Legal ontologies built on them exist (e.g., the DOLCE-based Core Legal Ontology); we chose UFO-L because it already has the Hohfeld and Alexy pairs at both levels, as relators founded by events. A systematic comparison is not in this paper.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Backup: isn't this just Hohfeld?</a:t>
            </a:r>
          </a:p>
        </p:txBody>
      </p:sp>
      <p:sp>
        <p:nvSpPr>
          <p:cNvPr id="3" name="Content Placeholder 2"/>
          <p:cNvSpPr>
            <a:spLocks noGrp="1"/>
          </p:cNvSpPr>
          <p:nvPr>
            <p:ph sz="half" idx="1"/>
          </p:nvPr>
        </p:nvSpPr>
        <p:spPr>
          <a:xfrm>
            <a:off x="548640" y="1325880"/>
            <a:ext cx="5362956" cy="3566160"/>
          </a:xfrm>
        </p:spPr>
        <p:txBody>
          <a:bodyPr>
            <a:noAutofit/>
          </a:bodyPr>
          <a:lstStyle/>
          <a:p>
            <a:pPr marL="0" indent="0">
              <a:buNone/>
            </a:pPr>
            <a:r>
              <a:rPr sz="1900" b="1">
                <a:solidFill>
                  <a:srgbClr val="000000"/>
                </a:solidFill>
              </a:rPr>
              <a:t>What Hohfeld gives</a:t>
            </a:r>
          </a:p>
          <a:p>
            <a:pPr>
              <a:spcBef>
                <a:spcPts val="1200"/>
              </a:spcBef>
            </a:pPr>
            <a:r>
              <a:rPr sz="1700"/>
              <a:t>The correlative pairs: right/duty, privilege/no-right, power/liability, immunity/disability (1913, 1917)</a:t>
            </a:r>
          </a:p>
          <a:p>
            <a:r>
              <a:rPr sz="1700"/>
              <a:t>UFO-L's Permission corresponds to privilege, Subjection to liability</a:t>
            </a:r>
          </a:p>
          <a:p>
            <a:r>
              <a:rPr sz="1700"/>
              <a:t>A scheme of legal relations, not an ontology of what bears them or when they begin</a:t>
            </a:r>
          </a:p>
        </p:txBody>
      </p:sp>
      <p:sp>
        <p:nvSpPr>
          <p:cNvPr id="4" name="Content Placeholder 3"/>
          <p:cNvSpPr>
            <a:spLocks noGrp="1"/>
          </p:cNvSpPr>
          <p:nvPr>
            <p:ph sz="half" idx="2"/>
          </p:nvPr>
        </p:nvSpPr>
        <p:spPr>
          <a:xfrm>
            <a:off x="6277356" y="1325880"/>
            <a:ext cx="5362956" cy="3566160"/>
          </a:xfrm>
        </p:spPr>
        <p:txBody>
          <a:bodyPr>
            <a:noAutofit/>
          </a:bodyPr>
          <a:lstStyle/>
          <a:p>
            <a:pPr marL="0" indent="0">
              <a:buNone/>
            </a:pPr>
            <a:r>
              <a:rPr sz="1900" b="1">
                <a:solidFill>
                  <a:srgbClr val="000000"/>
                </a:solidFill>
              </a:rPr>
              <a:t>What the grounding needs from UFO-L</a:t>
            </a:r>
          </a:p>
          <a:p>
            <a:pPr>
              <a:spcBef>
                <a:spcPts val="1200"/>
              </a:spcBef>
            </a:pPr>
            <a:r>
              <a:rPr sz="1700"/>
              <a:t>Positions as moments with exactly one bearer (non-migration)</a:t>
            </a:r>
          </a:p>
          <a:p>
            <a:r>
              <a:rPr sz="1700"/>
              <a:t>Relators as the sum of those moments, mediating both parties</a:t>
            </a:r>
          </a:p>
          <a:p>
            <a:r>
              <a:rPr sz="1700"/>
              <a:t>A unique founding event, so activation can create them</a:t>
            </a:r>
          </a:p>
          <a:p>
            <a:r>
              <a:rPr sz="1700"/>
              <a:t>Via Alexy, a worked-out competence level</a:t>
            </a:r>
          </a:p>
        </p:txBody>
      </p:sp>
      <p:sp>
        <p:nvSpPr>
          <p:cNvPr id="5" name="TextBox 4"/>
          <p:cNvSpPr txBox="1"/>
          <p:nvPr/>
        </p:nvSpPr>
        <p:spPr>
          <a:xfrm>
            <a:off x="548640" y="5120640"/>
            <a:ext cx="11091672" cy="1005840"/>
          </a:xfrm>
          <a:prstGeom prst="rect">
            <a:avLst/>
          </a:prstGeom>
          <a:noFill/>
        </p:spPr>
        <p:txBody>
          <a:bodyPr wrap="square" lIns="0" tIns="0" rIns="0" bIns="0" anchor="t">
            <a:noAutofit/>
          </a:bodyPr>
          <a:lstStyle/>
          <a:p>
            <a:pPr marL="0" indent="0">
              <a:buNone/>
            </a:pPr>
            <a:r>
              <a:rPr sz="1700" b="1">
                <a:solidFill>
                  <a:srgbClr val="000000"/>
                </a:solidFill>
              </a:rPr>
              <a:t>Short answer. </a:t>
            </a:r>
            <a:r>
              <a:rPr sz="1700">
                <a:solidFill>
                  <a:srgbClr val="000000"/>
                </a:solidFill>
              </a:rPr>
              <a:t>The pairs descend from Hohfeld. What we use is the ontology around them: bearers, founding events and unique founding are what Axioms 5.1 to 5.6 and 5.9 talk about.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Backup: what the Formal Semantics defines and leaves open</a:t>
            </a:r>
          </a:p>
        </p:txBody>
      </p:sp>
      <p:graphicFrame>
        <p:nvGraphicFramePr>
          <p:cNvPr id="3" name="Table 2"/>
          <p:cNvGraphicFramePr>
            <a:graphicFrameLocks noGrp="1"/>
          </p:cNvGraphicFramePr>
          <p:nvPr/>
        </p:nvGraphicFramePr>
        <p:xfrm>
          <a:off x="548640" y="1325880"/>
          <a:ext cx="11094415" cy="4023360"/>
        </p:xfrm>
        <a:graphic>
          <a:graphicData uri="http://schemas.openxmlformats.org/drawingml/2006/table">
            <a:tbl>
              <a:tblPr>
                <a:tableStyleId>{2D5ABB26-0587-4C30-8999-92F81FD0307C}</a:tableStyleId>
              </a:tblPr>
              <a:tblGrid>
                <a:gridCol w="23774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236415">
                  <a:extLst>
                    <a:ext uri="{9D8B030D-6E8A-4147-A177-3AD203B41FA5}">
                      <a16:colId xmlns:a16="http://schemas.microsoft.com/office/drawing/2014/main" val="20002"/>
                    </a:ext>
                  </a:extLst>
                </a:gridCol>
              </a:tblGrid>
              <a:tr h="457200">
                <a:tc>
                  <a:txBody>
                    <a:bodyPr/>
                    <a:lstStyle/>
                    <a:p>
                      <a:endParaRPr/>
                    </a:p>
                  </a:txBody>
                  <a:tcPr marT="27432" marB="27432" anchor="ctr">
                    <a:lnL>
                      <a:noFill/>
                    </a:lnL>
                    <a:lnR>
                      <a:noFill/>
                    </a:lnR>
                    <a:lnT w="19050">
                      <a:solidFill>
                        <a:srgbClr val="000000"/>
                      </a:solidFill>
                    </a:lnT>
                    <a:lnB w="9525">
                      <a:solidFill>
                        <a:srgbClr val="000000"/>
                      </a:solidFill>
                    </a:lnB>
                    <a:noFill/>
                  </a:tcPr>
                </a:tc>
                <a:tc>
                  <a:txBody>
                    <a:bodyPr/>
                    <a:lstStyle/>
                    <a:p>
                      <a:r>
                        <a:rPr sz="1550" b="1">
                          <a:solidFill>
                            <a:srgbClr val="000000"/>
                          </a:solidFill>
                        </a:rPr>
                        <a:t>Formal Semantics defines</a:t>
                      </a:r>
                    </a:p>
                  </a:txBody>
                  <a:tcPr marT="27432" marB="27432" anchor="ctr">
                    <a:lnL>
                      <a:noFill/>
                    </a:lnL>
                    <a:lnR>
                      <a:noFill/>
                    </a:lnR>
                    <a:lnT w="19050">
                      <a:solidFill>
                        <a:srgbClr val="000000"/>
                      </a:solidFill>
                    </a:lnT>
                    <a:lnB w="9525">
                      <a:solidFill>
                        <a:srgbClr val="000000"/>
                      </a:solidFill>
                    </a:lnB>
                    <a:noFill/>
                  </a:tcPr>
                </a:tc>
                <a:tc>
                  <a:txBody>
                    <a:bodyPr/>
                    <a:lstStyle/>
                    <a:p>
                      <a:r>
                        <a:rPr sz="1550" b="1">
                          <a:solidFill>
                            <a:srgbClr val="000000"/>
                          </a:solidFill>
                        </a:rPr>
                        <a:t>Formal Semantics leaves open</a:t>
                      </a:r>
                    </a:p>
                  </a:txBody>
                  <a:tcPr marT="27432" marB="27432" anchor="ctr">
                    <a:lnL>
                      <a:noFill/>
                    </a:lnL>
                    <a:lnR>
                      <a:noFill/>
                    </a:lnR>
                    <a:lnT w="19050">
                      <a:solidFill>
                        <a:srgbClr val="000000"/>
                      </a:solidFill>
                    </a:lnT>
                    <a:lnB w="9525">
                      <a:solidFill>
                        <a:srgbClr val="000000"/>
                      </a:solidFill>
                    </a:lnB>
                    <a:noFill/>
                  </a:tcPr>
                </a:tc>
                <a:extLst>
                  <a:ext uri="{0D108BD9-81ED-4DB2-BD59-A6C34878D82A}">
                    <a16:rowId xmlns:a16="http://schemas.microsoft.com/office/drawing/2014/main" val="10000"/>
                  </a:ext>
                </a:extLst>
              </a:tr>
              <a:tr h="685800">
                <a:tc>
                  <a:txBody>
                    <a:bodyPr/>
                    <a:lstStyle/>
                    <a:p>
                      <a:r>
                        <a:rPr sz="1550" b="1">
                          <a:solidFill>
                            <a:srgbClr val="000000"/>
                          </a:solidFill>
                        </a:rPr>
                        <a:t>Rules</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550">
                          <a:solidFill>
                            <a:srgbClr val="000000"/>
                          </a:solidFill>
                        </a:rPr>
                        <a:t>a verdict per rule: active, violated, fulfilled, not-set</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tc>
                  <a:txBody>
                    <a:bodyPr/>
                    <a:lstStyle/>
                    <a:p>
                      <a:r>
                        <a:rPr sz="1550">
                          <a:solidFill>
                            <a:srgbClr val="000000"/>
                          </a:solidFill>
                        </a:rPr>
                        <a:t>which normative positions stand behind a verdict</a:t>
                      </a:r>
                    </a:p>
                  </a:txBody>
                  <a:tcPr marT="27432" marB="27432" anchor="ctr">
                    <a:lnL>
                      <a:noFill/>
                    </a:lnL>
                    <a:lnR>
                      <a:noFill/>
                    </a:lnR>
                    <a:lnT w="9525" cap="flat" cmpd="sng" algn="ctr">
                      <a:solidFill>
                        <a:srgbClr val="000000"/>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1"/>
                  </a:ext>
                </a:extLst>
              </a:tr>
              <a:tr h="685800">
                <a:tc>
                  <a:txBody>
                    <a:bodyPr/>
                    <a:lstStyle/>
                    <a:p>
                      <a:r>
                        <a:rPr sz="1550" b="1">
                          <a:solidFill>
                            <a:srgbClr val="000000"/>
                          </a:solidFill>
                        </a:rPr>
                        <a:t>Prohibition</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50">
                          <a:solidFill>
                            <a:srgbClr val="000000"/>
                          </a:solidFill>
                        </a:rPr>
                        <a:t>violated once the prohibited action is performed</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50">
                          <a:solidFill>
                            <a:srgbClr val="000000"/>
                          </a:solidFill>
                        </a:rPr>
                        <a:t>who may declare the violation (left to implementors)</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2"/>
                  </a:ext>
                </a:extLst>
              </a:tr>
              <a:tr h="685800">
                <a:tc>
                  <a:txBody>
                    <a:bodyPr/>
                    <a:lstStyle/>
                    <a:p>
                      <a:r>
                        <a:rPr sz="1550" b="1">
                          <a:solidFill>
                            <a:srgbClr val="000000"/>
                          </a:solidFill>
                        </a:rPr>
                        <a:t>Remedy, consequence</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50">
                          <a:solidFill>
                            <a:srgbClr val="000000"/>
                          </a:solidFill>
                        </a:rPr>
                        <a:t>nothing; the cascade exists only in the Information Model</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50">
                          <a:solidFill>
                            <a:srgbClr val="000000"/>
                          </a:solidFill>
                        </a:rPr>
                        <a:t>no procedure to activate or evaluate them</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3"/>
                  </a:ext>
                </a:extLst>
              </a:tr>
              <a:tr h="822960">
                <a:tc>
                  <a:txBody>
                    <a:bodyPr/>
                    <a:lstStyle/>
                    <a:p>
                      <a:r>
                        <a:rPr sz="1550" b="1">
                          <a:solidFill>
                            <a:srgbClr val="000000"/>
                          </a:solidFill>
                        </a:rPr>
                        <a:t>behaviour</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50">
                          <a:solidFill>
                            <a:srgbClr val="000000"/>
                          </a:solidFill>
                        </a:rPr>
                        <a:t>open: silence means permitted; closed (default): silence means prohibited</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tc>
                  <a:txBody>
                    <a:bodyPr/>
                    <a:lstStyle/>
                    <a:p>
                      <a:r>
                        <a:rPr sz="1550">
                          <a:solidFill>
                            <a:srgbClr val="000000"/>
                          </a:solidFill>
                        </a:rPr>
                        <a:t>which positions each setting creates</a:t>
                      </a:r>
                    </a:p>
                  </a:txBody>
                  <a:tcPr marT="27432" marB="27432" anchor="ctr">
                    <a:lnL>
                      <a:noFill/>
                    </a:lnL>
                    <a:lnR>
                      <a:noFill/>
                    </a:lnR>
                    <a:lnT w="6350" cap="flat" cmpd="sng" algn="ctr">
                      <a:solidFill>
                        <a:srgbClr val="B7BEC5"/>
                      </a:solidFill>
                      <a:prstDash val="solid"/>
                      <a:round/>
                      <a:headEnd type="none" w="med" len="med"/>
                      <a:tailEnd type="none" w="med" len="med"/>
                    </a:lnT>
                    <a:lnB w="6350">
                      <a:solidFill>
                        <a:srgbClr val="B7BEC5"/>
                      </a:solidFill>
                    </a:lnB>
                    <a:noFill/>
                  </a:tcPr>
                </a:tc>
                <a:extLst>
                  <a:ext uri="{0D108BD9-81ED-4DB2-BD59-A6C34878D82A}">
                    <a16:rowId xmlns:a16="http://schemas.microsoft.com/office/drawing/2014/main" val="10004"/>
                  </a:ext>
                </a:extLst>
              </a:tr>
              <a:tr h="685800">
                <a:tc>
                  <a:txBody>
                    <a:bodyPr/>
                    <a:lstStyle/>
                    <a:p>
                      <a:r>
                        <a:rPr sz="1550" b="1">
                          <a:solidFill>
                            <a:srgbClr val="000000"/>
                          </a:solidFill>
                        </a:rPr>
                        <a:t>Duty</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sz="1550">
                          <a:solidFill>
                            <a:srgbClr val="000000"/>
                          </a:solidFill>
                        </a:rPr>
                        <a:t>fulfilled by one performance event; violated when no longer possible</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tc>
                  <a:txBody>
                    <a:bodyPr/>
                    <a:lstStyle/>
                    <a:p>
                      <a:r>
                        <a:rPr sz="1550">
                          <a:solidFill>
                            <a:srgbClr val="000000"/>
                          </a:solidFill>
                        </a:rPr>
                        <a:t>maintenance and process obligations (Prop. 3.2)</a:t>
                      </a:r>
                    </a:p>
                  </a:txBody>
                  <a:tcPr marT="27432" marB="27432" anchor="ctr">
                    <a:lnL>
                      <a:noFill/>
                    </a:lnL>
                    <a:lnR>
                      <a:noFill/>
                    </a:lnR>
                    <a:lnT w="6350" cap="flat" cmpd="sng" algn="ctr">
                      <a:solidFill>
                        <a:srgbClr val="B7BEC5"/>
                      </a:solidFill>
                      <a:prstDash val="solid"/>
                      <a:round/>
                      <a:headEnd type="none" w="med" len="med"/>
                      <a:tailEnd type="none" w="med" len="med"/>
                    </a:lnT>
                    <a:lnB w="19050">
                      <a:solidFill>
                        <a:srgbClr val="000000"/>
                      </a:solidFill>
                    </a:lnB>
                    <a:noFill/>
                  </a:tcPr>
                </a:tc>
                <a:extLst>
                  <a:ext uri="{0D108BD9-81ED-4DB2-BD59-A6C34878D82A}">
                    <a16:rowId xmlns:a16="http://schemas.microsoft.com/office/drawing/2014/main" val="10005"/>
                  </a:ext>
                </a:extLst>
              </a:tr>
            </a:tbl>
          </a:graphicData>
        </a:graphic>
      </p:graphicFrame>
      <p:sp>
        <p:nvSpPr>
          <p:cNvPr id="4" name="TextBox 3"/>
          <p:cNvSpPr txBox="1"/>
          <p:nvPr/>
        </p:nvSpPr>
        <p:spPr>
          <a:xfrm>
            <a:off x="548640" y="5532120"/>
            <a:ext cx="11091672" cy="457200"/>
          </a:xfrm>
          <a:prstGeom prst="rect">
            <a:avLst/>
          </a:prstGeom>
          <a:noFill/>
        </p:spPr>
        <p:txBody>
          <a:bodyPr wrap="square" lIns="0" tIns="0" rIns="0" bIns="0" anchor="t">
            <a:noAutofit/>
          </a:bodyPr>
          <a:lstStyle/>
          <a:p>
            <a:pPr marL="0" indent="0">
              <a:buNone/>
            </a:pPr>
            <a:r>
              <a:rPr sz="1300">
                <a:solidFill>
                  <a:srgbClr val="5F6B76"/>
                </a:solidFill>
              </a:rPr>
              <a:t>Sources: §1, §2.1, §3.3 of the paper; ODRL Formal Semantics, W3C Community Group draft [6].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Backup: the running example in ODRL</a:t>
            </a:r>
          </a:p>
        </p:txBody>
      </p:sp>
      <p:sp>
        <p:nvSpPr>
          <p:cNvPr id="3" name="TextBox 2"/>
          <p:cNvSpPr txBox="1"/>
          <p:nvPr/>
        </p:nvSpPr>
        <p:spPr>
          <a:xfrm>
            <a:off x="548640" y="1371600"/>
            <a:ext cx="5394960" cy="3017520"/>
          </a:xfrm>
          <a:prstGeom prst="rect">
            <a:avLst/>
          </a:prstGeom>
          <a:solidFill>
            <a:srgbClr val="F2F4F6"/>
          </a:solidFill>
        </p:spPr>
        <p:txBody>
          <a:bodyPr wrap="square" lIns="182880" tIns="109728" rIns="182880" bIns="109728" anchor="ctr">
            <a:noAutofit/>
          </a:bodyPr>
          <a:lstStyle/>
          <a:p>
            <a:pPr marL="0" indent="0">
              <a:buNone/>
            </a:pPr>
            <a:r>
              <a:rPr sz="1400" b="1">
                <a:solidFill>
                  <a:srgbClr val="000000"/>
                </a:solidFill>
                <a:latin typeface="Consolas"/>
              </a:rPr>
              <a:t>:BE-Agreement</a:t>
            </a:r>
            <a:r>
              <a:rPr sz="1400">
                <a:solidFill>
                  <a:srgbClr val="000000"/>
                </a:solidFill>
                <a:latin typeface="Consolas"/>
              </a:rPr>
              <a:t> a </a:t>
            </a:r>
            <a:r>
              <a:rPr sz="1400">
                <a:solidFill>
                  <a:srgbClr val="0B4F6C"/>
                </a:solidFill>
                <a:latin typeface="Consolas"/>
              </a:rPr>
              <a:t>odrl:Agreement</a:t>
            </a:r>
            <a:r>
              <a:rPr sz="1400">
                <a:solidFill>
                  <a:srgbClr val="000000"/>
                </a:solidFill>
                <a:latin typeface="Consolas"/>
              </a:rPr>
              <a:t> ;</a:t>
            </a:r>
          </a:p>
          <a:p>
            <a:pPr marL="0" indent="0">
              <a:buNone/>
            </a:pPr>
            <a:r>
              <a:rPr sz="1400">
                <a:solidFill>
                  <a:srgbClr val="000000"/>
                </a:solidFill>
                <a:latin typeface="Consolas"/>
              </a:rPr>
              <a:t>  </a:t>
            </a:r>
            <a:r>
              <a:rPr sz="1400">
                <a:solidFill>
                  <a:srgbClr val="0B4F6C"/>
                </a:solidFill>
                <a:latin typeface="Consolas"/>
              </a:rPr>
              <a:t>odrl:prohibition</a:t>
            </a:r>
            <a:r>
              <a:rPr sz="1400">
                <a:solidFill>
                  <a:srgbClr val="000000"/>
                </a:solidFill>
                <a:latin typeface="Consolas"/>
              </a:rPr>
              <a:t> [</a:t>
            </a:r>
          </a:p>
          <a:p>
            <a:pPr marL="0" indent="0">
              <a:buNone/>
            </a:pPr>
            <a:r>
              <a:rPr sz="1400">
                <a:solidFill>
                  <a:srgbClr val="000000"/>
                </a:solidFill>
                <a:latin typeface="Consolas"/>
              </a:rPr>
              <a:t>    </a:t>
            </a:r>
            <a:r>
              <a:rPr sz="1400">
                <a:solidFill>
                  <a:srgbClr val="0B4F6C"/>
                </a:solidFill>
                <a:latin typeface="Consolas"/>
              </a:rPr>
              <a:t>odrl:assignee</a:t>
            </a:r>
            <a:r>
              <a:rPr sz="1400">
                <a:solidFill>
                  <a:srgbClr val="000000"/>
                </a:solidFill>
                <a:latin typeface="Consolas"/>
              </a:rPr>
              <a:t> </a:t>
            </a:r>
            <a:r>
              <a:rPr sz="1400" b="1">
                <a:solidFill>
                  <a:srgbClr val="000000"/>
                </a:solidFill>
                <a:latin typeface="Consolas"/>
              </a:rPr>
              <a:t>:KulturPortal</a:t>
            </a:r>
            <a:r>
              <a:rPr sz="1400">
                <a:solidFill>
                  <a:srgbClr val="000000"/>
                </a:solidFill>
                <a:latin typeface="Consolas"/>
              </a:rPr>
              <a:t> ;</a:t>
            </a:r>
          </a:p>
          <a:p>
            <a:pPr marL="0" indent="0">
              <a:buNone/>
            </a:pPr>
            <a:r>
              <a:rPr sz="1400">
                <a:solidFill>
                  <a:srgbClr val="000000"/>
                </a:solidFill>
                <a:latin typeface="Consolas"/>
              </a:rPr>
              <a:t>    </a:t>
            </a:r>
            <a:r>
              <a:rPr sz="1400">
                <a:solidFill>
                  <a:srgbClr val="0B4F6C"/>
                </a:solidFill>
                <a:latin typeface="Consolas"/>
              </a:rPr>
              <a:t>odrl:assigner</a:t>
            </a:r>
            <a:r>
              <a:rPr sz="1400">
                <a:solidFill>
                  <a:srgbClr val="000000"/>
                </a:solidFill>
                <a:latin typeface="Consolas"/>
              </a:rPr>
              <a:t> </a:t>
            </a:r>
            <a:r>
              <a:rPr sz="1400" b="1">
                <a:solidFill>
                  <a:srgbClr val="000000"/>
                </a:solidFill>
                <a:latin typeface="Consolas"/>
              </a:rPr>
              <a:t>:BerlinerEnsemble</a:t>
            </a:r>
            <a:r>
              <a:rPr sz="1400">
                <a:solidFill>
                  <a:srgbClr val="000000"/>
                </a:solidFill>
                <a:latin typeface="Consolas"/>
              </a:rPr>
              <a:t> ;</a:t>
            </a:r>
          </a:p>
          <a:p>
            <a:pPr marL="0" indent="0">
              <a:buNone/>
            </a:pPr>
            <a:r>
              <a:rPr sz="1400">
                <a:solidFill>
                  <a:srgbClr val="000000"/>
                </a:solidFill>
                <a:latin typeface="Consolas"/>
              </a:rPr>
              <a:t>    </a:t>
            </a:r>
            <a:r>
              <a:rPr sz="1400">
                <a:solidFill>
                  <a:srgbClr val="0B4F6C"/>
                </a:solidFill>
                <a:latin typeface="Consolas"/>
              </a:rPr>
              <a:t>odrl:action</a:t>
            </a:r>
            <a:r>
              <a:rPr sz="1400">
                <a:solidFill>
                  <a:srgbClr val="000000"/>
                </a:solidFill>
                <a:latin typeface="Consolas"/>
              </a:rPr>
              <a:t> </a:t>
            </a:r>
            <a:r>
              <a:rPr sz="1400">
                <a:solidFill>
                  <a:srgbClr val="0B4F6C"/>
                </a:solidFill>
                <a:latin typeface="Consolas"/>
              </a:rPr>
              <a:t>odrl:distribute</a:t>
            </a:r>
            <a:r>
              <a:rPr sz="1400">
                <a:solidFill>
                  <a:srgbClr val="000000"/>
                </a:solidFill>
                <a:latin typeface="Consolas"/>
              </a:rPr>
              <a:t> ;</a:t>
            </a:r>
          </a:p>
          <a:p>
            <a:pPr marL="0" indent="0">
              <a:buNone/>
            </a:pPr>
            <a:r>
              <a:rPr sz="1400">
                <a:solidFill>
                  <a:srgbClr val="000000"/>
                </a:solidFill>
                <a:latin typeface="Consolas"/>
              </a:rPr>
              <a:t>    </a:t>
            </a:r>
            <a:r>
              <a:rPr sz="1400">
                <a:solidFill>
                  <a:srgbClr val="0B4F6C"/>
                </a:solidFill>
                <a:latin typeface="Consolas"/>
              </a:rPr>
              <a:t>odrl:target</a:t>
            </a:r>
            <a:r>
              <a:rPr sz="1400">
                <a:solidFill>
                  <a:srgbClr val="000000"/>
                </a:solidFill>
                <a:latin typeface="Consolas"/>
              </a:rPr>
              <a:t> </a:t>
            </a:r>
            <a:r>
              <a:rPr sz="1400" b="1">
                <a:solidFill>
                  <a:srgbClr val="000000"/>
                </a:solidFill>
                <a:latin typeface="Consolas"/>
              </a:rPr>
              <a:t>:BE-Showtimes</a:t>
            </a:r>
            <a:r>
              <a:rPr sz="1400">
                <a:solidFill>
                  <a:srgbClr val="000000"/>
                </a:solidFill>
                <a:latin typeface="Consolas"/>
              </a:rPr>
              <a:t> ;</a:t>
            </a:r>
          </a:p>
          <a:p>
            <a:pPr marL="0" indent="0">
              <a:buNone/>
            </a:pPr>
            <a:r>
              <a:rPr sz="1400">
                <a:solidFill>
                  <a:srgbClr val="000000"/>
                </a:solidFill>
                <a:latin typeface="Consolas"/>
              </a:rPr>
              <a:t>    </a:t>
            </a:r>
            <a:r>
              <a:rPr sz="1400">
                <a:solidFill>
                  <a:srgbClr val="0B4F6C"/>
                </a:solidFill>
                <a:latin typeface="Consolas"/>
              </a:rPr>
              <a:t>odrl:remedy</a:t>
            </a:r>
            <a:r>
              <a:rPr sz="1400">
                <a:solidFill>
                  <a:srgbClr val="000000"/>
                </a:solidFill>
                <a:latin typeface="Consolas"/>
              </a:rPr>
              <a:t> [ </a:t>
            </a:r>
            <a:r>
              <a:rPr sz="1400" i="1">
                <a:solidFill>
                  <a:srgbClr val="7A858F"/>
                </a:solidFill>
                <a:latin typeface="Consolas"/>
              </a:rPr>
              <a:t># if violated</a:t>
            </a:r>
          </a:p>
          <a:p>
            <a:pPr marL="0" indent="0">
              <a:buNone/>
            </a:pPr>
            <a:r>
              <a:rPr sz="1400">
                <a:solidFill>
                  <a:srgbClr val="000000"/>
                </a:solidFill>
                <a:latin typeface="Consolas"/>
              </a:rPr>
              <a:t>      </a:t>
            </a:r>
            <a:r>
              <a:rPr sz="1400">
                <a:solidFill>
                  <a:srgbClr val="0B4F6C"/>
                </a:solidFill>
                <a:latin typeface="Consolas"/>
              </a:rPr>
              <a:t>odrl:action</a:t>
            </a:r>
            <a:r>
              <a:rPr sz="1400">
                <a:solidFill>
                  <a:srgbClr val="000000"/>
                </a:solidFill>
                <a:latin typeface="Consolas"/>
              </a:rPr>
              <a:t> </a:t>
            </a:r>
            <a:r>
              <a:rPr sz="1400">
                <a:solidFill>
                  <a:srgbClr val="0B4F6C"/>
                </a:solidFill>
                <a:latin typeface="Consolas"/>
              </a:rPr>
              <a:t>odrl:compensate</a:t>
            </a:r>
            <a:r>
              <a:rPr sz="1400">
                <a:solidFill>
                  <a:srgbClr val="000000"/>
                </a:solidFill>
                <a:latin typeface="Consolas"/>
              </a:rPr>
              <a:t> ] ] .</a:t>
            </a:r>
          </a:p>
        </p:txBody>
      </p:sp>
      <p:sp>
        <p:nvSpPr>
          <p:cNvPr id="4" name="TextBox 3"/>
          <p:cNvSpPr txBox="1"/>
          <p:nvPr/>
        </p:nvSpPr>
        <p:spPr>
          <a:xfrm>
            <a:off x="6245352" y="1371600"/>
            <a:ext cx="5394960" cy="3017520"/>
          </a:xfrm>
          <a:prstGeom prst="rect">
            <a:avLst/>
          </a:prstGeom>
          <a:solidFill>
            <a:srgbClr val="F2F4F6"/>
          </a:solidFill>
        </p:spPr>
        <p:txBody>
          <a:bodyPr wrap="square" lIns="182880" tIns="109728" rIns="182880" bIns="109728" anchor="ctr">
            <a:noAutofit/>
          </a:bodyPr>
          <a:lstStyle/>
          <a:p>
            <a:pPr marL="0" indent="0">
              <a:buNone/>
            </a:pPr>
            <a:r>
              <a:rPr sz="1400" b="1">
                <a:solidFill>
                  <a:srgbClr val="000000"/>
                </a:solidFill>
                <a:latin typeface="Consolas"/>
              </a:rPr>
              <a:t>:DT-Agreement</a:t>
            </a:r>
            <a:r>
              <a:rPr sz="1400">
                <a:solidFill>
                  <a:srgbClr val="000000"/>
                </a:solidFill>
                <a:latin typeface="Consolas"/>
              </a:rPr>
              <a:t> a </a:t>
            </a:r>
            <a:r>
              <a:rPr sz="1400">
                <a:solidFill>
                  <a:srgbClr val="0B4F6C"/>
                </a:solidFill>
                <a:latin typeface="Consolas"/>
              </a:rPr>
              <a:t>odrl:Agreement</a:t>
            </a:r>
            <a:r>
              <a:rPr sz="1400">
                <a:solidFill>
                  <a:srgbClr val="000000"/>
                </a:solidFill>
                <a:latin typeface="Consolas"/>
              </a:rPr>
              <a:t> ;</a:t>
            </a:r>
          </a:p>
          <a:p>
            <a:pPr marL="0" indent="0">
              <a:buNone/>
            </a:pPr>
            <a:r>
              <a:rPr sz="1400">
                <a:solidFill>
                  <a:srgbClr val="000000"/>
                </a:solidFill>
                <a:latin typeface="Consolas"/>
              </a:rPr>
              <a:t>  </a:t>
            </a:r>
            <a:r>
              <a:rPr sz="1400">
                <a:solidFill>
                  <a:srgbClr val="0B4F6C"/>
                </a:solidFill>
                <a:latin typeface="Consolas"/>
              </a:rPr>
              <a:t>odrl:prohibition</a:t>
            </a:r>
            <a:r>
              <a:rPr sz="1400">
                <a:solidFill>
                  <a:srgbClr val="000000"/>
                </a:solidFill>
                <a:latin typeface="Consolas"/>
              </a:rPr>
              <a:t> [</a:t>
            </a:r>
          </a:p>
          <a:p>
            <a:pPr marL="0" indent="0">
              <a:buNone/>
            </a:pPr>
            <a:r>
              <a:rPr sz="1400">
                <a:solidFill>
                  <a:srgbClr val="000000"/>
                </a:solidFill>
                <a:latin typeface="Consolas"/>
              </a:rPr>
              <a:t>    </a:t>
            </a:r>
            <a:r>
              <a:rPr sz="1400">
                <a:solidFill>
                  <a:srgbClr val="0B4F6C"/>
                </a:solidFill>
                <a:latin typeface="Consolas"/>
              </a:rPr>
              <a:t>odrl:assignee</a:t>
            </a:r>
            <a:r>
              <a:rPr sz="1400">
                <a:solidFill>
                  <a:srgbClr val="000000"/>
                </a:solidFill>
                <a:latin typeface="Consolas"/>
              </a:rPr>
              <a:t> </a:t>
            </a:r>
            <a:r>
              <a:rPr sz="1400" b="1">
                <a:solidFill>
                  <a:srgbClr val="000000"/>
                </a:solidFill>
                <a:latin typeface="Consolas"/>
              </a:rPr>
              <a:t>:KulturPortal</a:t>
            </a:r>
            <a:r>
              <a:rPr sz="1400">
                <a:solidFill>
                  <a:srgbClr val="000000"/>
                </a:solidFill>
                <a:latin typeface="Consolas"/>
              </a:rPr>
              <a:t> ;</a:t>
            </a:r>
          </a:p>
          <a:p>
            <a:pPr marL="0" indent="0">
              <a:buNone/>
            </a:pPr>
            <a:r>
              <a:rPr sz="1400">
                <a:solidFill>
                  <a:srgbClr val="000000"/>
                </a:solidFill>
                <a:latin typeface="Consolas"/>
              </a:rPr>
              <a:t>    </a:t>
            </a:r>
            <a:r>
              <a:rPr sz="1400">
                <a:solidFill>
                  <a:srgbClr val="0B4F6C"/>
                </a:solidFill>
                <a:latin typeface="Consolas"/>
              </a:rPr>
              <a:t>odrl:assigner</a:t>
            </a:r>
            <a:r>
              <a:rPr sz="1400">
                <a:solidFill>
                  <a:srgbClr val="000000"/>
                </a:solidFill>
                <a:latin typeface="Consolas"/>
              </a:rPr>
              <a:t> </a:t>
            </a:r>
            <a:r>
              <a:rPr sz="1400" b="1">
                <a:solidFill>
                  <a:srgbClr val="000000"/>
                </a:solidFill>
                <a:latin typeface="Consolas"/>
              </a:rPr>
              <a:t>:DeutschesTheater</a:t>
            </a:r>
            <a:r>
              <a:rPr sz="1400">
                <a:solidFill>
                  <a:srgbClr val="000000"/>
                </a:solidFill>
                <a:latin typeface="Consolas"/>
              </a:rPr>
              <a:t> ;</a:t>
            </a:r>
          </a:p>
          <a:p>
            <a:pPr marL="0" indent="0">
              <a:buNone/>
            </a:pPr>
            <a:r>
              <a:rPr sz="1400">
                <a:solidFill>
                  <a:srgbClr val="000000"/>
                </a:solidFill>
                <a:latin typeface="Consolas"/>
              </a:rPr>
              <a:t>    </a:t>
            </a:r>
            <a:r>
              <a:rPr sz="1400">
                <a:solidFill>
                  <a:srgbClr val="0B4F6C"/>
                </a:solidFill>
                <a:latin typeface="Consolas"/>
              </a:rPr>
              <a:t>odrl:action</a:t>
            </a:r>
            <a:r>
              <a:rPr sz="1400">
                <a:solidFill>
                  <a:srgbClr val="000000"/>
                </a:solidFill>
                <a:latin typeface="Consolas"/>
              </a:rPr>
              <a:t> </a:t>
            </a:r>
            <a:r>
              <a:rPr sz="1400">
                <a:solidFill>
                  <a:srgbClr val="0B4F6C"/>
                </a:solidFill>
                <a:latin typeface="Consolas"/>
              </a:rPr>
              <a:t>odrl:distribute</a:t>
            </a:r>
            <a:r>
              <a:rPr sz="1400">
                <a:solidFill>
                  <a:srgbClr val="000000"/>
                </a:solidFill>
                <a:latin typeface="Consolas"/>
              </a:rPr>
              <a:t> ;</a:t>
            </a:r>
          </a:p>
          <a:p>
            <a:pPr marL="0" indent="0">
              <a:buNone/>
            </a:pPr>
            <a:r>
              <a:rPr sz="1400">
                <a:solidFill>
                  <a:srgbClr val="000000"/>
                </a:solidFill>
                <a:latin typeface="Consolas"/>
              </a:rPr>
              <a:t>    </a:t>
            </a:r>
            <a:r>
              <a:rPr sz="1400">
                <a:solidFill>
                  <a:srgbClr val="0B4F6C"/>
                </a:solidFill>
                <a:latin typeface="Consolas"/>
              </a:rPr>
              <a:t>odrl:target</a:t>
            </a:r>
            <a:r>
              <a:rPr sz="1400">
                <a:solidFill>
                  <a:srgbClr val="000000"/>
                </a:solidFill>
                <a:latin typeface="Consolas"/>
              </a:rPr>
              <a:t> </a:t>
            </a:r>
            <a:r>
              <a:rPr sz="1400" b="1">
                <a:solidFill>
                  <a:srgbClr val="000000"/>
                </a:solidFill>
                <a:latin typeface="Consolas"/>
              </a:rPr>
              <a:t>:DT-Showtimes</a:t>
            </a:r>
            <a:r>
              <a:rPr sz="1400">
                <a:solidFill>
                  <a:srgbClr val="000000"/>
                </a:solidFill>
                <a:latin typeface="Consolas"/>
              </a:rPr>
              <a:t> ;</a:t>
            </a:r>
          </a:p>
          <a:p>
            <a:pPr marL="0" indent="0">
              <a:buNone/>
            </a:pPr>
            <a:r>
              <a:rPr sz="1400">
                <a:solidFill>
                  <a:srgbClr val="000000"/>
                </a:solidFill>
                <a:latin typeface="Consolas"/>
              </a:rPr>
              <a:t>    </a:t>
            </a:r>
            <a:r>
              <a:rPr sz="1400">
                <a:solidFill>
                  <a:srgbClr val="0B4F6C"/>
                </a:solidFill>
                <a:latin typeface="Consolas"/>
              </a:rPr>
              <a:t>odrl:remedy</a:t>
            </a:r>
            <a:r>
              <a:rPr sz="1400">
                <a:solidFill>
                  <a:srgbClr val="000000"/>
                </a:solidFill>
                <a:latin typeface="Consolas"/>
              </a:rPr>
              <a:t> [ </a:t>
            </a:r>
            <a:r>
              <a:rPr sz="1400" i="1">
                <a:solidFill>
                  <a:srgbClr val="7A858F"/>
                </a:solidFill>
                <a:latin typeface="Consolas"/>
              </a:rPr>
              <a:t># if violated</a:t>
            </a:r>
          </a:p>
          <a:p>
            <a:pPr marL="0" indent="0">
              <a:buNone/>
            </a:pPr>
            <a:r>
              <a:rPr sz="1400">
                <a:solidFill>
                  <a:srgbClr val="000000"/>
                </a:solidFill>
                <a:latin typeface="Consolas"/>
              </a:rPr>
              <a:t>      </a:t>
            </a:r>
            <a:r>
              <a:rPr sz="1400">
                <a:solidFill>
                  <a:srgbClr val="0B4F6C"/>
                </a:solidFill>
                <a:latin typeface="Consolas"/>
              </a:rPr>
              <a:t>odrl:action</a:t>
            </a:r>
            <a:r>
              <a:rPr sz="1400">
                <a:solidFill>
                  <a:srgbClr val="000000"/>
                </a:solidFill>
                <a:latin typeface="Consolas"/>
              </a:rPr>
              <a:t> </a:t>
            </a:r>
            <a:r>
              <a:rPr sz="1400">
                <a:solidFill>
                  <a:srgbClr val="0B4F6C"/>
                </a:solidFill>
                <a:latin typeface="Consolas"/>
              </a:rPr>
              <a:t>odrl:delete</a:t>
            </a:r>
            <a:r>
              <a:rPr sz="1400">
                <a:solidFill>
                  <a:srgbClr val="000000"/>
                </a:solidFill>
                <a:latin typeface="Consolas"/>
              </a:rPr>
              <a:t> ] ] .</a:t>
            </a:r>
          </a:p>
        </p:txBody>
      </p:sp>
      <p:sp>
        <p:nvSpPr>
          <p:cNvPr id="5" name="TextBox 4"/>
          <p:cNvSpPr txBox="1"/>
          <p:nvPr/>
        </p:nvSpPr>
        <p:spPr>
          <a:xfrm>
            <a:off x="548640" y="4663440"/>
            <a:ext cx="11091672" cy="914400"/>
          </a:xfrm>
          <a:prstGeom prst="rect">
            <a:avLst/>
          </a:prstGeom>
          <a:noFill/>
        </p:spPr>
        <p:txBody>
          <a:bodyPr wrap="square" lIns="0" tIns="0" rIns="0" bIns="0" anchor="t">
            <a:noAutofit/>
          </a:bodyPr>
          <a:lstStyle/>
          <a:p>
            <a:pPr marL="0" indent="0">
              <a:buNone/>
            </a:pPr>
            <a:r>
              <a:rPr sz="1400">
                <a:solidFill>
                  <a:srgbClr val="5F6B76"/>
                </a:solidFill>
              </a:rPr>
              <a:t>Neither prohibition has a constraint, so both are active; KulturPortal performs odrl:distribute, so both reach violated. Remedy assignees are omitted here for brevity.</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FOIS talk">
      <a:dk1>
        <a:sysClr val="windowText" lastClr="000000"/>
      </a:dk1>
      <a:lt1>
        <a:sysClr val="window" lastClr="FFFFFF"/>
      </a:lt1>
      <a:dk2>
        <a:srgbClr val="0B4F6C"/>
      </a:dk2>
      <a:lt2>
        <a:srgbClr val="F2F4F6"/>
      </a:lt2>
      <a:accent1>
        <a:srgbClr val="0B4F6C"/>
      </a:accent1>
      <a:accent2>
        <a:srgbClr val="137A62"/>
      </a:accent2>
      <a:accent3>
        <a:srgbClr val="00549F"/>
      </a:accent3>
      <a:accent4>
        <a:srgbClr val="B9501A"/>
      </a:accent4>
      <a:accent5>
        <a:srgbClr val="5F6B76"/>
      </a:accent5>
      <a:accent6>
        <a:srgbClr val="8A949E"/>
      </a:accent6>
      <a:hlink>
        <a:srgbClr val="0B4F6C"/>
      </a:hlink>
      <a:folHlink>
        <a:srgbClr val="5F6B76"/>
      </a:folHlink>
    </a:clrScheme>
    <a:fontScheme name="Custom 1">
      <a:majorFont>
        <a:latin typeface="Sans Serif Collectio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6380</Words>
  <Application>Microsoft Office PowerPoint</Application>
  <PresentationFormat>Widescreen</PresentationFormat>
  <Paragraphs>493</Paragraphs>
  <Slides>29</Slides>
  <Notes>19</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8" baseType="lpstr">
      <vt:lpstr>Aptos</vt:lpstr>
      <vt:lpstr>Arial</vt:lpstr>
      <vt:lpstr>Cambria Math</vt:lpstr>
      <vt:lpstr>Consolas</vt:lpstr>
      <vt:lpstr>Frutiger LT Com 75 Black</vt:lpstr>
      <vt:lpstr>Sans Serif Collection</vt:lpstr>
      <vt:lpstr>Times New Roman</vt:lpstr>
      <vt:lpstr>Office Theme</vt:lpstr>
      <vt:lpstr>think-cell Folie</vt:lpstr>
      <vt:lpstr>PowerPoint Presentation</vt:lpstr>
      <vt:lpstr>ODRL and its information model</vt:lpstr>
      <vt:lpstr>Background: ODRL, Data Spaces, and Formal Semantics</vt:lpstr>
      <vt:lpstr>Running example: two theaters, one portal</vt:lpstr>
      <vt:lpstr>What Legal Situation Does an ODRL Rule Create?</vt:lpstr>
      <vt:lpstr>Approach</vt:lpstr>
      <vt:lpstr>UFO-L: legal positions come in correlative pairs</vt:lpstr>
      <vt:lpstr>ODRL's deontic core Permission</vt:lpstr>
      <vt:lpstr>ODRL's Permission → UFO-L Permission–NoRight legal relator</vt:lpstr>
      <vt:lpstr>ODRL's deontic Prohibition </vt:lpstr>
      <vt:lpstr>ODRL's deontic Duty Covers Achievement Obligations Only (P3)</vt:lpstr>
      <vt:lpstr>Why Some Norms Need Both Levels</vt:lpstr>
      <vt:lpstr>ODRL-to-UFO-L Grounding Matrix</vt:lpstr>
      <vt:lpstr>ODRL-to-UFO-L Grounding Matrix</vt:lpstr>
      <vt:lpstr>Backup: founding axioms 5.1 to 5.5</vt:lpstr>
      <vt:lpstr>The scenario, grounded: two theaters, two Powers</vt:lpstr>
      <vt:lpstr>ODRL-L: OWL Profile, FOL Semantics, Verification</vt:lpstr>
      <vt:lpstr>Summary </vt:lpstr>
      <vt:lpstr>PowerPoint Presentation</vt:lpstr>
      <vt:lpstr>Backup: founding axioms 5.1 to 5.5</vt:lpstr>
      <vt:lpstr>Backup: structural axioms 5.6 to 5.11</vt:lpstr>
      <vt:lpstr>Backup: the behaviour parameter (P1) and delegation (P2)</vt:lpstr>
      <vt:lpstr>Backup: three OWL approximation limits of odrl-l:</vt:lpstr>
      <vt:lpstr>From two positions to eight</vt:lpstr>
      <vt:lpstr>Backup: axiom coverage (Table 2, SZS status)</vt:lpstr>
      <vt:lpstr>Backup: related work and why UFO-L</vt:lpstr>
      <vt:lpstr>Backup: isn't this just Hohfeld?</vt:lpstr>
      <vt:lpstr>Backup: what the Formal Semantics defines and leaves open</vt:lpstr>
      <vt:lpstr>Backup: the running example in ODRL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Mustafa, Daham Mohammed</cp:lastModifiedBy>
  <cp:revision>156</cp:revision>
  <dcterms:created xsi:type="dcterms:W3CDTF">2013-01-27T09:14:16Z</dcterms:created>
  <dcterms:modified xsi:type="dcterms:W3CDTF">2026-09-24T18:05:43Z</dcterms:modified>
  <cp:category/>
</cp:coreProperties>
</file>